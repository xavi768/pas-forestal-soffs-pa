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55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53682" cy="6858000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3" name="Shape 1"/>
          <p:cNvSpPr/>
          <p:nvPr/>
        </p:nvSpPr>
        <p:spPr>
          <a:xfrm>
            <a:off x="7053682" y="0"/>
            <a:ext cx="5107838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5" name="Shape 3"/>
          <p:cNvSpPr/>
          <p:nvPr/>
        </p:nvSpPr>
        <p:spPr>
          <a:xfrm>
            <a:off x="7029359" y="0"/>
            <a:ext cx="36576" cy="68580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292608"/>
            <a:ext cx="3474720" cy="502920"/>
          </a:xfrm>
          <a:prstGeom prst="rect">
            <a:avLst/>
          </a:prstGeom>
          <a:solidFill>
            <a:srgbClr val="1B6B3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292608"/>
            <a:ext cx="3438144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GOBIERNO REGIONAL DE UCAYALI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EJECUTIVO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56032" y="2423160"/>
            <a:ext cx="4114800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2423160"/>
            <a:ext cx="109728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25420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ADMINISTRATIVO SANCIONADOR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" y="29626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Operativa Forestal y de Fauna Silvestre — Padre Abad, Ucayali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331012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08 Informes Técnicos: 05 de Inicio de PAS, 01 Complementario y 02 Finales Instructivos. Elaborados conforme a la Ley N° 29763, D.S. N° 007-2021-MIDAGRI y TUO LPAG. Período enero–marzo 2026.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4059936"/>
            <a:ext cx="6492240" cy="54864"/>
          </a:xfrm>
          <a:prstGeom prst="rect">
            <a:avLst/>
          </a:prstGeom>
          <a:solidFill>
            <a:srgbClr val="2A6040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418795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Javier Carlos Vela (CIP 180398)  ·  Personal Técnico PAS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444398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Cubillas Romero Ramírez  ·  Director SOFFS-PA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4937760"/>
            <a:ext cx="2377440" cy="5120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4937760"/>
            <a:ext cx="23774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12 MARZO 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50608" y="292608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50608" y="292608"/>
            <a:ext cx="1554480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365760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05472" y="1154339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PAS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06256" y="292608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06256" y="292608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906256" y="365760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961120" y="1154339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PAS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661904" y="292608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661904" y="292608"/>
            <a:ext cx="15544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1904" y="365760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716768" y="1154339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50608" y="1883664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0608" y="1883664"/>
            <a:ext cx="1554480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1956816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05472" y="2745395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Instructivo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06256" y="1883664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906256" y="1883664"/>
            <a:ext cx="1554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8906256" y="1956816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961120" y="2745395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Infracciones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GRAVE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661904" y="1883664"/>
            <a:ext cx="155448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61904" y="1883664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10661904" y="1956816"/>
            <a:ext cx="1554480" cy="778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0716768" y="2745395"/>
            <a:ext cx="1444752" cy="472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Madera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07808" y="4005072"/>
            <a:ext cx="4261104" cy="1993392"/>
          </a:xfrm>
          <a:prstGeom prst="rect">
            <a:avLst/>
          </a:prstGeom>
          <a:solidFill>
            <a:srgbClr val="DCFCE7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54112" y="4069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Escanea para acceder al informe</a:t>
            </a:r>
            <a:endParaRPr lang="en-US" sz="10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70832"/>
            <a:ext cx="1261872" cy="126187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400032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por WhatsApp →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9400032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wa.me/Dashboard-PAS-ATF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Aguaytía-2026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400032" y="5230368"/>
            <a:ext cx="2212848" cy="292608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9" name="Text 46"/>
          <p:cNvSpPr/>
          <p:nvPr/>
        </p:nvSpPr>
        <p:spPr>
          <a:xfrm>
            <a:off x="9400032" y="5230368"/>
            <a:ext cx="22128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WhatsApp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A2E18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6547104"/>
            <a:ext cx="11942064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B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SOFFS-PA · Padre Abad, Ucayali · Área PAS — Procedimiento Administrativo Sancionador Forestal · Enero–Marzo 2026 · Diapositiva 1 /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D4ED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Y ANÁLISIS COMPARATIVO DE EXPEDIENTES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legal de los Informes Técnicos PAS elaborados por la SOFFS-PA — Período Enero–Marzo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566928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" y="1042416"/>
            <a:ext cx="5596128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EXP. 026-2025-PAS — DECOMADERA DURAN G&amp;R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1042416"/>
            <a:ext cx="6053328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998464" y="1042416"/>
            <a:ext cx="5980176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EXP. 041-2025-PAS — EL TORNILLAL (Grández Chávez)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64592" y="135331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4" name="Text 11"/>
          <p:cNvSpPr/>
          <p:nvPr/>
        </p:nvSpPr>
        <p:spPr>
          <a:xfrm>
            <a:off x="201168" y="135331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75104" y="135331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3"/>
          <p:cNvSpPr/>
          <p:nvPr/>
        </p:nvSpPr>
        <p:spPr>
          <a:xfrm>
            <a:off x="2011680" y="135331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001-2026-PAS/JCV (Inicio)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70448" y="135331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7024" y="135331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006-2026 (Complementario)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64592" y="171907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0" name="Text 17"/>
          <p:cNvSpPr/>
          <p:nvPr/>
        </p:nvSpPr>
        <p:spPr>
          <a:xfrm>
            <a:off x="201168" y="171907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975104" y="171907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22" name="Text 19"/>
          <p:cNvSpPr/>
          <p:nvPr/>
        </p:nvSpPr>
        <p:spPr>
          <a:xfrm>
            <a:off x="2011680" y="171907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Mike Duran Jorge — DNI 71746214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70448" y="171907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24" name="Text 21"/>
          <p:cNvSpPr/>
          <p:nvPr/>
        </p:nvSpPr>
        <p:spPr>
          <a:xfrm>
            <a:off x="5907024" y="171907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Grández Chávez — DNI 00177277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08483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6" name="Text 23"/>
          <p:cNvSpPr/>
          <p:nvPr/>
        </p:nvSpPr>
        <p:spPr>
          <a:xfrm>
            <a:off x="201168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caso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975104" y="208483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5"/>
          <p:cNvSpPr/>
          <p:nvPr/>
        </p:nvSpPr>
        <p:spPr>
          <a:xfrm>
            <a:off x="2011680" y="208483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— Posesión sin documentos (GTF)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70448" y="208483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0" name="Text 27"/>
          <p:cNvSpPr/>
          <p:nvPr/>
        </p:nvSpPr>
        <p:spPr>
          <a:xfrm>
            <a:off x="5907024" y="208483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 ilegal en predio privado — 2 inspecciones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64592" y="245059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2" name="Text 29"/>
          <p:cNvSpPr/>
          <p:nvPr/>
        </p:nvSpPr>
        <p:spPr>
          <a:xfrm>
            <a:off x="201168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975104" y="245059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34" name="Text 31"/>
          <p:cNvSpPr/>
          <p:nvPr/>
        </p:nvSpPr>
        <p:spPr>
          <a:xfrm>
            <a:off x="2011680" y="245059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 — Poseer sin acreditar origen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70448" y="245059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36" name="Text 33"/>
          <p:cNvSpPr/>
          <p:nvPr/>
        </p:nvSpPr>
        <p:spPr>
          <a:xfrm>
            <a:off x="5907024" y="245059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21 (tala) + Ítem 19 (retiro cobertura)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64592" y="281635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8" name="Text 35"/>
          <p:cNvSpPr/>
          <p:nvPr/>
        </p:nvSpPr>
        <p:spPr>
          <a:xfrm>
            <a:off x="201168" y="281635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975104" y="281635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0" name="Text 37"/>
          <p:cNvSpPr/>
          <p:nvPr/>
        </p:nvSpPr>
        <p:spPr>
          <a:xfrm>
            <a:off x="2011680" y="281635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 m³ · 3 especies · 8 trozas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870448" y="281635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42" name="Text 39"/>
          <p:cNvSpPr/>
          <p:nvPr/>
        </p:nvSpPr>
        <p:spPr>
          <a:xfrm>
            <a:off x="5907024" y="281635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 m³ · 14 árboles · Tornillo (C. cateniformis)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64592" y="318211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44" name="Text 41"/>
          <p:cNvSpPr/>
          <p:nvPr/>
        </p:nvSpPr>
        <p:spPr>
          <a:xfrm>
            <a:off x="201168" y="318211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975104" y="318211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46" name="Text 43"/>
          <p:cNvSpPr/>
          <p:nvPr/>
        </p:nvSpPr>
        <p:spPr>
          <a:xfrm>
            <a:off x="2011680" y="318211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Mariela II (instalaciones internas)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70448" y="318211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48" name="Text 45"/>
          <p:cNvSpPr/>
          <p:nvPr/>
        </p:nvSpPr>
        <p:spPr>
          <a:xfrm>
            <a:off x="5907024" y="318211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 ha bosque secundario deforestado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64592" y="354787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50" name="Text 47"/>
          <p:cNvSpPr/>
          <p:nvPr/>
        </p:nvSpPr>
        <p:spPr>
          <a:xfrm>
            <a:off x="201168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ilícito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975104" y="354787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2" name="Text 49"/>
          <p:cNvSpPr/>
          <p:nvPr/>
        </p:nvSpPr>
        <p:spPr>
          <a:xfrm>
            <a:off x="2011680" y="354787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 (S/ 1.50/PT)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870448" y="354787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54" name="Text 51"/>
          <p:cNvSpPr/>
          <p:nvPr/>
        </p:nvSpPr>
        <p:spPr>
          <a:xfrm>
            <a:off x="5907024" y="354787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10,734.59 (S/ 3.20/PT)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64592" y="391363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56" name="Text 53"/>
          <p:cNvSpPr/>
          <p:nvPr/>
        </p:nvSpPr>
        <p:spPr>
          <a:xfrm>
            <a:off x="201168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título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975104" y="391363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58" name="Text 55"/>
          <p:cNvSpPr/>
          <p:nvPr/>
        </p:nvSpPr>
        <p:spPr>
          <a:xfrm>
            <a:off x="2011680" y="391363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— sin GTF al momento del acta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870448" y="391363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60" name="Text 57"/>
          <p:cNvSpPr/>
          <p:nvPr/>
        </p:nvSpPr>
        <p:spPr>
          <a:xfrm>
            <a:off x="5907024" y="391363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N° 017-2026-APAPP/ARCP — sin permiso 2020-2025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64592" y="427939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2" name="Text 59"/>
          <p:cNvSpPr/>
          <p:nvPr/>
        </p:nvSpPr>
        <p:spPr>
          <a:xfrm>
            <a:off x="201168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975104" y="4279392"/>
            <a:ext cx="3877056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4" name="Text 61"/>
          <p:cNvSpPr/>
          <p:nvPr/>
        </p:nvSpPr>
        <p:spPr>
          <a:xfrm>
            <a:off x="2011680" y="427939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requerida (infracción adm. pura)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870448" y="4279392"/>
            <a:ext cx="6126480" cy="34747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6" name="Text 63"/>
          <p:cNvSpPr/>
          <p:nvPr/>
        </p:nvSpPr>
        <p:spPr>
          <a:xfrm>
            <a:off x="5907024" y="427939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2° FEMA-Ucayali: Abog. Néstor Bartra Ramos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164592" y="4645152"/>
            <a:ext cx="1792224" cy="34747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8" name="Text 65"/>
          <p:cNvSpPr/>
          <p:nvPr/>
        </p:nvSpPr>
        <p:spPr>
          <a:xfrm>
            <a:off x="201168" y="464515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1975104" y="4645152"/>
            <a:ext cx="3877056" cy="347472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70" name="Text 67"/>
          <p:cNvSpPr/>
          <p:nvPr/>
        </p:nvSpPr>
        <p:spPr>
          <a:xfrm>
            <a:off x="2011680" y="4645152"/>
            <a:ext cx="38221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— Multa 0.4790 UIT propuesta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5870448" y="4645152"/>
            <a:ext cx="6126480" cy="347472"/>
          </a:xfrm>
          <a:prstGeom prst="rect">
            <a:avLst/>
          </a:prstGeom>
          <a:solidFill>
            <a:srgbClr val="F0FBFC"/>
          </a:solidFill>
          <a:ln/>
        </p:spPr>
      </p:sp>
      <p:sp>
        <p:nvSpPr>
          <p:cNvPr id="72" name="Text 69"/>
          <p:cNvSpPr/>
          <p:nvPr/>
        </p:nvSpPr>
        <p:spPr>
          <a:xfrm>
            <a:off x="5907024" y="4645152"/>
            <a:ext cx="60533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PAS recomendado — pendiente resolución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164592" y="5120640"/>
            <a:ext cx="11832336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4" name="Text 71"/>
          <p:cNvSpPr/>
          <p:nvPr/>
        </p:nvSpPr>
        <p:spPr>
          <a:xfrm>
            <a:off x="237744" y="5120640"/>
            <a:ext cx="11795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PRINCIPIOS DEL PAS — ART. 248° TUO LPAG (D.S. N° 004-2019-JUS) — APLICADOS A AMBOS EXPEDIENTES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64592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164592" y="5449824"/>
            <a:ext cx="2331720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7" name="Shape 74"/>
          <p:cNvSpPr/>
          <p:nvPr/>
        </p:nvSpPr>
        <p:spPr>
          <a:xfrm>
            <a:off x="164592" y="5504688"/>
            <a:ext cx="2331720" cy="3291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8" name="Text 75"/>
          <p:cNvSpPr/>
          <p:nvPr/>
        </p:nvSpPr>
        <p:spPr>
          <a:xfrm>
            <a:off x="164592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256032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tipificadas en Numerales 22, 21 y 19 del Anexo 1 D.S. 007-2021-MIDAGRI vigentes al momento de los hechos.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2596896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2596896" y="5449824"/>
            <a:ext cx="2331720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82" name="Shape 79"/>
          <p:cNvSpPr/>
          <p:nvPr/>
        </p:nvSpPr>
        <p:spPr>
          <a:xfrm>
            <a:off x="2596896" y="5504688"/>
            <a:ext cx="2331720" cy="32918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83" name="Text 80"/>
          <p:cNvSpPr/>
          <p:nvPr/>
        </p:nvSpPr>
        <p:spPr>
          <a:xfrm>
            <a:off x="2596896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TIPICIDAD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2688336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Subsunción verificada: posesión sin GTF (Num. 22); tala sin título (Ít. 21); retiro cobertura sin autorización (Ít. 19).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5029200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Shape 83"/>
          <p:cNvSpPr/>
          <p:nvPr/>
        </p:nvSpPr>
        <p:spPr>
          <a:xfrm>
            <a:off x="5029200" y="5449824"/>
            <a:ext cx="2331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7" name="Shape 84"/>
          <p:cNvSpPr/>
          <p:nvPr/>
        </p:nvSpPr>
        <p:spPr>
          <a:xfrm>
            <a:off x="5029200" y="5504688"/>
            <a:ext cx="233172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8" name="Text 85"/>
          <p:cNvSpPr/>
          <p:nvPr/>
        </p:nvSpPr>
        <p:spPr>
          <a:xfrm>
            <a:off x="5029200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RAZONABILIDAD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5120640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proporcionales al daño. Multa DECOMADERA (S/ 2,634.24) levemente inferior al valor del PFM (S/ 2,639.01).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7461504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7461504" y="5449824"/>
            <a:ext cx="23317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2" name="Shape 89"/>
          <p:cNvSpPr/>
          <p:nvPr/>
        </p:nvSpPr>
        <p:spPr>
          <a:xfrm>
            <a:off x="7461504" y="5504688"/>
            <a:ext cx="233172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3" name="Text 90"/>
          <p:cNvSpPr/>
          <p:nvPr/>
        </p:nvSpPr>
        <p:spPr>
          <a:xfrm>
            <a:off x="7461504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CULPABILIDAD</a:t>
            </a:r>
            <a:endParaRPr lang="en-US" sz="1100" dirty="0"/>
          </a:p>
        </p:txBody>
      </p:sp>
      <p:sp>
        <p:nvSpPr>
          <p:cNvPr id="94" name="Text 91"/>
          <p:cNvSpPr/>
          <p:nvPr/>
        </p:nvSpPr>
        <p:spPr>
          <a:xfrm>
            <a:off x="7552944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DECOMADERA: culpa simple. Grández: dolo presunto (propietario-poseedor que reconoció actividad de rozo).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9893808" y="5449824"/>
            <a:ext cx="2331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6" name="Shape 93"/>
          <p:cNvSpPr/>
          <p:nvPr/>
        </p:nvSpPr>
        <p:spPr>
          <a:xfrm>
            <a:off x="9893808" y="5449824"/>
            <a:ext cx="2331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7" name="Shape 94"/>
          <p:cNvSpPr/>
          <p:nvPr/>
        </p:nvSpPr>
        <p:spPr>
          <a:xfrm>
            <a:off x="9893808" y="5504688"/>
            <a:ext cx="233172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8" name="Text 95"/>
          <p:cNvSpPr/>
          <p:nvPr/>
        </p:nvSpPr>
        <p:spPr>
          <a:xfrm>
            <a:off x="9893808" y="5504688"/>
            <a:ext cx="2331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GRADUALIDAD</a:t>
            </a:r>
            <a:endParaRPr lang="en-US" sz="1100" dirty="0"/>
          </a:p>
        </p:txBody>
      </p:sp>
      <p:sp>
        <p:nvSpPr>
          <p:cNvPr id="99" name="Text 96"/>
          <p:cNvSpPr/>
          <p:nvPr/>
        </p:nvSpPr>
        <p:spPr>
          <a:xfrm>
            <a:off x="9985248" y="5852160"/>
            <a:ext cx="216712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factores R.D.E. 004-2018-SERFOR-DE: beneficio ilícito, costos evitados, probabilidad detección, perjuicio, gravedad, amenaza, regeneración + agravantes.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1" name="Shape 98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02" name="Text 99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Marco legal: Ley N° 29763 · D.S. 007-2021-MIDAGRI · D.S. 018-2015-MINAGRI · TUO LPAG D.S. 004-2019-JUS · R.D.E. 008-2020-SERFOR-DE · R.D.E. 004-2018-SERFOR-DE · Ord. Reg. 003-2019-GRU-CR · Diapositiva 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F4831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001-2026-PAS/JCV — INFORME DE INICIO DE PAS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Evaluación para el inicio del PAS contra JOEL MIKE DURAN JORGE (DNI 71746214) — CTP DECOMADERA DURAN G&amp;R E.I.R.L.  ·  Fecha: 26 Enero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5486400" cy="5486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5486400" cy="347472"/>
          </a:xfrm>
          <a:prstGeom prst="rect">
            <a:avLst/>
          </a:prstGeom>
          <a:solidFill>
            <a:srgbClr val="F4831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0972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10424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CASO — EXP. PAS DECOMADERA DURAN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" y="1389888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Shape 10"/>
          <p:cNvSpPr/>
          <p:nvPr/>
        </p:nvSpPr>
        <p:spPr>
          <a:xfrm>
            <a:off x="164592" y="1389888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1"/>
          <p:cNvSpPr/>
          <p:nvPr/>
        </p:nvSpPr>
        <p:spPr>
          <a:xfrm>
            <a:off x="228600" y="1389888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581912" y="1389888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Mike Duran Jorge — DNI N° 71746214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64592" y="1810512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64592" y="1810512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5"/>
          <p:cNvSpPr/>
          <p:nvPr/>
        </p:nvSpPr>
        <p:spPr>
          <a:xfrm>
            <a:off x="228600" y="1810512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581912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DECOMADERA DURAN G&amp;R E.I.R.L. — RUC 20608634011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64592" y="2231136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Shape 18"/>
          <p:cNvSpPr/>
          <p:nvPr/>
        </p:nvSpPr>
        <p:spPr>
          <a:xfrm>
            <a:off x="164592" y="2231136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9"/>
          <p:cNvSpPr/>
          <p:nvPr/>
        </p:nvSpPr>
        <p:spPr>
          <a:xfrm>
            <a:off x="228600" y="2231136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581912" y="2231136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Legal del Centro de Transformación Primaria (CTP)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64592" y="2651760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164592" y="2651760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2651760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581912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Los Cedros Mz. E Lt. 04, Complejo Industrial AIMPA, Mariela II, Padre Abad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64592" y="3072384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3072384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3072384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3072384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013-2025-GRU-GGR-GRFFS-SOFFS-PA — 18 Dic 2025 — hora 10:10 a.m.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3493008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3493008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3493008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acto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3493008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inopinada al CTP — verificación origen legal del PFM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913632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913632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913632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913632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22, Anexo 1, D.S. N° 007-2021-MIDAGRI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4334256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4334256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4334256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rector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4334256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POSEER — PFM sin Guía de Transporte Forestal (GTF) ni doc. equivalente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754880"/>
            <a:ext cx="5486400" cy="411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754880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754880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754880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MUY GRAVE — Multa: más de 10 UIT hasta 5,000 UIT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5175504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5175504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5175504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PFM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5175504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 — 7.997 m³ · 1,759.34 PT · precio mercado S/ 1.50/PT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5596128"/>
            <a:ext cx="548640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5596128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5596128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5596128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de 8 trozas — custodia según Acta 18/12/2025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6016752"/>
            <a:ext cx="5486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6016752"/>
            <a:ext cx="1371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6016752"/>
            <a:ext cx="13075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6016752"/>
            <a:ext cx="4023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008-2025-VJPT — Bach. Víctor J. Perea Tapullima (18/12/2025)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5760720" y="1042416"/>
            <a:ext cx="6236208" cy="658368"/>
          </a:xfrm>
          <a:prstGeom prst="rect">
            <a:avLst/>
          </a:prstGeom>
          <a:solidFill>
            <a:srgbClr val="E0F7FA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Text 58"/>
          <p:cNvSpPr/>
          <p:nvPr/>
        </p:nvSpPr>
        <p:spPr>
          <a:xfrm>
            <a:off x="5870448" y="1078992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CONTEXTO DE LA INTERVENCIÓN</a:t>
            </a:r>
            <a:endParaRPr lang="en-US" sz="1050" dirty="0"/>
          </a:p>
        </p:txBody>
      </p:sp>
      <p:sp>
        <p:nvSpPr>
          <p:cNvPr id="63" name="Text 59"/>
          <p:cNvSpPr/>
          <p:nvPr/>
        </p:nvSpPr>
        <p:spPr>
          <a:xfrm>
            <a:off x="5870448" y="1298448"/>
            <a:ext cx="607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18/12/2025, personal de la SOFFS-PA fiscalizó inopinadamente el CTP DECOMADERA DURAN G&amp;R E.I.R.L. Identificaron 8 trozas de madera en rollo (3 especies) sin Guía de Transporte Forestal ni documentación de origen legal. Configura infracción MUY GRAVE Numeral 22, Anexo 1, D.S. 007-2021-MIDAGRI.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5760720" y="1792224"/>
            <a:ext cx="6236208" cy="48646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5760720" y="1792224"/>
            <a:ext cx="6236208" cy="347472"/>
          </a:xfrm>
          <a:prstGeom prst="rect">
            <a:avLst/>
          </a:prstGeom>
          <a:solidFill>
            <a:srgbClr val="1B7A34"/>
          </a:solidFill>
          <a:ln/>
        </p:spPr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847088"/>
            <a:ext cx="237744" cy="237744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6163056" y="1792224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01 — PRODUCTOS FORESTALES MADERABLES INTERVENIDOS</a:t>
            </a:r>
            <a:endParaRPr lang="en-US" sz="1200" dirty="0"/>
          </a:p>
        </p:txBody>
      </p:sp>
      <p:sp>
        <p:nvSpPr>
          <p:cNvPr id="68" name="Shape 63"/>
          <p:cNvSpPr/>
          <p:nvPr/>
        </p:nvSpPr>
        <p:spPr>
          <a:xfrm>
            <a:off x="5760720" y="2139696"/>
            <a:ext cx="62362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9" name="Text 64"/>
          <p:cNvSpPr/>
          <p:nvPr/>
        </p:nvSpPr>
        <p:spPr>
          <a:xfrm>
            <a:off x="5852160" y="2139696"/>
            <a:ext cx="61081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N° 013-2025 · IT N° 008-2025-VJPT · Total: 8 trozas · 7.997 m³ · 1,759.34 PT · Precio S/ 1.50/PT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760720" y="2377440"/>
            <a:ext cx="11887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1" name="Text 66"/>
          <p:cNvSpPr/>
          <p:nvPr/>
        </p:nvSpPr>
        <p:spPr>
          <a:xfrm>
            <a:off x="5779008" y="2377440"/>
            <a:ext cx="116128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Común</a:t>
            </a:r>
            <a:endParaRPr lang="en-US" sz="850" dirty="0"/>
          </a:p>
        </p:txBody>
      </p:sp>
      <p:sp>
        <p:nvSpPr>
          <p:cNvPr id="72" name="Shape 67"/>
          <p:cNvSpPr/>
          <p:nvPr/>
        </p:nvSpPr>
        <p:spPr>
          <a:xfrm>
            <a:off x="6949440" y="2377440"/>
            <a:ext cx="1920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3" name="Text 68"/>
          <p:cNvSpPr/>
          <p:nvPr/>
        </p:nvSpPr>
        <p:spPr>
          <a:xfrm>
            <a:off x="6967728" y="2377440"/>
            <a:ext cx="189280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8869680" y="2377440"/>
            <a:ext cx="45720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5" name="Text 70"/>
          <p:cNvSpPr/>
          <p:nvPr/>
        </p:nvSpPr>
        <p:spPr>
          <a:xfrm>
            <a:off x="8887968" y="2377440"/>
            <a:ext cx="42976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9326880" y="2377440"/>
            <a:ext cx="749808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7" name="Text 72"/>
          <p:cNvSpPr/>
          <p:nvPr/>
        </p:nvSpPr>
        <p:spPr>
          <a:xfrm>
            <a:off x="9345168" y="2377440"/>
            <a:ext cx="72237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m³</a:t>
            </a:r>
            <a:endParaRPr lang="en-US" sz="850" dirty="0"/>
          </a:p>
        </p:txBody>
      </p:sp>
      <p:sp>
        <p:nvSpPr>
          <p:cNvPr id="78" name="Shape 73"/>
          <p:cNvSpPr/>
          <p:nvPr/>
        </p:nvSpPr>
        <p:spPr>
          <a:xfrm>
            <a:off x="10076688" y="2377440"/>
            <a:ext cx="749808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9" name="Text 74"/>
          <p:cNvSpPr/>
          <p:nvPr/>
        </p:nvSpPr>
        <p:spPr>
          <a:xfrm>
            <a:off x="10094976" y="2377440"/>
            <a:ext cx="72237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PT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10826496" y="2377440"/>
            <a:ext cx="9601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1" name="Text 76"/>
          <p:cNvSpPr/>
          <p:nvPr/>
        </p:nvSpPr>
        <p:spPr>
          <a:xfrm>
            <a:off x="10844784" y="2377440"/>
            <a:ext cx="93268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Cat.DS043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5760720" y="2651760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3" name="Text 78"/>
          <p:cNvSpPr/>
          <p:nvPr/>
        </p:nvSpPr>
        <p:spPr>
          <a:xfrm>
            <a:off x="5788152" y="2651760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50" dirty="0"/>
          </a:p>
        </p:txBody>
      </p:sp>
      <p:sp>
        <p:nvSpPr>
          <p:cNvPr id="84" name="Shape 79"/>
          <p:cNvSpPr/>
          <p:nvPr/>
        </p:nvSpPr>
        <p:spPr>
          <a:xfrm>
            <a:off x="6949440" y="2651760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5" name="Text 80"/>
          <p:cNvSpPr/>
          <p:nvPr/>
        </p:nvSpPr>
        <p:spPr>
          <a:xfrm>
            <a:off x="6976872" y="2651760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utile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8869680" y="2651760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7" name="Text 82"/>
          <p:cNvSpPr/>
          <p:nvPr/>
        </p:nvSpPr>
        <p:spPr>
          <a:xfrm>
            <a:off x="8897112" y="2651760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8" name="Shape 83"/>
          <p:cNvSpPr/>
          <p:nvPr/>
        </p:nvSpPr>
        <p:spPr>
          <a:xfrm>
            <a:off x="9326880" y="2651760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9" name="Text 84"/>
          <p:cNvSpPr/>
          <p:nvPr/>
        </p:nvSpPr>
        <p:spPr>
          <a:xfrm>
            <a:off x="9354312" y="265176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1.073</a:t>
            </a:r>
            <a:endParaRPr lang="en-US" sz="850" dirty="0"/>
          </a:p>
        </p:txBody>
      </p:sp>
      <p:sp>
        <p:nvSpPr>
          <p:cNvPr id="90" name="Shape 85"/>
          <p:cNvSpPr/>
          <p:nvPr/>
        </p:nvSpPr>
        <p:spPr>
          <a:xfrm>
            <a:off x="10076688" y="2651760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1" name="Text 86"/>
          <p:cNvSpPr/>
          <p:nvPr/>
        </p:nvSpPr>
        <p:spPr>
          <a:xfrm>
            <a:off x="10104120" y="265176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236.06</a:t>
            </a:r>
            <a:endParaRPr lang="en-US" sz="850" dirty="0"/>
          </a:p>
        </p:txBody>
      </p:sp>
      <p:sp>
        <p:nvSpPr>
          <p:cNvPr id="92" name="Shape 87"/>
          <p:cNvSpPr/>
          <p:nvPr/>
        </p:nvSpPr>
        <p:spPr>
          <a:xfrm>
            <a:off x="10826496" y="2651760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3" name="Text 88"/>
          <p:cNvSpPr/>
          <p:nvPr/>
        </p:nvSpPr>
        <p:spPr>
          <a:xfrm>
            <a:off x="10853928" y="2651760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94" name="Shape 89"/>
          <p:cNvSpPr/>
          <p:nvPr/>
        </p:nvSpPr>
        <p:spPr>
          <a:xfrm>
            <a:off x="5760720" y="289864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0"/>
          <p:cNvSpPr/>
          <p:nvPr/>
        </p:nvSpPr>
        <p:spPr>
          <a:xfrm>
            <a:off x="5788152" y="2898648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50" dirty="0"/>
          </a:p>
        </p:txBody>
      </p:sp>
      <p:sp>
        <p:nvSpPr>
          <p:cNvPr id="96" name="Shape 91"/>
          <p:cNvSpPr/>
          <p:nvPr/>
        </p:nvSpPr>
        <p:spPr>
          <a:xfrm>
            <a:off x="6949440" y="2898648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2"/>
          <p:cNvSpPr/>
          <p:nvPr/>
        </p:nvSpPr>
        <p:spPr>
          <a:xfrm>
            <a:off x="6976872" y="2898648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utile</a:t>
            </a:r>
            <a:endParaRPr lang="en-US" sz="850" dirty="0"/>
          </a:p>
        </p:txBody>
      </p:sp>
      <p:sp>
        <p:nvSpPr>
          <p:cNvPr id="98" name="Shape 93"/>
          <p:cNvSpPr/>
          <p:nvPr/>
        </p:nvSpPr>
        <p:spPr>
          <a:xfrm>
            <a:off x="8869680" y="289864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4"/>
          <p:cNvSpPr/>
          <p:nvPr/>
        </p:nvSpPr>
        <p:spPr>
          <a:xfrm>
            <a:off x="8897112" y="2898648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0" name="Shape 95"/>
          <p:cNvSpPr/>
          <p:nvPr/>
        </p:nvSpPr>
        <p:spPr>
          <a:xfrm>
            <a:off x="9326880" y="2898648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6"/>
          <p:cNvSpPr/>
          <p:nvPr/>
        </p:nvSpPr>
        <p:spPr>
          <a:xfrm>
            <a:off x="9354312" y="289864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</a:t>
            </a:r>
            <a:endParaRPr lang="en-US" sz="850" dirty="0"/>
          </a:p>
        </p:txBody>
      </p:sp>
      <p:sp>
        <p:nvSpPr>
          <p:cNvPr id="102" name="Shape 97"/>
          <p:cNvSpPr/>
          <p:nvPr/>
        </p:nvSpPr>
        <p:spPr>
          <a:xfrm>
            <a:off x="10076688" y="2898648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98"/>
          <p:cNvSpPr/>
          <p:nvPr/>
        </p:nvSpPr>
        <p:spPr>
          <a:xfrm>
            <a:off x="10104120" y="289864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199.10</a:t>
            </a:r>
            <a:endParaRPr lang="en-US" sz="850" dirty="0"/>
          </a:p>
        </p:txBody>
      </p:sp>
      <p:sp>
        <p:nvSpPr>
          <p:cNvPr id="104" name="Shape 99"/>
          <p:cNvSpPr/>
          <p:nvPr/>
        </p:nvSpPr>
        <p:spPr>
          <a:xfrm>
            <a:off x="10826496" y="2898648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0"/>
          <p:cNvSpPr/>
          <p:nvPr/>
        </p:nvSpPr>
        <p:spPr>
          <a:xfrm>
            <a:off x="10853928" y="2898648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06" name="Shape 101"/>
          <p:cNvSpPr/>
          <p:nvPr/>
        </p:nvSpPr>
        <p:spPr>
          <a:xfrm>
            <a:off x="5760720" y="3145536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7" name="Text 102"/>
          <p:cNvSpPr/>
          <p:nvPr/>
        </p:nvSpPr>
        <p:spPr>
          <a:xfrm>
            <a:off x="5788152" y="3145536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50" dirty="0"/>
          </a:p>
        </p:txBody>
      </p:sp>
      <p:sp>
        <p:nvSpPr>
          <p:cNvPr id="108" name="Shape 103"/>
          <p:cNvSpPr/>
          <p:nvPr/>
        </p:nvSpPr>
        <p:spPr>
          <a:xfrm>
            <a:off x="6949440" y="3145536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9" name="Text 104"/>
          <p:cNvSpPr/>
          <p:nvPr/>
        </p:nvSpPr>
        <p:spPr>
          <a:xfrm>
            <a:off x="6976872" y="3145536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utile</a:t>
            </a:r>
            <a:endParaRPr lang="en-US" sz="850" dirty="0"/>
          </a:p>
        </p:txBody>
      </p:sp>
      <p:sp>
        <p:nvSpPr>
          <p:cNvPr id="110" name="Shape 105"/>
          <p:cNvSpPr/>
          <p:nvPr/>
        </p:nvSpPr>
        <p:spPr>
          <a:xfrm>
            <a:off x="8869680" y="3145536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1" name="Text 106"/>
          <p:cNvSpPr/>
          <p:nvPr/>
        </p:nvSpPr>
        <p:spPr>
          <a:xfrm>
            <a:off x="8897112" y="3145536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2" name="Shape 107"/>
          <p:cNvSpPr/>
          <p:nvPr/>
        </p:nvSpPr>
        <p:spPr>
          <a:xfrm>
            <a:off x="9326880" y="3145536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3" name="Text 108"/>
          <p:cNvSpPr/>
          <p:nvPr/>
        </p:nvSpPr>
        <p:spPr>
          <a:xfrm>
            <a:off x="9354312" y="314553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850" dirty="0"/>
          </a:p>
        </p:txBody>
      </p:sp>
      <p:sp>
        <p:nvSpPr>
          <p:cNvPr id="114" name="Shape 109"/>
          <p:cNvSpPr/>
          <p:nvPr/>
        </p:nvSpPr>
        <p:spPr>
          <a:xfrm>
            <a:off x="10076688" y="3145536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5" name="Text 110"/>
          <p:cNvSpPr/>
          <p:nvPr/>
        </p:nvSpPr>
        <p:spPr>
          <a:xfrm>
            <a:off x="10104120" y="314553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170.50</a:t>
            </a:r>
            <a:endParaRPr lang="en-US" sz="850" dirty="0"/>
          </a:p>
        </p:txBody>
      </p:sp>
      <p:sp>
        <p:nvSpPr>
          <p:cNvPr id="116" name="Shape 111"/>
          <p:cNvSpPr/>
          <p:nvPr/>
        </p:nvSpPr>
        <p:spPr>
          <a:xfrm>
            <a:off x="10826496" y="3145536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7" name="Text 112"/>
          <p:cNvSpPr/>
          <p:nvPr/>
        </p:nvSpPr>
        <p:spPr>
          <a:xfrm>
            <a:off x="10853928" y="3145536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18" name="Shape 113"/>
          <p:cNvSpPr/>
          <p:nvPr/>
        </p:nvSpPr>
        <p:spPr>
          <a:xfrm>
            <a:off x="5760720" y="3392424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4"/>
          <p:cNvSpPr/>
          <p:nvPr/>
        </p:nvSpPr>
        <p:spPr>
          <a:xfrm>
            <a:off x="5788152" y="3392424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50" dirty="0"/>
          </a:p>
        </p:txBody>
      </p:sp>
      <p:sp>
        <p:nvSpPr>
          <p:cNvPr id="120" name="Shape 115"/>
          <p:cNvSpPr/>
          <p:nvPr/>
        </p:nvSpPr>
        <p:spPr>
          <a:xfrm>
            <a:off x="6949440" y="3392424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6"/>
          <p:cNvSpPr/>
          <p:nvPr/>
        </p:nvSpPr>
        <p:spPr>
          <a:xfrm>
            <a:off x="6976872" y="3392424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rubescens</a:t>
            </a:r>
            <a:endParaRPr lang="en-US" sz="850" dirty="0"/>
          </a:p>
        </p:txBody>
      </p:sp>
      <p:sp>
        <p:nvSpPr>
          <p:cNvPr id="122" name="Shape 117"/>
          <p:cNvSpPr/>
          <p:nvPr/>
        </p:nvSpPr>
        <p:spPr>
          <a:xfrm>
            <a:off x="8869680" y="33924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18"/>
          <p:cNvSpPr/>
          <p:nvPr/>
        </p:nvSpPr>
        <p:spPr>
          <a:xfrm>
            <a:off x="8897112" y="3392424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4" name="Shape 119"/>
          <p:cNvSpPr/>
          <p:nvPr/>
        </p:nvSpPr>
        <p:spPr>
          <a:xfrm>
            <a:off x="9326880" y="3392424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0"/>
          <p:cNvSpPr/>
          <p:nvPr/>
        </p:nvSpPr>
        <p:spPr>
          <a:xfrm>
            <a:off x="9354312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850" dirty="0"/>
          </a:p>
        </p:txBody>
      </p:sp>
      <p:sp>
        <p:nvSpPr>
          <p:cNvPr id="126" name="Shape 121"/>
          <p:cNvSpPr/>
          <p:nvPr/>
        </p:nvSpPr>
        <p:spPr>
          <a:xfrm>
            <a:off x="10076688" y="3392424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2"/>
          <p:cNvSpPr/>
          <p:nvPr/>
        </p:nvSpPr>
        <p:spPr>
          <a:xfrm>
            <a:off x="10104120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176.00</a:t>
            </a:r>
            <a:endParaRPr lang="en-US" sz="850" dirty="0"/>
          </a:p>
        </p:txBody>
      </p:sp>
      <p:sp>
        <p:nvSpPr>
          <p:cNvPr id="128" name="Shape 123"/>
          <p:cNvSpPr/>
          <p:nvPr/>
        </p:nvSpPr>
        <p:spPr>
          <a:xfrm>
            <a:off x="10826496" y="3392424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4"/>
          <p:cNvSpPr/>
          <p:nvPr/>
        </p:nvSpPr>
        <p:spPr>
          <a:xfrm>
            <a:off x="10853928" y="3392424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30" name="Shape 125"/>
          <p:cNvSpPr/>
          <p:nvPr/>
        </p:nvSpPr>
        <p:spPr>
          <a:xfrm>
            <a:off x="5760720" y="3639312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1" name="Text 126"/>
          <p:cNvSpPr/>
          <p:nvPr/>
        </p:nvSpPr>
        <p:spPr>
          <a:xfrm>
            <a:off x="5788152" y="3639312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50" dirty="0"/>
          </a:p>
        </p:txBody>
      </p:sp>
      <p:sp>
        <p:nvSpPr>
          <p:cNvPr id="132" name="Shape 127"/>
          <p:cNvSpPr/>
          <p:nvPr/>
        </p:nvSpPr>
        <p:spPr>
          <a:xfrm>
            <a:off x="6949440" y="3639312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3" name="Text 128"/>
          <p:cNvSpPr/>
          <p:nvPr/>
        </p:nvSpPr>
        <p:spPr>
          <a:xfrm>
            <a:off x="6976872" y="3639312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rubescens</a:t>
            </a:r>
            <a:endParaRPr lang="en-US" sz="850" dirty="0"/>
          </a:p>
        </p:txBody>
      </p:sp>
      <p:sp>
        <p:nvSpPr>
          <p:cNvPr id="134" name="Shape 129"/>
          <p:cNvSpPr/>
          <p:nvPr/>
        </p:nvSpPr>
        <p:spPr>
          <a:xfrm>
            <a:off x="8869680" y="3639312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5" name="Text 130"/>
          <p:cNvSpPr/>
          <p:nvPr/>
        </p:nvSpPr>
        <p:spPr>
          <a:xfrm>
            <a:off x="8897112" y="3639312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6" name="Shape 131"/>
          <p:cNvSpPr/>
          <p:nvPr/>
        </p:nvSpPr>
        <p:spPr>
          <a:xfrm>
            <a:off x="9326880" y="3639312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7" name="Text 132"/>
          <p:cNvSpPr/>
          <p:nvPr/>
        </p:nvSpPr>
        <p:spPr>
          <a:xfrm>
            <a:off x="9354312" y="3639312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1.019</a:t>
            </a:r>
            <a:endParaRPr lang="en-US" sz="850" dirty="0"/>
          </a:p>
        </p:txBody>
      </p:sp>
      <p:sp>
        <p:nvSpPr>
          <p:cNvPr id="138" name="Shape 133"/>
          <p:cNvSpPr/>
          <p:nvPr/>
        </p:nvSpPr>
        <p:spPr>
          <a:xfrm>
            <a:off x="10076688" y="3639312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9" name="Text 134"/>
          <p:cNvSpPr/>
          <p:nvPr/>
        </p:nvSpPr>
        <p:spPr>
          <a:xfrm>
            <a:off x="10104120" y="3639312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224.18</a:t>
            </a:r>
            <a:endParaRPr lang="en-US" sz="850" dirty="0"/>
          </a:p>
        </p:txBody>
      </p:sp>
      <p:sp>
        <p:nvSpPr>
          <p:cNvPr id="140" name="Shape 135"/>
          <p:cNvSpPr/>
          <p:nvPr/>
        </p:nvSpPr>
        <p:spPr>
          <a:xfrm>
            <a:off x="10826496" y="3639312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1" name="Text 136"/>
          <p:cNvSpPr/>
          <p:nvPr/>
        </p:nvSpPr>
        <p:spPr>
          <a:xfrm>
            <a:off x="10853928" y="3639312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42" name="Shape 137"/>
          <p:cNvSpPr/>
          <p:nvPr/>
        </p:nvSpPr>
        <p:spPr>
          <a:xfrm>
            <a:off x="5760720" y="3886200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38"/>
          <p:cNvSpPr/>
          <p:nvPr/>
        </p:nvSpPr>
        <p:spPr>
          <a:xfrm>
            <a:off x="5788152" y="3886200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50" dirty="0"/>
          </a:p>
        </p:txBody>
      </p:sp>
      <p:sp>
        <p:nvSpPr>
          <p:cNvPr id="144" name="Shape 139"/>
          <p:cNvSpPr/>
          <p:nvPr/>
        </p:nvSpPr>
        <p:spPr>
          <a:xfrm>
            <a:off x="6949440" y="3886200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0"/>
          <p:cNvSpPr/>
          <p:nvPr/>
        </p:nvSpPr>
        <p:spPr>
          <a:xfrm>
            <a:off x="6976872" y="3886200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rubescens</a:t>
            </a:r>
            <a:endParaRPr lang="en-US" sz="850" dirty="0"/>
          </a:p>
        </p:txBody>
      </p:sp>
      <p:sp>
        <p:nvSpPr>
          <p:cNvPr id="146" name="Shape 141"/>
          <p:cNvSpPr/>
          <p:nvPr/>
        </p:nvSpPr>
        <p:spPr>
          <a:xfrm>
            <a:off x="8869680" y="388620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7" name="Text 142"/>
          <p:cNvSpPr/>
          <p:nvPr/>
        </p:nvSpPr>
        <p:spPr>
          <a:xfrm>
            <a:off x="8897112" y="3886200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8" name="Shape 143"/>
          <p:cNvSpPr/>
          <p:nvPr/>
        </p:nvSpPr>
        <p:spPr>
          <a:xfrm>
            <a:off x="9326880" y="3886200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Text 144"/>
          <p:cNvSpPr/>
          <p:nvPr/>
        </p:nvSpPr>
        <p:spPr>
          <a:xfrm>
            <a:off x="9354312" y="388620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1.013</a:t>
            </a:r>
            <a:endParaRPr lang="en-US" sz="850" dirty="0"/>
          </a:p>
        </p:txBody>
      </p:sp>
      <p:sp>
        <p:nvSpPr>
          <p:cNvPr id="150" name="Shape 145"/>
          <p:cNvSpPr/>
          <p:nvPr/>
        </p:nvSpPr>
        <p:spPr>
          <a:xfrm>
            <a:off x="10076688" y="3886200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6"/>
          <p:cNvSpPr/>
          <p:nvPr/>
        </p:nvSpPr>
        <p:spPr>
          <a:xfrm>
            <a:off x="10104120" y="3886200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222.86</a:t>
            </a:r>
            <a:endParaRPr lang="en-US" sz="850" dirty="0"/>
          </a:p>
        </p:txBody>
      </p:sp>
      <p:sp>
        <p:nvSpPr>
          <p:cNvPr id="152" name="Shape 147"/>
          <p:cNvSpPr/>
          <p:nvPr/>
        </p:nvSpPr>
        <p:spPr>
          <a:xfrm>
            <a:off x="10826496" y="3886200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48"/>
          <p:cNvSpPr/>
          <p:nvPr/>
        </p:nvSpPr>
        <p:spPr>
          <a:xfrm>
            <a:off x="10853928" y="3886200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54" name="Shape 149"/>
          <p:cNvSpPr/>
          <p:nvPr/>
        </p:nvSpPr>
        <p:spPr>
          <a:xfrm>
            <a:off x="5760720" y="4133088"/>
            <a:ext cx="11887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5" name="Text 150"/>
          <p:cNvSpPr/>
          <p:nvPr/>
        </p:nvSpPr>
        <p:spPr>
          <a:xfrm>
            <a:off x="5788152" y="4133088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MARUPA</a:t>
            </a:r>
            <a:endParaRPr lang="en-US" sz="850" dirty="0"/>
          </a:p>
        </p:txBody>
      </p:sp>
      <p:sp>
        <p:nvSpPr>
          <p:cNvPr id="156" name="Shape 151"/>
          <p:cNvSpPr/>
          <p:nvPr/>
        </p:nvSpPr>
        <p:spPr>
          <a:xfrm>
            <a:off x="6949440" y="4133088"/>
            <a:ext cx="192024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7" name="Text 152"/>
          <p:cNvSpPr/>
          <p:nvPr/>
        </p:nvSpPr>
        <p:spPr>
          <a:xfrm>
            <a:off x="6976872" y="4133088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Simarouba amara</a:t>
            </a:r>
            <a:endParaRPr lang="en-US" sz="850" dirty="0"/>
          </a:p>
        </p:txBody>
      </p:sp>
      <p:sp>
        <p:nvSpPr>
          <p:cNvPr id="158" name="Shape 153"/>
          <p:cNvSpPr/>
          <p:nvPr/>
        </p:nvSpPr>
        <p:spPr>
          <a:xfrm>
            <a:off x="8869680" y="4133088"/>
            <a:ext cx="45720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9" name="Text 154"/>
          <p:cNvSpPr/>
          <p:nvPr/>
        </p:nvSpPr>
        <p:spPr>
          <a:xfrm>
            <a:off x="8897112" y="4133088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0" name="Shape 155"/>
          <p:cNvSpPr/>
          <p:nvPr/>
        </p:nvSpPr>
        <p:spPr>
          <a:xfrm>
            <a:off x="9326880" y="4133088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1" name="Text 156"/>
          <p:cNvSpPr/>
          <p:nvPr/>
        </p:nvSpPr>
        <p:spPr>
          <a:xfrm>
            <a:off x="9354312" y="413308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1.414</a:t>
            </a:r>
            <a:endParaRPr lang="en-US" sz="850" dirty="0"/>
          </a:p>
        </p:txBody>
      </p:sp>
      <p:sp>
        <p:nvSpPr>
          <p:cNvPr id="162" name="Shape 157"/>
          <p:cNvSpPr/>
          <p:nvPr/>
        </p:nvSpPr>
        <p:spPr>
          <a:xfrm>
            <a:off x="10076688" y="4133088"/>
            <a:ext cx="749808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3" name="Text 158"/>
          <p:cNvSpPr/>
          <p:nvPr/>
        </p:nvSpPr>
        <p:spPr>
          <a:xfrm>
            <a:off x="10104120" y="4133088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311.08</a:t>
            </a:r>
            <a:endParaRPr lang="en-US" sz="850" dirty="0"/>
          </a:p>
        </p:txBody>
      </p:sp>
      <p:sp>
        <p:nvSpPr>
          <p:cNvPr id="164" name="Shape 159"/>
          <p:cNvSpPr/>
          <p:nvPr/>
        </p:nvSpPr>
        <p:spPr>
          <a:xfrm>
            <a:off x="10826496" y="4133088"/>
            <a:ext cx="960120" cy="2377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5" name="Text 160"/>
          <p:cNvSpPr/>
          <p:nvPr/>
        </p:nvSpPr>
        <p:spPr>
          <a:xfrm>
            <a:off x="10853928" y="4133088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66" name="Shape 161"/>
          <p:cNvSpPr/>
          <p:nvPr/>
        </p:nvSpPr>
        <p:spPr>
          <a:xfrm>
            <a:off x="5760720" y="4379976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7" name="Text 162"/>
          <p:cNvSpPr/>
          <p:nvPr/>
        </p:nvSpPr>
        <p:spPr>
          <a:xfrm>
            <a:off x="5788152" y="4379976"/>
            <a:ext cx="11521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MARUPA</a:t>
            </a:r>
            <a:endParaRPr lang="en-US" sz="850" dirty="0"/>
          </a:p>
        </p:txBody>
      </p:sp>
      <p:sp>
        <p:nvSpPr>
          <p:cNvPr id="168" name="Shape 163"/>
          <p:cNvSpPr/>
          <p:nvPr/>
        </p:nvSpPr>
        <p:spPr>
          <a:xfrm>
            <a:off x="6949440" y="4379976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4"/>
          <p:cNvSpPr/>
          <p:nvPr/>
        </p:nvSpPr>
        <p:spPr>
          <a:xfrm>
            <a:off x="6976872" y="4379976"/>
            <a:ext cx="188366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Simarouba amara</a:t>
            </a:r>
            <a:endParaRPr lang="en-US" sz="850" dirty="0"/>
          </a:p>
        </p:txBody>
      </p:sp>
      <p:sp>
        <p:nvSpPr>
          <p:cNvPr id="170" name="Shape 165"/>
          <p:cNvSpPr/>
          <p:nvPr/>
        </p:nvSpPr>
        <p:spPr>
          <a:xfrm>
            <a:off x="8869680" y="437997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Text 166"/>
          <p:cNvSpPr/>
          <p:nvPr/>
        </p:nvSpPr>
        <p:spPr>
          <a:xfrm>
            <a:off x="8897112" y="4379976"/>
            <a:ext cx="42062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72" name="Shape 167"/>
          <p:cNvSpPr/>
          <p:nvPr/>
        </p:nvSpPr>
        <p:spPr>
          <a:xfrm>
            <a:off x="9326880" y="4379976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Text 168"/>
          <p:cNvSpPr/>
          <p:nvPr/>
        </p:nvSpPr>
        <p:spPr>
          <a:xfrm>
            <a:off x="9354312" y="437997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850" dirty="0"/>
          </a:p>
        </p:txBody>
      </p:sp>
      <p:sp>
        <p:nvSpPr>
          <p:cNvPr id="174" name="Shape 169"/>
          <p:cNvSpPr/>
          <p:nvPr/>
        </p:nvSpPr>
        <p:spPr>
          <a:xfrm>
            <a:off x="10076688" y="4379976"/>
            <a:ext cx="7498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Text 170"/>
          <p:cNvSpPr/>
          <p:nvPr/>
        </p:nvSpPr>
        <p:spPr>
          <a:xfrm>
            <a:off x="10104120" y="4379976"/>
            <a:ext cx="713232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219.56</a:t>
            </a:r>
            <a:endParaRPr lang="en-US" sz="850" dirty="0"/>
          </a:p>
        </p:txBody>
      </p:sp>
      <p:sp>
        <p:nvSpPr>
          <p:cNvPr id="176" name="Shape 171"/>
          <p:cNvSpPr/>
          <p:nvPr/>
        </p:nvSpPr>
        <p:spPr>
          <a:xfrm>
            <a:off x="10826496" y="4379976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2"/>
          <p:cNvSpPr/>
          <p:nvPr/>
        </p:nvSpPr>
        <p:spPr>
          <a:xfrm>
            <a:off x="10853928" y="4379976"/>
            <a:ext cx="923544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78" name="Shape 173"/>
          <p:cNvSpPr/>
          <p:nvPr/>
        </p:nvSpPr>
        <p:spPr>
          <a:xfrm>
            <a:off x="5760720" y="4626864"/>
            <a:ext cx="118872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9" name="Text 174"/>
          <p:cNvSpPr/>
          <p:nvPr/>
        </p:nvSpPr>
        <p:spPr>
          <a:xfrm>
            <a:off x="5788152" y="4626864"/>
            <a:ext cx="11521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80" name="Shape 175"/>
          <p:cNvSpPr/>
          <p:nvPr/>
        </p:nvSpPr>
        <p:spPr>
          <a:xfrm>
            <a:off x="6949440" y="4626864"/>
            <a:ext cx="192024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1" name="Text 176"/>
          <p:cNvSpPr/>
          <p:nvPr/>
        </p:nvSpPr>
        <p:spPr>
          <a:xfrm>
            <a:off x="6976872" y="4626864"/>
            <a:ext cx="188366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especies / 8 trozas</a:t>
            </a:r>
            <a:endParaRPr lang="en-US" sz="900" dirty="0"/>
          </a:p>
        </p:txBody>
      </p:sp>
      <p:sp>
        <p:nvSpPr>
          <p:cNvPr id="182" name="Shape 177"/>
          <p:cNvSpPr/>
          <p:nvPr/>
        </p:nvSpPr>
        <p:spPr>
          <a:xfrm>
            <a:off x="8869680" y="4626864"/>
            <a:ext cx="45720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3" name="Text 178"/>
          <p:cNvSpPr/>
          <p:nvPr/>
        </p:nvSpPr>
        <p:spPr>
          <a:xfrm>
            <a:off x="8897112" y="4626864"/>
            <a:ext cx="42062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84" name="Shape 179"/>
          <p:cNvSpPr/>
          <p:nvPr/>
        </p:nvSpPr>
        <p:spPr>
          <a:xfrm>
            <a:off x="9326880" y="4626864"/>
            <a:ext cx="749808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5" name="Text 180"/>
          <p:cNvSpPr/>
          <p:nvPr/>
        </p:nvSpPr>
        <p:spPr>
          <a:xfrm>
            <a:off x="9354312" y="4626864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</a:t>
            </a:r>
            <a:endParaRPr lang="en-US" sz="900" dirty="0"/>
          </a:p>
        </p:txBody>
      </p:sp>
      <p:sp>
        <p:nvSpPr>
          <p:cNvPr id="186" name="Shape 181"/>
          <p:cNvSpPr/>
          <p:nvPr/>
        </p:nvSpPr>
        <p:spPr>
          <a:xfrm>
            <a:off x="10076688" y="4626864"/>
            <a:ext cx="749808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7" name="Text 182"/>
          <p:cNvSpPr/>
          <p:nvPr/>
        </p:nvSpPr>
        <p:spPr>
          <a:xfrm>
            <a:off x="10104120" y="4626864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1,759.34</a:t>
            </a:r>
            <a:endParaRPr lang="en-US" sz="900" dirty="0"/>
          </a:p>
        </p:txBody>
      </p:sp>
      <p:sp>
        <p:nvSpPr>
          <p:cNvPr id="188" name="Shape 183"/>
          <p:cNvSpPr/>
          <p:nvPr/>
        </p:nvSpPr>
        <p:spPr>
          <a:xfrm>
            <a:off x="10826496" y="4626864"/>
            <a:ext cx="96012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9" name="Text 184"/>
          <p:cNvSpPr/>
          <p:nvPr/>
        </p:nvSpPr>
        <p:spPr>
          <a:xfrm>
            <a:off x="10853928" y="4626864"/>
            <a:ext cx="9235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</a:t>
            </a:r>
            <a:endParaRPr lang="en-US" sz="900" dirty="0"/>
          </a:p>
        </p:txBody>
      </p:sp>
      <p:sp>
        <p:nvSpPr>
          <p:cNvPr id="190" name="Shape 185"/>
          <p:cNvSpPr/>
          <p:nvPr/>
        </p:nvSpPr>
        <p:spPr>
          <a:xfrm>
            <a:off x="5760720" y="4974336"/>
            <a:ext cx="6236208" cy="1371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91" name="Text 186"/>
          <p:cNvSpPr/>
          <p:nvPr/>
        </p:nvSpPr>
        <p:spPr>
          <a:xfrm>
            <a:off x="5888736" y="5029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Volumen por especie (m³)  —  Total: 7.997 m³</a:t>
            </a:r>
            <a:endParaRPr lang="en-US" sz="1000" dirty="0"/>
          </a:p>
        </p:txBody>
      </p:sp>
      <p:sp>
        <p:nvSpPr>
          <p:cNvPr id="192" name="Text 187"/>
          <p:cNvSpPr/>
          <p:nvPr/>
        </p:nvSpPr>
        <p:spPr>
          <a:xfrm>
            <a:off x="5943600" y="545035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2.753</a:t>
            </a:r>
            <a:endParaRPr lang="en-US" sz="1000" dirty="0"/>
          </a:p>
        </p:txBody>
      </p:sp>
      <p:sp>
        <p:nvSpPr>
          <p:cNvPr id="193" name="Shape 188"/>
          <p:cNvSpPr/>
          <p:nvPr/>
        </p:nvSpPr>
        <p:spPr>
          <a:xfrm>
            <a:off x="6071616" y="5651518"/>
            <a:ext cx="1554480" cy="56640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4" name="Text 189"/>
          <p:cNvSpPr/>
          <p:nvPr/>
        </p:nvSpPr>
        <p:spPr>
          <a:xfrm>
            <a:off x="5943600" y="62362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</a:t>
            </a:r>
            <a:endParaRPr lang="en-US" sz="800" dirty="0"/>
          </a:p>
        </p:txBody>
      </p:sp>
      <p:sp>
        <p:nvSpPr>
          <p:cNvPr id="195" name="Text 190"/>
          <p:cNvSpPr/>
          <p:nvPr/>
        </p:nvSpPr>
        <p:spPr>
          <a:xfrm>
            <a:off x="7964424" y="54340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2.832</a:t>
            </a:r>
            <a:endParaRPr lang="en-US" sz="1000" dirty="0"/>
          </a:p>
        </p:txBody>
      </p:sp>
      <p:sp>
        <p:nvSpPr>
          <p:cNvPr id="196" name="Shape 191"/>
          <p:cNvSpPr/>
          <p:nvPr/>
        </p:nvSpPr>
        <p:spPr>
          <a:xfrm>
            <a:off x="8092440" y="5635264"/>
            <a:ext cx="1554480" cy="58265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97" name="Text 192"/>
          <p:cNvSpPr/>
          <p:nvPr/>
        </p:nvSpPr>
        <p:spPr>
          <a:xfrm>
            <a:off x="7964424" y="62362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PALISANGRE</a:t>
            </a:r>
            <a:endParaRPr lang="en-US" sz="800" dirty="0"/>
          </a:p>
        </p:txBody>
      </p:sp>
      <p:sp>
        <p:nvSpPr>
          <p:cNvPr id="198" name="Text 193"/>
          <p:cNvSpPr/>
          <p:nvPr/>
        </p:nvSpPr>
        <p:spPr>
          <a:xfrm>
            <a:off x="9985248" y="552050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2.412</a:t>
            </a:r>
            <a:endParaRPr lang="en-US" sz="1000" dirty="0"/>
          </a:p>
        </p:txBody>
      </p:sp>
      <p:sp>
        <p:nvSpPr>
          <p:cNvPr id="199" name="Shape 194"/>
          <p:cNvSpPr/>
          <p:nvPr/>
        </p:nvSpPr>
        <p:spPr>
          <a:xfrm>
            <a:off x="10113264" y="5721675"/>
            <a:ext cx="1554480" cy="496245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00" name="Text 195"/>
          <p:cNvSpPr/>
          <p:nvPr/>
        </p:nvSpPr>
        <p:spPr>
          <a:xfrm>
            <a:off x="9985248" y="62362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MARUPA</a:t>
            </a:r>
            <a:endParaRPr lang="en-US" sz="800" dirty="0"/>
          </a:p>
        </p:txBody>
      </p:sp>
      <p:sp>
        <p:nvSpPr>
          <p:cNvPr id="201" name="Shape 196"/>
          <p:cNvSpPr/>
          <p:nvPr/>
        </p:nvSpPr>
        <p:spPr>
          <a:xfrm>
            <a:off x="11942064" y="5157216"/>
            <a:ext cx="0" cy="0"/>
          </a:xfrm>
          <a:prstGeom prst="rect">
            <a:avLst/>
          </a:prstGeom>
          <a:noFill/>
          <a:ln/>
        </p:spPr>
      </p:sp>
      <p:sp>
        <p:nvSpPr>
          <p:cNvPr id="202" name="Shape 197"/>
          <p:cNvSpPr/>
          <p:nvPr/>
        </p:nvSpPr>
        <p:spPr>
          <a:xfrm>
            <a:off x="11356848" y="4974336"/>
            <a:ext cx="640080" cy="1371600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03" name="Text 198"/>
          <p:cNvSpPr/>
          <p:nvPr/>
        </p:nvSpPr>
        <p:spPr>
          <a:xfrm>
            <a:off x="11356848" y="5111496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04" name="Shape 199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205" name="Shape 200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206" name="Text 201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CONCLUSIÓN: INICIAR PAS — Infracción MUY GRAVE Numeral 22 D.S. 007-2021-MIDAGRI · Mantener decomiso 7.997 m³ · Expediente derivado al Área Legal Instructora · Diapositiva 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7C3AED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002-2026-PAS/JCV — INFORME DE INICIO DE PAS — CASERÍO LA PUNTA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Evaluación para inicio del PAS contra EMILIA TARAZONA MAÍZ (DNI 22459980) — Sector La Punta, Distrito Padre Abad  ·  Fecha: 27 Enero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Volumen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7.09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Área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Forestales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157984"/>
            <a:ext cx="5468112" cy="43708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157984"/>
            <a:ext cx="5468112" cy="3474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21284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15798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CASO — CASERÍO LA PUNTA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505456"/>
            <a:ext cx="5468112" cy="39319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505456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505456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505456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Emilia Tarazona Maíz — DNI N° 22459980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2907792"/>
            <a:ext cx="5468112" cy="39319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2907792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2907792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2907792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Caserío La Punta, Distrito y Provincia de Padre Abad, Ucayali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310128"/>
            <a:ext cx="5468112" cy="39319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310128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310128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310128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E 455498 m, N 8994570 m — Área intervenida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3712464"/>
            <a:ext cx="5468112" cy="39319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3712464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3712464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campo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3712464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N° 026-2025-TI/KRVF — Bach. Koby R. Valdizan Flores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114800"/>
            <a:ext cx="5468112" cy="39319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114800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114800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114800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Inspección Ocular N° 025 — 18 Nov 2025 — 14:10 h — FEMA + PNP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4517136"/>
            <a:ext cx="5468112" cy="39319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4517136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4517136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4517136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 N° 2987-2025-DIRNIC PNP/DIRMEAMB — 06 Nov 2025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4919472"/>
            <a:ext cx="5468112" cy="39319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4919472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4919472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4919472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 Sr. Malvino Sandoval Jorge — área desboscada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5321808"/>
            <a:ext cx="5468112" cy="39319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5321808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5321808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5321808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21 — Talar/aprovechar recursos forestales sin autorización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164592" y="5724144"/>
            <a:ext cx="5468112" cy="3931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2" name="Shape 58"/>
          <p:cNvSpPr/>
          <p:nvPr/>
        </p:nvSpPr>
        <p:spPr>
          <a:xfrm>
            <a:off x="164592" y="5724144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9"/>
          <p:cNvSpPr/>
          <p:nvPr/>
        </p:nvSpPr>
        <p:spPr>
          <a:xfrm>
            <a:off x="228600" y="5724144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1581912" y="5724144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MUY GRAVE — Multa: más de 10 UIT hasta 5,000 UIT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164592" y="6126480"/>
            <a:ext cx="5468112" cy="39319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66" name="Shape 62"/>
          <p:cNvSpPr/>
          <p:nvPr/>
        </p:nvSpPr>
        <p:spPr>
          <a:xfrm>
            <a:off x="164592" y="6126480"/>
            <a:ext cx="137160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3"/>
          <p:cNvSpPr/>
          <p:nvPr/>
        </p:nvSpPr>
        <p:spPr>
          <a:xfrm>
            <a:off x="228600" y="6126480"/>
            <a:ext cx="130759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1581912" y="6126480"/>
            <a:ext cx="4005072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año antigüedad — bosque secundario en recuperación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5760720" y="2157984"/>
            <a:ext cx="6236208" cy="43708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6"/>
          <p:cNvSpPr/>
          <p:nvPr/>
        </p:nvSpPr>
        <p:spPr>
          <a:xfrm>
            <a:off x="5760720" y="2157984"/>
            <a:ext cx="6236208" cy="3474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212848"/>
            <a:ext cx="237744" cy="237744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6163056" y="2157984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01 — ESPECIES FORESTALES AFECTADAS · IT N° 026-2025-TI/KRVF</a:t>
            </a:r>
            <a:endParaRPr lang="en-US" sz="1200" dirty="0"/>
          </a:p>
        </p:txBody>
      </p:sp>
      <p:sp>
        <p:nvSpPr>
          <p:cNvPr id="73" name="Shape 68"/>
          <p:cNvSpPr/>
          <p:nvPr/>
        </p:nvSpPr>
        <p:spPr>
          <a:xfrm>
            <a:off x="5760720" y="2505456"/>
            <a:ext cx="6236208" cy="2194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4" name="Text 69"/>
          <p:cNvSpPr/>
          <p:nvPr/>
        </p:nvSpPr>
        <p:spPr>
          <a:xfrm>
            <a:off x="5852160" y="2505456"/>
            <a:ext cx="610819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15 árboles · 6 especies · 8.213 m³ · 1,806.86 PT  ·  Ninguna especie en DS043-2006-AG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5760720" y="2724912"/>
            <a:ext cx="14630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6" name="Text 71"/>
          <p:cNvSpPr/>
          <p:nvPr/>
        </p:nvSpPr>
        <p:spPr>
          <a:xfrm>
            <a:off x="5779008" y="2724912"/>
            <a:ext cx="143560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 Común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7223760" y="2724912"/>
            <a:ext cx="21945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8" name="Text 73"/>
          <p:cNvSpPr/>
          <p:nvPr/>
        </p:nvSpPr>
        <p:spPr>
          <a:xfrm>
            <a:off x="7242048" y="2724912"/>
            <a:ext cx="216712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9418320" y="2724912"/>
            <a:ext cx="4114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0" name="Text 75"/>
          <p:cNvSpPr/>
          <p:nvPr/>
        </p:nvSpPr>
        <p:spPr>
          <a:xfrm>
            <a:off x="9436608" y="2724912"/>
            <a:ext cx="38404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9829800" y="2724912"/>
            <a:ext cx="68580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2" name="Text 77"/>
          <p:cNvSpPr/>
          <p:nvPr/>
        </p:nvSpPr>
        <p:spPr>
          <a:xfrm>
            <a:off x="9848088" y="2724912"/>
            <a:ext cx="65836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m³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10515600" y="2724912"/>
            <a:ext cx="7772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4" name="Text 79"/>
          <p:cNvSpPr/>
          <p:nvPr/>
        </p:nvSpPr>
        <p:spPr>
          <a:xfrm>
            <a:off x="10533888" y="2724912"/>
            <a:ext cx="74980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PT</a:t>
            </a:r>
            <a:endParaRPr lang="en-US" sz="850" dirty="0"/>
          </a:p>
        </p:txBody>
      </p:sp>
      <p:sp>
        <p:nvSpPr>
          <p:cNvPr id="85" name="Shape 80"/>
          <p:cNvSpPr/>
          <p:nvPr/>
        </p:nvSpPr>
        <p:spPr>
          <a:xfrm>
            <a:off x="11292840" y="2724912"/>
            <a:ext cx="612648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6" name="Text 81"/>
          <p:cNvSpPr/>
          <p:nvPr/>
        </p:nvSpPr>
        <p:spPr>
          <a:xfrm>
            <a:off x="11311128" y="2724912"/>
            <a:ext cx="58521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DS043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5760720" y="2980944"/>
            <a:ext cx="146304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8" name="Text 83"/>
          <p:cNvSpPr/>
          <p:nvPr/>
        </p:nvSpPr>
        <p:spPr>
          <a:xfrm>
            <a:off x="5788152" y="2980944"/>
            <a:ext cx="14264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Anonilla</a:t>
            </a:r>
            <a:endParaRPr lang="en-US" sz="850" dirty="0"/>
          </a:p>
        </p:txBody>
      </p:sp>
      <p:sp>
        <p:nvSpPr>
          <p:cNvPr id="89" name="Shape 84"/>
          <p:cNvSpPr/>
          <p:nvPr/>
        </p:nvSpPr>
        <p:spPr>
          <a:xfrm>
            <a:off x="7223760" y="2980944"/>
            <a:ext cx="219456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0" name="Text 85"/>
          <p:cNvSpPr/>
          <p:nvPr/>
        </p:nvSpPr>
        <p:spPr>
          <a:xfrm>
            <a:off x="7251192" y="2980944"/>
            <a:ext cx="21579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Annona jucunda (Diels) H. Rainer</a:t>
            </a:r>
            <a:endParaRPr lang="en-US" sz="850" dirty="0"/>
          </a:p>
        </p:txBody>
      </p:sp>
      <p:sp>
        <p:nvSpPr>
          <p:cNvPr id="91" name="Shape 86"/>
          <p:cNvSpPr/>
          <p:nvPr/>
        </p:nvSpPr>
        <p:spPr>
          <a:xfrm>
            <a:off x="9418320" y="2980944"/>
            <a:ext cx="41148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2" name="Text 87"/>
          <p:cNvSpPr/>
          <p:nvPr/>
        </p:nvSpPr>
        <p:spPr>
          <a:xfrm>
            <a:off x="9445752" y="2980944"/>
            <a:ext cx="374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9829800" y="2980944"/>
            <a:ext cx="68580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4" name="Text 89"/>
          <p:cNvSpPr/>
          <p:nvPr/>
        </p:nvSpPr>
        <p:spPr>
          <a:xfrm>
            <a:off x="9857232" y="2980944"/>
            <a:ext cx="6492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2.319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10515600" y="2980944"/>
            <a:ext cx="77724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6" name="Text 91"/>
          <p:cNvSpPr/>
          <p:nvPr/>
        </p:nvSpPr>
        <p:spPr>
          <a:xfrm>
            <a:off x="10543032" y="2980944"/>
            <a:ext cx="7406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510.18</a:t>
            </a:r>
            <a:endParaRPr lang="en-US" sz="850" dirty="0"/>
          </a:p>
        </p:txBody>
      </p:sp>
      <p:sp>
        <p:nvSpPr>
          <p:cNvPr id="97" name="Shape 92"/>
          <p:cNvSpPr/>
          <p:nvPr/>
        </p:nvSpPr>
        <p:spPr>
          <a:xfrm>
            <a:off x="11292840" y="2980944"/>
            <a:ext cx="612648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8" name="Text 93"/>
          <p:cNvSpPr/>
          <p:nvPr/>
        </p:nvSpPr>
        <p:spPr>
          <a:xfrm>
            <a:off x="11320272" y="2980944"/>
            <a:ext cx="5760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99" name="Shape 94"/>
          <p:cNvSpPr/>
          <p:nvPr/>
        </p:nvSpPr>
        <p:spPr>
          <a:xfrm>
            <a:off x="5760720" y="3291840"/>
            <a:ext cx="146304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00" name="Text 95"/>
          <p:cNvSpPr/>
          <p:nvPr/>
        </p:nvSpPr>
        <p:spPr>
          <a:xfrm>
            <a:off x="5788152" y="3291840"/>
            <a:ext cx="14264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Lápiz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7223760" y="3291840"/>
            <a:ext cx="219456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02" name="Text 97"/>
          <p:cNvSpPr/>
          <p:nvPr/>
        </p:nvSpPr>
        <p:spPr>
          <a:xfrm>
            <a:off x="7251192" y="3291840"/>
            <a:ext cx="21579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Jacaranda copaia</a:t>
            </a:r>
            <a:endParaRPr lang="en-US" sz="850" dirty="0"/>
          </a:p>
        </p:txBody>
      </p:sp>
      <p:sp>
        <p:nvSpPr>
          <p:cNvPr id="103" name="Shape 98"/>
          <p:cNvSpPr/>
          <p:nvPr/>
        </p:nvSpPr>
        <p:spPr>
          <a:xfrm>
            <a:off x="9418320" y="3291840"/>
            <a:ext cx="41148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04" name="Text 99"/>
          <p:cNvSpPr/>
          <p:nvPr/>
        </p:nvSpPr>
        <p:spPr>
          <a:xfrm>
            <a:off x="9445752" y="3291840"/>
            <a:ext cx="374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05" name="Shape 100"/>
          <p:cNvSpPr/>
          <p:nvPr/>
        </p:nvSpPr>
        <p:spPr>
          <a:xfrm>
            <a:off x="9829800" y="3291840"/>
            <a:ext cx="68580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06" name="Text 101"/>
          <p:cNvSpPr/>
          <p:nvPr/>
        </p:nvSpPr>
        <p:spPr>
          <a:xfrm>
            <a:off x="9857232" y="3291840"/>
            <a:ext cx="6492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1.665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10515600" y="3291840"/>
            <a:ext cx="77724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08" name="Text 103"/>
          <p:cNvSpPr/>
          <p:nvPr/>
        </p:nvSpPr>
        <p:spPr>
          <a:xfrm>
            <a:off x="10543032" y="3291840"/>
            <a:ext cx="7406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366.30</a:t>
            </a:r>
            <a:endParaRPr lang="en-US" sz="850" dirty="0"/>
          </a:p>
        </p:txBody>
      </p:sp>
      <p:sp>
        <p:nvSpPr>
          <p:cNvPr id="109" name="Shape 104"/>
          <p:cNvSpPr/>
          <p:nvPr/>
        </p:nvSpPr>
        <p:spPr>
          <a:xfrm>
            <a:off x="11292840" y="3291840"/>
            <a:ext cx="612648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10" name="Text 105"/>
          <p:cNvSpPr/>
          <p:nvPr/>
        </p:nvSpPr>
        <p:spPr>
          <a:xfrm>
            <a:off x="11320272" y="3291840"/>
            <a:ext cx="5760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11" name="Shape 106"/>
          <p:cNvSpPr/>
          <p:nvPr/>
        </p:nvSpPr>
        <p:spPr>
          <a:xfrm>
            <a:off x="5760720" y="3602736"/>
            <a:ext cx="146304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2" name="Text 107"/>
          <p:cNvSpPr/>
          <p:nvPr/>
        </p:nvSpPr>
        <p:spPr>
          <a:xfrm>
            <a:off x="5788152" y="3602736"/>
            <a:ext cx="14264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Caimitillo</a:t>
            </a:r>
            <a:endParaRPr lang="en-US" sz="850" dirty="0"/>
          </a:p>
        </p:txBody>
      </p:sp>
      <p:sp>
        <p:nvSpPr>
          <p:cNvPr id="113" name="Shape 108"/>
          <p:cNvSpPr/>
          <p:nvPr/>
        </p:nvSpPr>
        <p:spPr>
          <a:xfrm>
            <a:off x="7223760" y="3602736"/>
            <a:ext cx="219456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4" name="Text 109"/>
          <p:cNvSpPr/>
          <p:nvPr/>
        </p:nvSpPr>
        <p:spPr>
          <a:xfrm>
            <a:off x="7251192" y="3602736"/>
            <a:ext cx="21579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Pouteria caimito (Ruiz &amp; Pav.) Radlk.</a:t>
            </a:r>
            <a:endParaRPr lang="en-US" sz="850" dirty="0"/>
          </a:p>
        </p:txBody>
      </p:sp>
      <p:sp>
        <p:nvSpPr>
          <p:cNvPr id="115" name="Shape 110"/>
          <p:cNvSpPr/>
          <p:nvPr/>
        </p:nvSpPr>
        <p:spPr>
          <a:xfrm>
            <a:off x="9418320" y="3602736"/>
            <a:ext cx="41148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6" name="Text 111"/>
          <p:cNvSpPr/>
          <p:nvPr/>
        </p:nvSpPr>
        <p:spPr>
          <a:xfrm>
            <a:off x="9445752" y="3602736"/>
            <a:ext cx="374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7" name="Shape 112"/>
          <p:cNvSpPr/>
          <p:nvPr/>
        </p:nvSpPr>
        <p:spPr>
          <a:xfrm>
            <a:off x="9829800" y="3602736"/>
            <a:ext cx="68580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8" name="Text 113"/>
          <p:cNvSpPr/>
          <p:nvPr/>
        </p:nvSpPr>
        <p:spPr>
          <a:xfrm>
            <a:off x="9857232" y="3602736"/>
            <a:ext cx="6492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1.366</a:t>
            </a:r>
            <a:endParaRPr lang="en-US" sz="850" dirty="0"/>
          </a:p>
        </p:txBody>
      </p:sp>
      <p:sp>
        <p:nvSpPr>
          <p:cNvPr id="119" name="Shape 114"/>
          <p:cNvSpPr/>
          <p:nvPr/>
        </p:nvSpPr>
        <p:spPr>
          <a:xfrm>
            <a:off x="10515600" y="3602736"/>
            <a:ext cx="77724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0" name="Text 115"/>
          <p:cNvSpPr/>
          <p:nvPr/>
        </p:nvSpPr>
        <p:spPr>
          <a:xfrm>
            <a:off x="10543032" y="3602736"/>
            <a:ext cx="7406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300.52</a:t>
            </a:r>
            <a:endParaRPr lang="en-US" sz="850" dirty="0"/>
          </a:p>
        </p:txBody>
      </p:sp>
      <p:sp>
        <p:nvSpPr>
          <p:cNvPr id="121" name="Shape 116"/>
          <p:cNvSpPr/>
          <p:nvPr/>
        </p:nvSpPr>
        <p:spPr>
          <a:xfrm>
            <a:off x="11292840" y="3602736"/>
            <a:ext cx="612648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2" name="Text 117"/>
          <p:cNvSpPr/>
          <p:nvPr/>
        </p:nvSpPr>
        <p:spPr>
          <a:xfrm>
            <a:off x="11320272" y="3602736"/>
            <a:ext cx="5760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3" name="Shape 118"/>
          <p:cNvSpPr/>
          <p:nvPr/>
        </p:nvSpPr>
        <p:spPr>
          <a:xfrm>
            <a:off x="5760720" y="3913632"/>
            <a:ext cx="146304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24" name="Text 119"/>
          <p:cNvSpPr/>
          <p:nvPr/>
        </p:nvSpPr>
        <p:spPr>
          <a:xfrm>
            <a:off x="5788152" y="3913632"/>
            <a:ext cx="14264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Pacae</a:t>
            </a:r>
            <a:endParaRPr lang="en-US" sz="850" dirty="0"/>
          </a:p>
        </p:txBody>
      </p:sp>
      <p:sp>
        <p:nvSpPr>
          <p:cNvPr id="125" name="Shape 120"/>
          <p:cNvSpPr/>
          <p:nvPr/>
        </p:nvSpPr>
        <p:spPr>
          <a:xfrm>
            <a:off x="7223760" y="3913632"/>
            <a:ext cx="219456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26" name="Text 121"/>
          <p:cNvSpPr/>
          <p:nvPr/>
        </p:nvSpPr>
        <p:spPr>
          <a:xfrm>
            <a:off x="7251192" y="3913632"/>
            <a:ext cx="21579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feuilleei</a:t>
            </a:r>
            <a:endParaRPr lang="en-US" sz="850" dirty="0"/>
          </a:p>
        </p:txBody>
      </p:sp>
      <p:sp>
        <p:nvSpPr>
          <p:cNvPr id="127" name="Shape 122"/>
          <p:cNvSpPr/>
          <p:nvPr/>
        </p:nvSpPr>
        <p:spPr>
          <a:xfrm>
            <a:off x="9418320" y="3913632"/>
            <a:ext cx="41148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28" name="Text 123"/>
          <p:cNvSpPr/>
          <p:nvPr/>
        </p:nvSpPr>
        <p:spPr>
          <a:xfrm>
            <a:off x="9445752" y="3913632"/>
            <a:ext cx="374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9" name="Shape 124"/>
          <p:cNvSpPr/>
          <p:nvPr/>
        </p:nvSpPr>
        <p:spPr>
          <a:xfrm>
            <a:off x="9829800" y="3913632"/>
            <a:ext cx="68580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30" name="Text 125"/>
          <p:cNvSpPr/>
          <p:nvPr/>
        </p:nvSpPr>
        <p:spPr>
          <a:xfrm>
            <a:off x="9857232" y="3913632"/>
            <a:ext cx="6492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1.280</a:t>
            </a:r>
            <a:endParaRPr lang="en-US" sz="850" dirty="0"/>
          </a:p>
        </p:txBody>
      </p:sp>
      <p:sp>
        <p:nvSpPr>
          <p:cNvPr id="131" name="Shape 126"/>
          <p:cNvSpPr/>
          <p:nvPr/>
        </p:nvSpPr>
        <p:spPr>
          <a:xfrm>
            <a:off x="10515600" y="3913632"/>
            <a:ext cx="77724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32" name="Text 127"/>
          <p:cNvSpPr/>
          <p:nvPr/>
        </p:nvSpPr>
        <p:spPr>
          <a:xfrm>
            <a:off x="10543032" y="3913632"/>
            <a:ext cx="7406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281.60</a:t>
            </a:r>
            <a:endParaRPr lang="en-US" sz="850" dirty="0"/>
          </a:p>
        </p:txBody>
      </p:sp>
      <p:sp>
        <p:nvSpPr>
          <p:cNvPr id="133" name="Shape 128"/>
          <p:cNvSpPr/>
          <p:nvPr/>
        </p:nvSpPr>
        <p:spPr>
          <a:xfrm>
            <a:off x="11292840" y="3913632"/>
            <a:ext cx="612648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34" name="Text 129"/>
          <p:cNvSpPr/>
          <p:nvPr/>
        </p:nvSpPr>
        <p:spPr>
          <a:xfrm>
            <a:off x="11320272" y="3913632"/>
            <a:ext cx="5760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35" name="Shape 130"/>
          <p:cNvSpPr/>
          <p:nvPr/>
        </p:nvSpPr>
        <p:spPr>
          <a:xfrm>
            <a:off x="5760720" y="4224528"/>
            <a:ext cx="146304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6" name="Text 131"/>
          <p:cNvSpPr/>
          <p:nvPr/>
        </p:nvSpPr>
        <p:spPr>
          <a:xfrm>
            <a:off x="5788152" y="4224528"/>
            <a:ext cx="14264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</a:t>
            </a:r>
            <a:endParaRPr lang="en-US" sz="850" dirty="0"/>
          </a:p>
        </p:txBody>
      </p:sp>
      <p:sp>
        <p:nvSpPr>
          <p:cNvPr id="137" name="Shape 132"/>
          <p:cNvSpPr/>
          <p:nvPr/>
        </p:nvSpPr>
        <p:spPr>
          <a:xfrm>
            <a:off x="7223760" y="4224528"/>
            <a:ext cx="219456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8" name="Text 133"/>
          <p:cNvSpPr/>
          <p:nvPr/>
        </p:nvSpPr>
        <p:spPr>
          <a:xfrm>
            <a:off x="7251192" y="4224528"/>
            <a:ext cx="21579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Alnus acuminata</a:t>
            </a:r>
            <a:endParaRPr lang="en-US" sz="850" dirty="0"/>
          </a:p>
        </p:txBody>
      </p:sp>
      <p:sp>
        <p:nvSpPr>
          <p:cNvPr id="139" name="Shape 134"/>
          <p:cNvSpPr/>
          <p:nvPr/>
        </p:nvSpPr>
        <p:spPr>
          <a:xfrm>
            <a:off x="9418320" y="4224528"/>
            <a:ext cx="41148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0" name="Text 135"/>
          <p:cNvSpPr/>
          <p:nvPr/>
        </p:nvSpPr>
        <p:spPr>
          <a:xfrm>
            <a:off x="9445752" y="4224528"/>
            <a:ext cx="374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1" name="Shape 136"/>
          <p:cNvSpPr/>
          <p:nvPr/>
        </p:nvSpPr>
        <p:spPr>
          <a:xfrm>
            <a:off x="9829800" y="4224528"/>
            <a:ext cx="68580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2" name="Text 137"/>
          <p:cNvSpPr/>
          <p:nvPr/>
        </p:nvSpPr>
        <p:spPr>
          <a:xfrm>
            <a:off x="9857232" y="4224528"/>
            <a:ext cx="6492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</a:t>
            </a:r>
            <a:endParaRPr lang="en-US" sz="850" dirty="0"/>
          </a:p>
        </p:txBody>
      </p:sp>
      <p:sp>
        <p:nvSpPr>
          <p:cNvPr id="143" name="Shape 138"/>
          <p:cNvSpPr/>
          <p:nvPr/>
        </p:nvSpPr>
        <p:spPr>
          <a:xfrm>
            <a:off x="10515600" y="4224528"/>
            <a:ext cx="777240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4" name="Text 139"/>
          <p:cNvSpPr/>
          <p:nvPr/>
        </p:nvSpPr>
        <p:spPr>
          <a:xfrm>
            <a:off x="10543032" y="4224528"/>
            <a:ext cx="7406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65.56</a:t>
            </a:r>
            <a:endParaRPr lang="en-US" sz="850" dirty="0"/>
          </a:p>
        </p:txBody>
      </p:sp>
      <p:sp>
        <p:nvSpPr>
          <p:cNvPr id="145" name="Shape 140"/>
          <p:cNvSpPr/>
          <p:nvPr/>
        </p:nvSpPr>
        <p:spPr>
          <a:xfrm>
            <a:off x="11292840" y="4224528"/>
            <a:ext cx="612648" cy="3017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6" name="Text 141"/>
          <p:cNvSpPr/>
          <p:nvPr/>
        </p:nvSpPr>
        <p:spPr>
          <a:xfrm>
            <a:off x="11320272" y="4224528"/>
            <a:ext cx="5760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47" name="Shape 142"/>
          <p:cNvSpPr/>
          <p:nvPr/>
        </p:nvSpPr>
        <p:spPr>
          <a:xfrm>
            <a:off x="5760720" y="4535424"/>
            <a:ext cx="146304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48" name="Text 143"/>
          <p:cNvSpPr/>
          <p:nvPr/>
        </p:nvSpPr>
        <p:spPr>
          <a:xfrm>
            <a:off x="5788152" y="4535424"/>
            <a:ext cx="14264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Paliperro</a:t>
            </a:r>
            <a:endParaRPr lang="en-US" sz="850" dirty="0"/>
          </a:p>
        </p:txBody>
      </p:sp>
      <p:sp>
        <p:nvSpPr>
          <p:cNvPr id="149" name="Shape 144"/>
          <p:cNvSpPr/>
          <p:nvPr/>
        </p:nvSpPr>
        <p:spPr>
          <a:xfrm>
            <a:off x="7223760" y="4535424"/>
            <a:ext cx="219456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50" name="Text 145"/>
          <p:cNvSpPr/>
          <p:nvPr/>
        </p:nvSpPr>
        <p:spPr>
          <a:xfrm>
            <a:off x="7251192" y="4535424"/>
            <a:ext cx="21579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(sexta especie)</a:t>
            </a:r>
            <a:endParaRPr lang="en-US" sz="850" dirty="0"/>
          </a:p>
        </p:txBody>
      </p:sp>
      <p:sp>
        <p:nvSpPr>
          <p:cNvPr id="151" name="Shape 146"/>
          <p:cNvSpPr/>
          <p:nvPr/>
        </p:nvSpPr>
        <p:spPr>
          <a:xfrm>
            <a:off x="9418320" y="4535424"/>
            <a:ext cx="41148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52" name="Text 147"/>
          <p:cNvSpPr/>
          <p:nvPr/>
        </p:nvSpPr>
        <p:spPr>
          <a:xfrm>
            <a:off x="9445752" y="4535424"/>
            <a:ext cx="374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53" name="Shape 148"/>
          <p:cNvSpPr/>
          <p:nvPr/>
        </p:nvSpPr>
        <p:spPr>
          <a:xfrm>
            <a:off x="9829800" y="4535424"/>
            <a:ext cx="68580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54" name="Text 149"/>
          <p:cNvSpPr/>
          <p:nvPr/>
        </p:nvSpPr>
        <p:spPr>
          <a:xfrm>
            <a:off x="9857232" y="4535424"/>
            <a:ext cx="6492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1.285</a:t>
            </a:r>
            <a:endParaRPr lang="en-US" sz="850" dirty="0"/>
          </a:p>
        </p:txBody>
      </p:sp>
      <p:sp>
        <p:nvSpPr>
          <p:cNvPr id="155" name="Shape 150"/>
          <p:cNvSpPr/>
          <p:nvPr/>
        </p:nvSpPr>
        <p:spPr>
          <a:xfrm>
            <a:off x="10515600" y="4535424"/>
            <a:ext cx="777240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56" name="Text 151"/>
          <p:cNvSpPr/>
          <p:nvPr/>
        </p:nvSpPr>
        <p:spPr>
          <a:xfrm>
            <a:off x="10543032" y="4535424"/>
            <a:ext cx="74066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282.70</a:t>
            </a:r>
            <a:endParaRPr lang="en-US" sz="850" dirty="0"/>
          </a:p>
        </p:txBody>
      </p:sp>
      <p:sp>
        <p:nvSpPr>
          <p:cNvPr id="157" name="Shape 152"/>
          <p:cNvSpPr/>
          <p:nvPr/>
        </p:nvSpPr>
        <p:spPr>
          <a:xfrm>
            <a:off x="11292840" y="4535424"/>
            <a:ext cx="612648" cy="301752"/>
          </a:xfrm>
          <a:prstGeom prst="rect">
            <a:avLst/>
          </a:prstGeom>
          <a:solidFill>
            <a:srgbClr val="F8F5FF"/>
          </a:solidFill>
          <a:ln/>
        </p:spPr>
      </p:sp>
      <p:sp>
        <p:nvSpPr>
          <p:cNvPr id="158" name="Text 153"/>
          <p:cNvSpPr/>
          <p:nvPr/>
        </p:nvSpPr>
        <p:spPr>
          <a:xfrm>
            <a:off x="11320272" y="4535424"/>
            <a:ext cx="57607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59" name="Shape 154"/>
          <p:cNvSpPr/>
          <p:nvPr/>
        </p:nvSpPr>
        <p:spPr>
          <a:xfrm>
            <a:off x="5760720" y="4846320"/>
            <a:ext cx="146304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0" name="Text 155"/>
          <p:cNvSpPr/>
          <p:nvPr/>
        </p:nvSpPr>
        <p:spPr>
          <a:xfrm>
            <a:off x="5788152" y="4846320"/>
            <a:ext cx="142646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61" name="Shape 156"/>
          <p:cNvSpPr/>
          <p:nvPr/>
        </p:nvSpPr>
        <p:spPr>
          <a:xfrm>
            <a:off x="7223760" y="4846320"/>
            <a:ext cx="219456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2" name="Text 157"/>
          <p:cNvSpPr/>
          <p:nvPr/>
        </p:nvSpPr>
        <p:spPr>
          <a:xfrm>
            <a:off x="7251192" y="4846320"/>
            <a:ext cx="215798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especies / 15 árboles</a:t>
            </a:r>
            <a:endParaRPr lang="en-US" sz="900" dirty="0"/>
          </a:p>
        </p:txBody>
      </p:sp>
      <p:sp>
        <p:nvSpPr>
          <p:cNvPr id="163" name="Shape 158"/>
          <p:cNvSpPr/>
          <p:nvPr/>
        </p:nvSpPr>
        <p:spPr>
          <a:xfrm>
            <a:off x="9418320" y="4846320"/>
            <a:ext cx="41148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4" name="Text 159"/>
          <p:cNvSpPr/>
          <p:nvPr/>
        </p:nvSpPr>
        <p:spPr>
          <a:xfrm>
            <a:off x="9445752" y="4846320"/>
            <a:ext cx="37490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65" name="Shape 160"/>
          <p:cNvSpPr/>
          <p:nvPr/>
        </p:nvSpPr>
        <p:spPr>
          <a:xfrm>
            <a:off x="9829800" y="4846320"/>
            <a:ext cx="68580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6" name="Text 161"/>
          <p:cNvSpPr/>
          <p:nvPr/>
        </p:nvSpPr>
        <p:spPr>
          <a:xfrm>
            <a:off x="9857232" y="4846320"/>
            <a:ext cx="64922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8.213</a:t>
            </a:r>
            <a:endParaRPr lang="en-US" sz="900" dirty="0"/>
          </a:p>
        </p:txBody>
      </p:sp>
      <p:sp>
        <p:nvSpPr>
          <p:cNvPr id="167" name="Shape 162"/>
          <p:cNvSpPr/>
          <p:nvPr/>
        </p:nvSpPr>
        <p:spPr>
          <a:xfrm>
            <a:off x="10515600" y="4846320"/>
            <a:ext cx="77724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8" name="Text 163"/>
          <p:cNvSpPr/>
          <p:nvPr/>
        </p:nvSpPr>
        <p:spPr>
          <a:xfrm>
            <a:off x="10543032" y="4846320"/>
            <a:ext cx="74066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1,806.86</a:t>
            </a:r>
            <a:endParaRPr lang="en-US" sz="900" dirty="0"/>
          </a:p>
        </p:txBody>
      </p:sp>
      <p:sp>
        <p:nvSpPr>
          <p:cNvPr id="169" name="Shape 164"/>
          <p:cNvSpPr/>
          <p:nvPr/>
        </p:nvSpPr>
        <p:spPr>
          <a:xfrm>
            <a:off x="11292840" y="4846320"/>
            <a:ext cx="612648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0" name="Text 165"/>
          <p:cNvSpPr/>
          <p:nvPr/>
        </p:nvSpPr>
        <p:spPr>
          <a:xfrm>
            <a:off x="11320272" y="4846320"/>
            <a:ext cx="57607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1" name="Shape 166"/>
          <p:cNvSpPr/>
          <p:nvPr/>
        </p:nvSpPr>
        <p:spPr>
          <a:xfrm>
            <a:off x="5760720" y="5193792"/>
            <a:ext cx="6236208" cy="12618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2" name="Text 167"/>
          <p:cNvSpPr/>
          <p:nvPr/>
        </p:nvSpPr>
        <p:spPr>
          <a:xfrm>
            <a:off x="5888736" y="52486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Volumen por especie (m³)</a:t>
            </a:r>
            <a:endParaRPr lang="en-US" sz="1000" dirty="0"/>
          </a:p>
        </p:txBody>
      </p:sp>
      <p:sp>
        <p:nvSpPr>
          <p:cNvPr id="173" name="Text 168"/>
          <p:cNvSpPr/>
          <p:nvPr/>
        </p:nvSpPr>
        <p:spPr>
          <a:xfrm>
            <a:off x="5870448" y="558893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2.319</a:t>
            </a:r>
            <a:endParaRPr lang="en-US" sz="750" dirty="0"/>
          </a:p>
        </p:txBody>
      </p:sp>
      <p:sp>
        <p:nvSpPr>
          <p:cNvPr id="174" name="Shape 169"/>
          <p:cNvSpPr/>
          <p:nvPr/>
        </p:nvSpPr>
        <p:spPr>
          <a:xfrm>
            <a:off x="5925312" y="5753522"/>
            <a:ext cx="804672" cy="61070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5" name="Text 170"/>
          <p:cNvSpPr/>
          <p:nvPr/>
        </p:nvSpPr>
        <p:spPr>
          <a:xfrm>
            <a:off x="5870448" y="6382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Anonilla</a:t>
            </a:r>
            <a:endParaRPr lang="en-US" sz="700" dirty="0"/>
          </a:p>
        </p:txBody>
      </p:sp>
      <p:sp>
        <p:nvSpPr>
          <p:cNvPr id="176" name="Text 171"/>
          <p:cNvSpPr/>
          <p:nvPr/>
        </p:nvSpPr>
        <p:spPr>
          <a:xfrm>
            <a:off x="6894576" y="576115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1.665</a:t>
            </a:r>
            <a:endParaRPr lang="en-US" sz="750" dirty="0"/>
          </a:p>
        </p:txBody>
      </p:sp>
      <p:sp>
        <p:nvSpPr>
          <p:cNvPr id="177" name="Shape 172"/>
          <p:cNvSpPr/>
          <p:nvPr/>
        </p:nvSpPr>
        <p:spPr>
          <a:xfrm>
            <a:off x="6949440" y="5925751"/>
            <a:ext cx="804672" cy="4384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8" name="Text 173"/>
          <p:cNvSpPr/>
          <p:nvPr/>
        </p:nvSpPr>
        <p:spPr>
          <a:xfrm>
            <a:off x="6894576" y="6382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Lápiz</a:t>
            </a:r>
            <a:endParaRPr lang="en-US" sz="700" dirty="0"/>
          </a:p>
        </p:txBody>
      </p:sp>
      <p:sp>
        <p:nvSpPr>
          <p:cNvPr id="179" name="Text 174"/>
          <p:cNvSpPr/>
          <p:nvPr/>
        </p:nvSpPr>
        <p:spPr>
          <a:xfrm>
            <a:off x="7918704" y="58399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1.366</a:t>
            </a:r>
            <a:endParaRPr lang="en-US" sz="750" dirty="0"/>
          </a:p>
        </p:txBody>
      </p:sp>
      <p:sp>
        <p:nvSpPr>
          <p:cNvPr id="180" name="Shape 175"/>
          <p:cNvSpPr/>
          <p:nvPr/>
        </p:nvSpPr>
        <p:spPr>
          <a:xfrm>
            <a:off x="7973568" y="6004492"/>
            <a:ext cx="804672" cy="359732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81" name="Text 176"/>
          <p:cNvSpPr/>
          <p:nvPr/>
        </p:nvSpPr>
        <p:spPr>
          <a:xfrm>
            <a:off x="7918704" y="6382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Caimitillo</a:t>
            </a:r>
            <a:endParaRPr lang="en-US" sz="700" dirty="0"/>
          </a:p>
        </p:txBody>
      </p:sp>
      <p:sp>
        <p:nvSpPr>
          <p:cNvPr id="182" name="Text 177"/>
          <p:cNvSpPr/>
          <p:nvPr/>
        </p:nvSpPr>
        <p:spPr>
          <a:xfrm>
            <a:off x="8942832" y="58625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</a:t>
            </a:r>
            <a:endParaRPr lang="en-US" sz="750" dirty="0"/>
          </a:p>
        </p:txBody>
      </p:sp>
      <p:sp>
        <p:nvSpPr>
          <p:cNvPr id="183" name="Shape 178"/>
          <p:cNvSpPr/>
          <p:nvPr/>
        </p:nvSpPr>
        <p:spPr>
          <a:xfrm>
            <a:off x="8997696" y="6027140"/>
            <a:ext cx="804672" cy="3370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84" name="Text 179"/>
          <p:cNvSpPr/>
          <p:nvPr/>
        </p:nvSpPr>
        <p:spPr>
          <a:xfrm>
            <a:off x="8942832" y="6382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Pacae</a:t>
            </a:r>
            <a:endParaRPr lang="en-US" sz="700" dirty="0"/>
          </a:p>
        </p:txBody>
      </p:sp>
      <p:sp>
        <p:nvSpPr>
          <p:cNvPr id="185" name="Text 180"/>
          <p:cNvSpPr/>
          <p:nvPr/>
        </p:nvSpPr>
        <p:spPr>
          <a:xfrm>
            <a:off x="9966960" y="612115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</a:t>
            </a:r>
            <a:endParaRPr lang="en-US" sz="750" dirty="0"/>
          </a:p>
        </p:txBody>
      </p:sp>
      <p:sp>
        <p:nvSpPr>
          <p:cNvPr id="186" name="Shape 181"/>
          <p:cNvSpPr/>
          <p:nvPr/>
        </p:nvSpPr>
        <p:spPr>
          <a:xfrm>
            <a:off x="10021824" y="6285747"/>
            <a:ext cx="804672" cy="7847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7" name="Text 182"/>
          <p:cNvSpPr/>
          <p:nvPr/>
        </p:nvSpPr>
        <p:spPr>
          <a:xfrm>
            <a:off x="9966960" y="6382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</a:t>
            </a:r>
            <a:endParaRPr lang="en-US" sz="700" dirty="0"/>
          </a:p>
        </p:txBody>
      </p:sp>
      <p:sp>
        <p:nvSpPr>
          <p:cNvPr id="188" name="Text 183"/>
          <p:cNvSpPr/>
          <p:nvPr/>
        </p:nvSpPr>
        <p:spPr>
          <a:xfrm>
            <a:off x="10991088" y="586123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1.285</a:t>
            </a:r>
            <a:endParaRPr lang="en-US" sz="750" dirty="0"/>
          </a:p>
        </p:txBody>
      </p:sp>
      <p:sp>
        <p:nvSpPr>
          <p:cNvPr id="189" name="Shape 184"/>
          <p:cNvSpPr/>
          <p:nvPr/>
        </p:nvSpPr>
        <p:spPr>
          <a:xfrm>
            <a:off x="11045952" y="6025823"/>
            <a:ext cx="804672" cy="338401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0" name="Text 185"/>
          <p:cNvSpPr/>
          <p:nvPr/>
        </p:nvSpPr>
        <p:spPr>
          <a:xfrm>
            <a:off x="10991088" y="6382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Paliperro</a:t>
            </a:r>
            <a:endParaRPr lang="en-US" sz="700" dirty="0"/>
          </a:p>
        </p:txBody>
      </p:sp>
      <p:sp>
        <p:nvSpPr>
          <p:cNvPr id="191" name="Shape 186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2" name="Shape 187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93" name="Text 188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CONCLUSIÓN: INICIAR PAS — Infracción MUY GRAVE Ítem 21 D.S. 007-2021-MIDAGRI · 15 árboles · 8.213 m³ · 7.09 ha afectadas · Caserío La Punta · Diapositiva 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DC2626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003-2026-PAS/JCV — INICIO DE PAS — CASERÍO MAPUYA — CASO MAYOR ESCALA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Evaluación preliminar PAS contra FAUSTINO HERMA HOYLER (DNI 43828238), MARCOS HOYLER BOLÍVAR (DNI 80398040) y otros — Caserio Mapuya, Irazola  ·  06 Feb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21.747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Volumen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Área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Deforestada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666037"/>
            <a:ext cx="2761488" cy="34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Shihuahuaco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II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157984"/>
            <a:ext cx="5468112" cy="43708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157984"/>
            <a:ext cx="5468112" cy="34747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21284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15798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CASO — CASERÍO MAPUYA, IRAZOLA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505456"/>
            <a:ext cx="5468112" cy="35661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50545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50545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 1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50545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Faustino Herma Hoyler — DNI N° 43828238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2871216"/>
            <a:ext cx="5468112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287121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287121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 2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287121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Hoyler Bolívar — DNI N° 80398040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236976"/>
            <a:ext cx="5468112" cy="35661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23697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23697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23697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Asencio Inga Arquiñigo y otros presuntos responsables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3602736"/>
            <a:ext cx="5468112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360273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360273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360273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Caserío Mapuya, Distrito de Irazola, Provincia Padre Abad, Ucayali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3968496"/>
            <a:ext cx="5468112" cy="35661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396849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396849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396849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452485m E, 8996596m N — Distrito de Irazola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4334256"/>
            <a:ext cx="5468112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433425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433425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433425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Inspección Ocular N° 026 — 25 Nov 2025 — FEMA + PNP + SOFFS-PA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4700016"/>
            <a:ext cx="5468112" cy="35661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470001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470001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470001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S/N-2025 — Gerónimo Chamorro Miranda (DNI 40037440) — 09 Oct 2025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5065776"/>
            <a:ext cx="5468112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506577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506577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506577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21 — Talar/extraer/aprovechar recursos forestales sin autorización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164592" y="5431536"/>
            <a:ext cx="5468112" cy="35661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2" name="Shape 58"/>
          <p:cNvSpPr/>
          <p:nvPr/>
        </p:nvSpPr>
        <p:spPr>
          <a:xfrm>
            <a:off x="164592" y="543153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9"/>
          <p:cNvSpPr/>
          <p:nvPr/>
        </p:nvSpPr>
        <p:spPr>
          <a:xfrm>
            <a:off x="228600" y="543153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Zonificación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1581912" y="543153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Recuperación de Cobertura Forestal — concesión forestal tercero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164592" y="5797296"/>
            <a:ext cx="5468112" cy="35661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6" name="Shape 62"/>
          <p:cNvSpPr/>
          <p:nvPr/>
        </p:nvSpPr>
        <p:spPr>
          <a:xfrm>
            <a:off x="164592" y="579729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3"/>
          <p:cNvSpPr/>
          <p:nvPr/>
        </p:nvSpPr>
        <p:spPr>
          <a:xfrm>
            <a:off x="228600" y="579729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1581912" y="579729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MUY GRAVE — Multa: más de 10 UIT hasta 5,000 UIT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164592" y="6163056"/>
            <a:ext cx="5468112" cy="35661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0" name="Shape 66"/>
          <p:cNvSpPr/>
          <p:nvPr/>
        </p:nvSpPr>
        <p:spPr>
          <a:xfrm>
            <a:off x="164592" y="6163056"/>
            <a:ext cx="1371600" cy="3566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1" name="Text 67"/>
          <p:cNvSpPr/>
          <p:nvPr/>
        </p:nvSpPr>
        <p:spPr>
          <a:xfrm>
            <a:off x="228600" y="6163056"/>
            <a:ext cx="130759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1581912" y="6163056"/>
            <a:ext cx="4005072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Dipteryx micrantha (Shihuahuaco) — Apéndice II — AGRAVANTE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5760720" y="2157984"/>
            <a:ext cx="6236208" cy="43708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5760720" y="2157984"/>
            <a:ext cx="6236208" cy="34747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212848"/>
            <a:ext cx="237744" cy="237744"/>
          </a:xfrm>
          <a:prstGeom prst="rect">
            <a:avLst/>
          </a:prstGeom>
        </p:spPr>
      </p:pic>
      <p:sp>
        <p:nvSpPr>
          <p:cNvPr id="76" name="Text 71"/>
          <p:cNvSpPr/>
          <p:nvPr/>
        </p:nvSpPr>
        <p:spPr>
          <a:xfrm>
            <a:off x="6163056" y="2157984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01 — ESPECIES AFECTADAS · IT N° 027-2025-TI-KRVF · 17 ÁRBOLES</a:t>
            </a:r>
            <a:endParaRPr lang="en-US" sz="1200" dirty="0"/>
          </a:p>
        </p:txBody>
      </p:sp>
      <p:sp>
        <p:nvSpPr>
          <p:cNvPr id="77" name="Shape 72"/>
          <p:cNvSpPr/>
          <p:nvPr/>
        </p:nvSpPr>
        <p:spPr>
          <a:xfrm>
            <a:off x="5760720" y="2505456"/>
            <a:ext cx="6236208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8" name="Text 73"/>
          <p:cNvSpPr/>
          <p:nvPr/>
        </p:nvSpPr>
        <p:spPr>
          <a:xfrm>
            <a:off x="5852160" y="2505456"/>
            <a:ext cx="610819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17 árboles · 8 especies · 21.747 m³ · 4,784.34 PT  ·  1 especie CITES Apéndice II (Shihuahuaco)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5760720" y="2724912"/>
            <a:ext cx="15544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0" name="Text 75"/>
          <p:cNvSpPr/>
          <p:nvPr/>
        </p:nvSpPr>
        <p:spPr>
          <a:xfrm>
            <a:off x="5779008" y="2724912"/>
            <a:ext cx="152704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 Común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7315200" y="2724912"/>
            <a:ext cx="2011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2" name="Text 77"/>
          <p:cNvSpPr/>
          <p:nvPr/>
        </p:nvSpPr>
        <p:spPr>
          <a:xfrm>
            <a:off x="7333488" y="2724912"/>
            <a:ext cx="198424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9326880" y="2724912"/>
            <a:ext cx="45720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4" name="Text 79"/>
          <p:cNvSpPr/>
          <p:nvPr/>
        </p:nvSpPr>
        <p:spPr>
          <a:xfrm>
            <a:off x="9345168" y="2724912"/>
            <a:ext cx="42976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</a:t>
            </a:r>
            <a:endParaRPr lang="en-US" sz="850" dirty="0"/>
          </a:p>
        </p:txBody>
      </p:sp>
      <p:sp>
        <p:nvSpPr>
          <p:cNvPr id="85" name="Shape 80"/>
          <p:cNvSpPr/>
          <p:nvPr/>
        </p:nvSpPr>
        <p:spPr>
          <a:xfrm>
            <a:off x="9784080" y="2724912"/>
            <a:ext cx="6400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6" name="Text 81"/>
          <p:cNvSpPr/>
          <p:nvPr/>
        </p:nvSpPr>
        <p:spPr>
          <a:xfrm>
            <a:off x="9802368" y="2724912"/>
            <a:ext cx="61264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m³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10424160" y="2724912"/>
            <a:ext cx="7315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8" name="Text 83"/>
          <p:cNvSpPr/>
          <p:nvPr/>
        </p:nvSpPr>
        <p:spPr>
          <a:xfrm>
            <a:off x="10442448" y="2724912"/>
            <a:ext cx="704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PT</a:t>
            </a:r>
            <a:endParaRPr lang="en-US" sz="850" dirty="0"/>
          </a:p>
        </p:txBody>
      </p:sp>
      <p:sp>
        <p:nvSpPr>
          <p:cNvPr id="89" name="Shape 84"/>
          <p:cNvSpPr/>
          <p:nvPr/>
        </p:nvSpPr>
        <p:spPr>
          <a:xfrm>
            <a:off x="11155680" y="2724912"/>
            <a:ext cx="658368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0" name="Text 85"/>
          <p:cNvSpPr/>
          <p:nvPr/>
        </p:nvSpPr>
        <p:spPr>
          <a:xfrm>
            <a:off x="11173968" y="2724912"/>
            <a:ext cx="63093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</a:t>
            </a:r>
            <a:endParaRPr lang="en-US" sz="850" dirty="0"/>
          </a:p>
        </p:txBody>
      </p:sp>
      <p:sp>
        <p:nvSpPr>
          <p:cNvPr id="91" name="Shape 86"/>
          <p:cNvSpPr/>
          <p:nvPr/>
        </p:nvSpPr>
        <p:spPr>
          <a:xfrm>
            <a:off x="5760720" y="2980944"/>
            <a:ext cx="15544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2" name="Text 87"/>
          <p:cNvSpPr/>
          <p:nvPr/>
        </p:nvSpPr>
        <p:spPr>
          <a:xfrm>
            <a:off x="5788152" y="2980944"/>
            <a:ext cx="1517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Huamanzamana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7315200" y="2980944"/>
            <a:ext cx="20116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4" name="Text 89"/>
          <p:cNvSpPr/>
          <p:nvPr/>
        </p:nvSpPr>
        <p:spPr>
          <a:xfrm>
            <a:off x="7342632" y="2980944"/>
            <a:ext cx="19751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Jacaranda copaia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326880" y="2980944"/>
            <a:ext cx="45720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6" name="Text 91"/>
          <p:cNvSpPr/>
          <p:nvPr/>
        </p:nvSpPr>
        <p:spPr>
          <a:xfrm>
            <a:off x="9354312" y="2980944"/>
            <a:ext cx="4206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7" name="Shape 92"/>
          <p:cNvSpPr/>
          <p:nvPr/>
        </p:nvSpPr>
        <p:spPr>
          <a:xfrm>
            <a:off x="9784080" y="2980944"/>
            <a:ext cx="6400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8" name="Text 93"/>
          <p:cNvSpPr/>
          <p:nvPr/>
        </p:nvSpPr>
        <p:spPr>
          <a:xfrm>
            <a:off x="9811512" y="2980944"/>
            <a:ext cx="6035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9" name="Shape 94"/>
          <p:cNvSpPr/>
          <p:nvPr/>
        </p:nvSpPr>
        <p:spPr>
          <a:xfrm>
            <a:off x="10424160" y="2980944"/>
            <a:ext cx="73152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0" name="Text 95"/>
          <p:cNvSpPr/>
          <p:nvPr/>
        </p:nvSpPr>
        <p:spPr>
          <a:xfrm>
            <a:off x="10451592" y="2980944"/>
            <a:ext cx="69494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11155680" y="2980944"/>
            <a:ext cx="658368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2" name="Text 97"/>
          <p:cNvSpPr/>
          <p:nvPr/>
        </p:nvSpPr>
        <p:spPr>
          <a:xfrm>
            <a:off x="11183112" y="2980944"/>
            <a:ext cx="62179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03" name="Shape 98"/>
          <p:cNvSpPr/>
          <p:nvPr/>
        </p:nvSpPr>
        <p:spPr>
          <a:xfrm>
            <a:off x="5760720" y="3291840"/>
            <a:ext cx="155448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4" name="Text 99"/>
          <p:cNvSpPr/>
          <p:nvPr/>
        </p:nvSpPr>
        <p:spPr>
          <a:xfrm>
            <a:off x="5788152" y="3291840"/>
            <a:ext cx="1517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Caimitillo</a:t>
            </a:r>
            <a:endParaRPr lang="en-US" sz="850" dirty="0"/>
          </a:p>
        </p:txBody>
      </p:sp>
      <p:sp>
        <p:nvSpPr>
          <p:cNvPr id="105" name="Shape 100"/>
          <p:cNvSpPr/>
          <p:nvPr/>
        </p:nvSpPr>
        <p:spPr>
          <a:xfrm>
            <a:off x="7315200" y="3291840"/>
            <a:ext cx="201168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6" name="Text 101"/>
          <p:cNvSpPr/>
          <p:nvPr/>
        </p:nvSpPr>
        <p:spPr>
          <a:xfrm>
            <a:off x="7342632" y="3291840"/>
            <a:ext cx="19751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Pouteria caimito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326880" y="3291840"/>
            <a:ext cx="45720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8" name="Text 103"/>
          <p:cNvSpPr/>
          <p:nvPr/>
        </p:nvSpPr>
        <p:spPr>
          <a:xfrm>
            <a:off x="9354312" y="3291840"/>
            <a:ext cx="4206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9" name="Shape 104"/>
          <p:cNvSpPr/>
          <p:nvPr/>
        </p:nvSpPr>
        <p:spPr>
          <a:xfrm>
            <a:off x="9784080" y="3291840"/>
            <a:ext cx="64008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0" name="Text 105"/>
          <p:cNvSpPr/>
          <p:nvPr/>
        </p:nvSpPr>
        <p:spPr>
          <a:xfrm>
            <a:off x="9811512" y="3291840"/>
            <a:ext cx="6035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1" name="Shape 106"/>
          <p:cNvSpPr/>
          <p:nvPr/>
        </p:nvSpPr>
        <p:spPr>
          <a:xfrm>
            <a:off x="10424160" y="3291840"/>
            <a:ext cx="7315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2" name="Text 107"/>
          <p:cNvSpPr/>
          <p:nvPr/>
        </p:nvSpPr>
        <p:spPr>
          <a:xfrm>
            <a:off x="10451592" y="3291840"/>
            <a:ext cx="69494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3" name="Shape 108"/>
          <p:cNvSpPr/>
          <p:nvPr/>
        </p:nvSpPr>
        <p:spPr>
          <a:xfrm>
            <a:off x="11155680" y="3291840"/>
            <a:ext cx="658368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4" name="Text 109"/>
          <p:cNvSpPr/>
          <p:nvPr/>
        </p:nvSpPr>
        <p:spPr>
          <a:xfrm>
            <a:off x="11183112" y="3291840"/>
            <a:ext cx="62179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15" name="Shape 110"/>
          <p:cNvSpPr/>
          <p:nvPr/>
        </p:nvSpPr>
        <p:spPr>
          <a:xfrm>
            <a:off x="5760720" y="3602736"/>
            <a:ext cx="15544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6" name="Text 111"/>
          <p:cNvSpPr/>
          <p:nvPr/>
        </p:nvSpPr>
        <p:spPr>
          <a:xfrm>
            <a:off x="5788152" y="3602736"/>
            <a:ext cx="1517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Mashonaste</a:t>
            </a:r>
            <a:endParaRPr lang="en-US" sz="850" dirty="0"/>
          </a:p>
        </p:txBody>
      </p:sp>
      <p:sp>
        <p:nvSpPr>
          <p:cNvPr id="117" name="Shape 112"/>
          <p:cNvSpPr/>
          <p:nvPr/>
        </p:nvSpPr>
        <p:spPr>
          <a:xfrm>
            <a:off x="7315200" y="3602736"/>
            <a:ext cx="20116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8" name="Text 113"/>
          <p:cNvSpPr/>
          <p:nvPr/>
        </p:nvSpPr>
        <p:spPr>
          <a:xfrm>
            <a:off x="7342632" y="3602736"/>
            <a:ext cx="19751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Brosimum alicastrum</a:t>
            </a:r>
            <a:endParaRPr lang="en-US" sz="850" dirty="0"/>
          </a:p>
        </p:txBody>
      </p:sp>
      <p:sp>
        <p:nvSpPr>
          <p:cNvPr id="119" name="Shape 114"/>
          <p:cNvSpPr/>
          <p:nvPr/>
        </p:nvSpPr>
        <p:spPr>
          <a:xfrm>
            <a:off x="9326880" y="3602736"/>
            <a:ext cx="45720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0" name="Text 115"/>
          <p:cNvSpPr/>
          <p:nvPr/>
        </p:nvSpPr>
        <p:spPr>
          <a:xfrm>
            <a:off x="9354312" y="3602736"/>
            <a:ext cx="4206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21" name="Shape 116"/>
          <p:cNvSpPr/>
          <p:nvPr/>
        </p:nvSpPr>
        <p:spPr>
          <a:xfrm>
            <a:off x="9784080" y="3602736"/>
            <a:ext cx="6400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2" name="Text 117"/>
          <p:cNvSpPr/>
          <p:nvPr/>
        </p:nvSpPr>
        <p:spPr>
          <a:xfrm>
            <a:off x="9811512" y="3602736"/>
            <a:ext cx="6035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23" name="Shape 118"/>
          <p:cNvSpPr/>
          <p:nvPr/>
        </p:nvSpPr>
        <p:spPr>
          <a:xfrm>
            <a:off x="10424160" y="3602736"/>
            <a:ext cx="73152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4" name="Text 119"/>
          <p:cNvSpPr/>
          <p:nvPr/>
        </p:nvSpPr>
        <p:spPr>
          <a:xfrm>
            <a:off x="10451592" y="3602736"/>
            <a:ext cx="69494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25" name="Shape 120"/>
          <p:cNvSpPr/>
          <p:nvPr/>
        </p:nvSpPr>
        <p:spPr>
          <a:xfrm>
            <a:off x="11155680" y="3602736"/>
            <a:ext cx="658368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6" name="Text 121"/>
          <p:cNvSpPr/>
          <p:nvPr/>
        </p:nvSpPr>
        <p:spPr>
          <a:xfrm>
            <a:off x="11183112" y="3602736"/>
            <a:ext cx="62179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7" name="Shape 122"/>
          <p:cNvSpPr/>
          <p:nvPr/>
        </p:nvSpPr>
        <p:spPr>
          <a:xfrm>
            <a:off x="5760720" y="3913632"/>
            <a:ext cx="1554480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28" name="Text 123"/>
          <p:cNvSpPr/>
          <p:nvPr/>
        </p:nvSpPr>
        <p:spPr>
          <a:xfrm>
            <a:off x="5788152" y="3913632"/>
            <a:ext cx="1517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Shihuahuaco</a:t>
            </a:r>
            <a:endParaRPr lang="en-US" sz="850" dirty="0"/>
          </a:p>
        </p:txBody>
      </p:sp>
      <p:sp>
        <p:nvSpPr>
          <p:cNvPr id="129" name="Shape 124"/>
          <p:cNvSpPr/>
          <p:nvPr/>
        </p:nvSpPr>
        <p:spPr>
          <a:xfrm>
            <a:off x="7315200" y="3913632"/>
            <a:ext cx="2011680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0" name="Text 125"/>
          <p:cNvSpPr/>
          <p:nvPr/>
        </p:nvSpPr>
        <p:spPr>
          <a:xfrm>
            <a:off x="7342632" y="3913632"/>
            <a:ext cx="19751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Dipteryx micrantha</a:t>
            </a:r>
            <a:endParaRPr lang="en-US" sz="850" dirty="0"/>
          </a:p>
        </p:txBody>
      </p:sp>
      <p:sp>
        <p:nvSpPr>
          <p:cNvPr id="131" name="Shape 126"/>
          <p:cNvSpPr/>
          <p:nvPr/>
        </p:nvSpPr>
        <p:spPr>
          <a:xfrm>
            <a:off x="9326880" y="3913632"/>
            <a:ext cx="457200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2" name="Text 127"/>
          <p:cNvSpPr/>
          <p:nvPr/>
        </p:nvSpPr>
        <p:spPr>
          <a:xfrm>
            <a:off x="9354312" y="3913632"/>
            <a:ext cx="4206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3" name="Shape 128"/>
          <p:cNvSpPr/>
          <p:nvPr/>
        </p:nvSpPr>
        <p:spPr>
          <a:xfrm>
            <a:off x="9784080" y="3913632"/>
            <a:ext cx="640080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4" name="Text 129"/>
          <p:cNvSpPr/>
          <p:nvPr/>
        </p:nvSpPr>
        <p:spPr>
          <a:xfrm>
            <a:off x="9811512" y="3913632"/>
            <a:ext cx="6035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1.344</a:t>
            </a:r>
            <a:endParaRPr lang="en-US" sz="850" dirty="0"/>
          </a:p>
        </p:txBody>
      </p:sp>
      <p:sp>
        <p:nvSpPr>
          <p:cNvPr id="135" name="Shape 130"/>
          <p:cNvSpPr/>
          <p:nvPr/>
        </p:nvSpPr>
        <p:spPr>
          <a:xfrm>
            <a:off x="10424160" y="3913632"/>
            <a:ext cx="731520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6" name="Text 131"/>
          <p:cNvSpPr/>
          <p:nvPr/>
        </p:nvSpPr>
        <p:spPr>
          <a:xfrm>
            <a:off x="10451592" y="3913632"/>
            <a:ext cx="69494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295.68</a:t>
            </a:r>
            <a:endParaRPr lang="en-US" sz="850" dirty="0"/>
          </a:p>
        </p:txBody>
      </p:sp>
      <p:sp>
        <p:nvSpPr>
          <p:cNvPr id="137" name="Shape 132"/>
          <p:cNvSpPr/>
          <p:nvPr/>
        </p:nvSpPr>
        <p:spPr>
          <a:xfrm>
            <a:off x="11155680" y="3913632"/>
            <a:ext cx="658368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8" name="Text 133"/>
          <p:cNvSpPr/>
          <p:nvPr/>
        </p:nvSpPr>
        <p:spPr>
          <a:xfrm>
            <a:off x="11183112" y="3913632"/>
            <a:ext cx="62179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Ap.II</a:t>
            </a:r>
            <a:endParaRPr lang="en-US" sz="850" dirty="0"/>
          </a:p>
        </p:txBody>
      </p:sp>
      <p:sp>
        <p:nvSpPr>
          <p:cNvPr id="139" name="Shape 134"/>
          <p:cNvSpPr/>
          <p:nvPr/>
        </p:nvSpPr>
        <p:spPr>
          <a:xfrm>
            <a:off x="5760720" y="4224528"/>
            <a:ext cx="15544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0" name="Text 135"/>
          <p:cNvSpPr/>
          <p:nvPr/>
        </p:nvSpPr>
        <p:spPr>
          <a:xfrm>
            <a:off x="5788152" y="4224528"/>
            <a:ext cx="1517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Tornillo</a:t>
            </a:r>
            <a:endParaRPr lang="en-US" sz="850" dirty="0"/>
          </a:p>
        </p:txBody>
      </p:sp>
      <p:sp>
        <p:nvSpPr>
          <p:cNvPr id="141" name="Shape 136"/>
          <p:cNvSpPr/>
          <p:nvPr/>
        </p:nvSpPr>
        <p:spPr>
          <a:xfrm>
            <a:off x="7315200" y="4224528"/>
            <a:ext cx="20116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2" name="Text 137"/>
          <p:cNvSpPr/>
          <p:nvPr/>
        </p:nvSpPr>
        <p:spPr>
          <a:xfrm>
            <a:off x="7342632" y="4224528"/>
            <a:ext cx="19751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Cedrelinga cateniformis</a:t>
            </a:r>
            <a:endParaRPr lang="en-US" sz="850" dirty="0"/>
          </a:p>
        </p:txBody>
      </p:sp>
      <p:sp>
        <p:nvSpPr>
          <p:cNvPr id="143" name="Shape 138"/>
          <p:cNvSpPr/>
          <p:nvPr/>
        </p:nvSpPr>
        <p:spPr>
          <a:xfrm>
            <a:off x="9326880" y="4224528"/>
            <a:ext cx="45720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4" name="Text 139"/>
          <p:cNvSpPr/>
          <p:nvPr/>
        </p:nvSpPr>
        <p:spPr>
          <a:xfrm>
            <a:off x="9354312" y="4224528"/>
            <a:ext cx="4206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45" name="Shape 140"/>
          <p:cNvSpPr/>
          <p:nvPr/>
        </p:nvSpPr>
        <p:spPr>
          <a:xfrm>
            <a:off x="9784080" y="4224528"/>
            <a:ext cx="64008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6" name="Text 141"/>
          <p:cNvSpPr/>
          <p:nvPr/>
        </p:nvSpPr>
        <p:spPr>
          <a:xfrm>
            <a:off x="9811512" y="4224528"/>
            <a:ext cx="6035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47" name="Shape 142"/>
          <p:cNvSpPr/>
          <p:nvPr/>
        </p:nvSpPr>
        <p:spPr>
          <a:xfrm>
            <a:off x="10424160" y="4224528"/>
            <a:ext cx="731520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8" name="Text 143"/>
          <p:cNvSpPr/>
          <p:nvPr/>
        </p:nvSpPr>
        <p:spPr>
          <a:xfrm>
            <a:off x="10451592" y="4224528"/>
            <a:ext cx="69494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49" name="Shape 144"/>
          <p:cNvSpPr/>
          <p:nvPr/>
        </p:nvSpPr>
        <p:spPr>
          <a:xfrm>
            <a:off x="11155680" y="4224528"/>
            <a:ext cx="658368" cy="3017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0" name="Text 145"/>
          <p:cNvSpPr/>
          <p:nvPr/>
        </p:nvSpPr>
        <p:spPr>
          <a:xfrm>
            <a:off x="11183112" y="4224528"/>
            <a:ext cx="62179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51" name="Shape 146"/>
          <p:cNvSpPr/>
          <p:nvPr/>
        </p:nvSpPr>
        <p:spPr>
          <a:xfrm>
            <a:off x="5760720" y="4535424"/>
            <a:ext cx="155448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2" name="Text 147"/>
          <p:cNvSpPr/>
          <p:nvPr/>
        </p:nvSpPr>
        <p:spPr>
          <a:xfrm>
            <a:off x="5788152" y="4535424"/>
            <a:ext cx="15179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(3 sp.)</a:t>
            </a:r>
            <a:endParaRPr lang="en-US" sz="850" dirty="0"/>
          </a:p>
        </p:txBody>
      </p:sp>
      <p:sp>
        <p:nvSpPr>
          <p:cNvPr id="153" name="Shape 148"/>
          <p:cNvSpPr/>
          <p:nvPr/>
        </p:nvSpPr>
        <p:spPr>
          <a:xfrm>
            <a:off x="7315200" y="4535424"/>
            <a:ext cx="201168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4" name="Text 149"/>
          <p:cNvSpPr/>
          <p:nvPr/>
        </p:nvSpPr>
        <p:spPr>
          <a:xfrm>
            <a:off x="7342632" y="4535424"/>
            <a:ext cx="19751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nativas</a:t>
            </a:r>
            <a:endParaRPr lang="en-US" sz="850" dirty="0"/>
          </a:p>
        </p:txBody>
      </p:sp>
      <p:sp>
        <p:nvSpPr>
          <p:cNvPr id="155" name="Shape 150"/>
          <p:cNvSpPr/>
          <p:nvPr/>
        </p:nvSpPr>
        <p:spPr>
          <a:xfrm>
            <a:off x="9326880" y="4535424"/>
            <a:ext cx="45720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6" name="Text 151"/>
          <p:cNvSpPr/>
          <p:nvPr/>
        </p:nvSpPr>
        <p:spPr>
          <a:xfrm>
            <a:off x="9354312" y="4535424"/>
            <a:ext cx="42062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57" name="Shape 152"/>
          <p:cNvSpPr/>
          <p:nvPr/>
        </p:nvSpPr>
        <p:spPr>
          <a:xfrm>
            <a:off x="9784080" y="4535424"/>
            <a:ext cx="64008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8" name="Text 153"/>
          <p:cNvSpPr/>
          <p:nvPr/>
        </p:nvSpPr>
        <p:spPr>
          <a:xfrm>
            <a:off x="9811512" y="4535424"/>
            <a:ext cx="60350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59" name="Shape 154"/>
          <p:cNvSpPr/>
          <p:nvPr/>
        </p:nvSpPr>
        <p:spPr>
          <a:xfrm>
            <a:off x="10424160" y="4535424"/>
            <a:ext cx="7315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0" name="Text 155"/>
          <p:cNvSpPr/>
          <p:nvPr/>
        </p:nvSpPr>
        <p:spPr>
          <a:xfrm>
            <a:off x="10451592" y="4535424"/>
            <a:ext cx="69494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61" name="Shape 156"/>
          <p:cNvSpPr/>
          <p:nvPr/>
        </p:nvSpPr>
        <p:spPr>
          <a:xfrm>
            <a:off x="11155680" y="4535424"/>
            <a:ext cx="658368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2" name="Text 157"/>
          <p:cNvSpPr/>
          <p:nvPr/>
        </p:nvSpPr>
        <p:spPr>
          <a:xfrm>
            <a:off x="11183112" y="4535424"/>
            <a:ext cx="621792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63" name="Shape 158"/>
          <p:cNvSpPr/>
          <p:nvPr/>
        </p:nvSpPr>
        <p:spPr>
          <a:xfrm>
            <a:off x="5760720" y="4846320"/>
            <a:ext cx="155448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4" name="Text 159"/>
          <p:cNvSpPr/>
          <p:nvPr/>
        </p:nvSpPr>
        <p:spPr>
          <a:xfrm>
            <a:off x="5788152" y="4846320"/>
            <a:ext cx="151790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65" name="Shape 160"/>
          <p:cNvSpPr/>
          <p:nvPr/>
        </p:nvSpPr>
        <p:spPr>
          <a:xfrm>
            <a:off x="7315200" y="4846320"/>
            <a:ext cx="201168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6" name="Text 161"/>
          <p:cNvSpPr/>
          <p:nvPr/>
        </p:nvSpPr>
        <p:spPr>
          <a:xfrm>
            <a:off x="7342632" y="4846320"/>
            <a:ext cx="197510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especies / 17 árboles</a:t>
            </a:r>
            <a:endParaRPr lang="en-US" sz="900" dirty="0"/>
          </a:p>
        </p:txBody>
      </p:sp>
      <p:sp>
        <p:nvSpPr>
          <p:cNvPr id="167" name="Shape 162"/>
          <p:cNvSpPr/>
          <p:nvPr/>
        </p:nvSpPr>
        <p:spPr>
          <a:xfrm>
            <a:off x="9326880" y="4846320"/>
            <a:ext cx="45720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8" name="Text 163"/>
          <p:cNvSpPr/>
          <p:nvPr/>
        </p:nvSpPr>
        <p:spPr>
          <a:xfrm>
            <a:off x="9354312" y="4846320"/>
            <a:ext cx="42062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69" name="Shape 164"/>
          <p:cNvSpPr/>
          <p:nvPr/>
        </p:nvSpPr>
        <p:spPr>
          <a:xfrm>
            <a:off x="9784080" y="4846320"/>
            <a:ext cx="64008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0" name="Text 165"/>
          <p:cNvSpPr/>
          <p:nvPr/>
        </p:nvSpPr>
        <p:spPr>
          <a:xfrm>
            <a:off x="9811512" y="4846320"/>
            <a:ext cx="60350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21.747</a:t>
            </a:r>
            <a:endParaRPr lang="en-US" sz="900" dirty="0"/>
          </a:p>
        </p:txBody>
      </p:sp>
      <p:sp>
        <p:nvSpPr>
          <p:cNvPr id="171" name="Shape 166"/>
          <p:cNvSpPr/>
          <p:nvPr/>
        </p:nvSpPr>
        <p:spPr>
          <a:xfrm>
            <a:off x="10424160" y="4846320"/>
            <a:ext cx="731520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2" name="Text 167"/>
          <p:cNvSpPr/>
          <p:nvPr/>
        </p:nvSpPr>
        <p:spPr>
          <a:xfrm>
            <a:off x="10451592" y="4846320"/>
            <a:ext cx="6949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4,784.34</a:t>
            </a:r>
            <a:endParaRPr lang="en-US" sz="900" dirty="0"/>
          </a:p>
        </p:txBody>
      </p:sp>
      <p:sp>
        <p:nvSpPr>
          <p:cNvPr id="173" name="Shape 168"/>
          <p:cNvSpPr/>
          <p:nvPr/>
        </p:nvSpPr>
        <p:spPr>
          <a:xfrm>
            <a:off x="11155680" y="4846320"/>
            <a:ext cx="658368" cy="29260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4" name="Text 169"/>
          <p:cNvSpPr/>
          <p:nvPr/>
        </p:nvSpPr>
        <p:spPr>
          <a:xfrm>
            <a:off x="11183112" y="4846320"/>
            <a:ext cx="62179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CITES</a:t>
            </a:r>
            <a:endParaRPr lang="en-US" sz="900" dirty="0"/>
          </a:p>
        </p:txBody>
      </p:sp>
      <p:sp>
        <p:nvSpPr>
          <p:cNvPr id="175" name="Shape 170"/>
          <p:cNvSpPr/>
          <p:nvPr/>
        </p:nvSpPr>
        <p:spPr>
          <a:xfrm>
            <a:off x="5760720" y="5193792"/>
            <a:ext cx="6236208" cy="13716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76" name="Shape 171"/>
          <p:cNvSpPr/>
          <p:nvPr/>
        </p:nvSpPr>
        <p:spPr>
          <a:xfrm>
            <a:off x="5760720" y="5193792"/>
            <a:ext cx="6236208" cy="29260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77" name="Text 172"/>
          <p:cNvSpPr/>
          <p:nvPr/>
        </p:nvSpPr>
        <p:spPr>
          <a:xfrm>
            <a:off x="5852160" y="5193792"/>
            <a:ext cx="6108192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AGRAVANTE ESPECIAL — ESPECIE CITES APÉNDICE II</a:t>
            </a:r>
            <a:endParaRPr lang="en-US" sz="1050" dirty="0"/>
          </a:p>
        </p:txBody>
      </p:sp>
      <p:sp>
        <p:nvSpPr>
          <p:cNvPr id="178" name="Text 173"/>
          <p:cNvSpPr/>
          <p:nvPr/>
        </p:nvSpPr>
        <p:spPr>
          <a:xfrm>
            <a:off x="5888736" y="5522976"/>
            <a:ext cx="6035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Dipteryx micrantha (Shihuahuaco) incluida en CITES Apéndice II → Implica controles internacionales de comercio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de 18.2955 ha dentro de concesión forestal otorgada a tercero → Daño a derechos de terceros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Participación de múltiples personas → Responsabilidad solidaria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autorización de desbosque, permiso o cambio de uso del área</a:t>
            </a:r>
            <a:endParaRPr lang="en-US" sz="850" dirty="0"/>
          </a:p>
        </p:txBody>
      </p:sp>
      <p:sp>
        <p:nvSpPr>
          <p:cNvPr id="179" name="Shape 174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0" name="Shape 175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81" name="Text 176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CONCLUSIÓN: INICIAR PAS — Infracción MUY GRAVE Ítem 21 · 18.30 ha · 21.747 m³ · 1 especie CITES Apéndice II (Shihuahuaco) — Caserío Mapuya, Irazola · Diapositiva 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0891B2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004 Y 005-2026 — INDUSTRIAS MAVERICK S.A.C. + EXP. 026-2025 (TRUJILLO/VÁSQUEZ)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N°004: Ángel Quintanilla Mayer — CTP Lupuna / IT N°005: Renzo Trujillo + Edgar Vásquez — Tala 25 árboles  ·  Mar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566928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237744" y="1042416"/>
            <a:ext cx="55778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IT N° 004-2026-PAS/JCV — CTP INDUSTRIAS MAVERICK S.A.C. — 03 Mar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4592" y="1353312"/>
            <a:ext cx="5669280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4592" y="1700784"/>
            <a:ext cx="5669280" cy="30175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164592" y="1700784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" y="1700784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81912" y="1700784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Eduardo Quintanilla Mayer — DNI N° 10713368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64592" y="2011680"/>
            <a:ext cx="56692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64592" y="2011680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" y="2011680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81912" y="2011680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Industrias Maverick S.A.C. — Km 164.600 Carretera Federico Basadre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64592" y="2322576"/>
            <a:ext cx="5669280" cy="30175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" name="Shape 18"/>
          <p:cNvSpPr/>
          <p:nvPr/>
        </p:nvSpPr>
        <p:spPr>
          <a:xfrm>
            <a:off x="164592" y="2322576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228600" y="2322576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581912" y="2322576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N° 012-2025 — 28 Nov 2025 — 10:10 h — patio de acopio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64592" y="2633472"/>
            <a:ext cx="56692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64592" y="2633472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3"/>
          <p:cNvSpPr/>
          <p:nvPr/>
        </p:nvSpPr>
        <p:spPr>
          <a:xfrm>
            <a:off x="228600" y="2633472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581912" y="2633472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trozas Lupuna (Ceiba pentandra) — 6.43 m³ — 1,414 PT — S/ 2,121.00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64592" y="2944368"/>
            <a:ext cx="5669280" cy="30175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9" name="Shape 26"/>
          <p:cNvSpPr/>
          <p:nvPr/>
        </p:nvSpPr>
        <p:spPr>
          <a:xfrm>
            <a:off x="164592" y="2944368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7"/>
          <p:cNvSpPr/>
          <p:nvPr/>
        </p:nvSpPr>
        <p:spPr>
          <a:xfrm>
            <a:off x="228600" y="2944368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81912" y="2944368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22, Anexo 1, D.S. 007-2021-MIDAGRI — sin GTF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64592" y="3255264"/>
            <a:ext cx="5669280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33" name="Shape 30"/>
          <p:cNvSpPr/>
          <p:nvPr/>
        </p:nvSpPr>
        <p:spPr>
          <a:xfrm>
            <a:off x="164592" y="3255264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1"/>
          <p:cNvSpPr/>
          <p:nvPr/>
        </p:nvSpPr>
        <p:spPr>
          <a:xfrm>
            <a:off x="228600" y="3255264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DS043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581912" y="3255264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Ceiba pentandra 'Lupuna' — Casi Amenazada (NT) — AGRAVANTE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64592" y="3566160"/>
            <a:ext cx="5669280" cy="301752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7" name="Shape 34"/>
          <p:cNvSpPr/>
          <p:nvPr/>
        </p:nvSpPr>
        <p:spPr>
          <a:xfrm>
            <a:off x="164592" y="3566160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5"/>
          <p:cNvSpPr/>
          <p:nvPr/>
        </p:nvSpPr>
        <p:spPr>
          <a:xfrm>
            <a:off x="228600" y="3566160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Descargo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581912" y="3566160"/>
            <a:ext cx="42062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06 Feb 2026 (extemporáneo) — admitido por garantía procesal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64592" y="3602736"/>
            <a:ext cx="5669280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Shape 38"/>
          <p:cNvSpPr/>
          <p:nvPr/>
        </p:nvSpPr>
        <p:spPr>
          <a:xfrm>
            <a:off x="219456" y="3749040"/>
            <a:ext cx="228600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39"/>
          <p:cNvSpPr/>
          <p:nvPr/>
        </p:nvSpPr>
        <p:spPr>
          <a:xfrm>
            <a:off x="219456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MUY GRAVE — Num. 22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596896" y="3749040"/>
            <a:ext cx="3182112" cy="29260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44" name="Text 41"/>
          <p:cNvSpPr/>
          <p:nvPr/>
        </p:nvSpPr>
        <p:spPr>
          <a:xfrm>
            <a:off x="2596896" y="3749040"/>
            <a:ext cx="318211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Lupuna NT · Sin GTF · Descargo extemporáneo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64592" y="4206240"/>
            <a:ext cx="5669280" cy="10424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27432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PFM Intervenido — IT N°004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56032" y="4407408"/>
            <a:ext cx="131673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256032" y="4407408"/>
            <a:ext cx="131673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6"/>
          <p:cNvSpPr/>
          <p:nvPr/>
        </p:nvSpPr>
        <p:spPr>
          <a:xfrm>
            <a:off x="256032" y="453542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6.43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256032" y="49743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645920" y="4407408"/>
            <a:ext cx="131673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1645920" y="4407408"/>
            <a:ext cx="131673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53" name="Text 50"/>
          <p:cNvSpPr/>
          <p:nvPr/>
        </p:nvSpPr>
        <p:spPr>
          <a:xfrm>
            <a:off x="1645920" y="453542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1,414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1645920" y="49743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035808" y="4407408"/>
            <a:ext cx="131673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3035808" y="4407408"/>
            <a:ext cx="131673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7" name="Text 54"/>
          <p:cNvSpPr/>
          <p:nvPr/>
        </p:nvSpPr>
        <p:spPr>
          <a:xfrm>
            <a:off x="3035808" y="453542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2,121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3035808" y="49743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425696" y="4407408"/>
            <a:ext cx="131673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4425696" y="4407408"/>
            <a:ext cx="131673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1" name="Text 58"/>
          <p:cNvSpPr/>
          <p:nvPr/>
        </p:nvSpPr>
        <p:spPr>
          <a:xfrm>
            <a:off x="4425696" y="453542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4425696" y="49743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943600" y="1042416"/>
            <a:ext cx="6053328" cy="29260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64" name="Text 61"/>
          <p:cNvSpPr/>
          <p:nvPr/>
        </p:nvSpPr>
        <p:spPr>
          <a:xfrm>
            <a:off x="6016752" y="1042416"/>
            <a:ext cx="59618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IT N° 005-2026-PAS/JCV — EXP. N° 026-2025 — TRUJILLO / VÁSQUEZ — 11 Mar 2026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5943600" y="1353312"/>
            <a:ext cx="6053328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5943600" y="1700784"/>
            <a:ext cx="6053328" cy="3017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7" name="Shape 64"/>
          <p:cNvSpPr/>
          <p:nvPr/>
        </p:nvSpPr>
        <p:spPr>
          <a:xfrm>
            <a:off x="5943600" y="1700784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5"/>
          <p:cNvSpPr/>
          <p:nvPr/>
        </p:nvSpPr>
        <p:spPr>
          <a:xfrm>
            <a:off x="6007608" y="1700784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 1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7360920" y="1700784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Renzo Fernando Trujillo Cachique — DNI N° 77385534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5943600" y="2011680"/>
            <a:ext cx="6053328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8"/>
          <p:cNvSpPr/>
          <p:nvPr/>
        </p:nvSpPr>
        <p:spPr>
          <a:xfrm>
            <a:off x="5943600" y="2011680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69"/>
          <p:cNvSpPr/>
          <p:nvPr/>
        </p:nvSpPr>
        <p:spPr>
          <a:xfrm>
            <a:off x="6007608" y="2011680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 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7360920" y="2011680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Vásquez Trujillo — DNI N° 23003383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5943600" y="2322576"/>
            <a:ext cx="6053328" cy="3017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5" name="Shape 72"/>
          <p:cNvSpPr/>
          <p:nvPr/>
        </p:nvSpPr>
        <p:spPr>
          <a:xfrm>
            <a:off x="5943600" y="2322576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6" name="Text 73"/>
          <p:cNvSpPr/>
          <p:nvPr/>
        </p:nvSpPr>
        <p:spPr>
          <a:xfrm>
            <a:off x="6007608" y="2322576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7360920" y="2322576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026-2025-PAS-SOFFS-PA — respuesta a FEMA (Of. N° 349-2026)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5943600" y="2633472"/>
            <a:ext cx="6053328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6"/>
          <p:cNvSpPr/>
          <p:nvPr/>
        </p:nvSpPr>
        <p:spPr>
          <a:xfrm>
            <a:off x="5943600" y="2633472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Text 77"/>
          <p:cNvSpPr/>
          <p:nvPr/>
        </p:nvSpPr>
        <p:spPr>
          <a:xfrm>
            <a:off x="6007608" y="2633472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7360920" y="2633472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2.0191 ha · 25 árboles · 13 especies · coord. UTM-18S 0447430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5943600" y="2944368"/>
            <a:ext cx="6053328" cy="30175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83" name="Shape 80"/>
          <p:cNvSpPr/>
          <p:nvPr/>
        </p:nvSpPr>
        <p:spPr>
          <a:xfrm>
            <a:off x="5943600" y="2944368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81"/>
          <p:cNvSpPr/>
          <p:nvPr/>
        </p:nvSpPr>
        <p:spPr>
          <a:xfrm>
            <a:off x="6007608" y="2944368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</a:t>
            </a:r>
            <a:endParaRPr lang="en-US" sz="900" dirty="0"/>
          </a:p>
        </p:txBody>
      </p:sp>
      <p:sp>
        <p:nvSpPr>
          <p:cNvPr id="85" name="Text 82"/>
          <p:cNvSpPr/>
          <p:nvPr/>
        </p:nvSpPr>
        <p:spPr>
          <a:xfrm>
            <a:off x="7360920" y="2944368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17.393 m³ · 3,826.46 PT · S/ 6,583.24 — Mashonaste (NT) agravante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5943600" y="3255264"/>
            <a:ext cx="6053328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84"/>
          <p:cNvSpPr/>
          <p:nvPr/>
        </p:nvSpPr>
        <p:spPr>
          <a:xfrm>
            <a:off x="5943600" y="3255264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5"/>
          <p:cNvSpPr/>
          <p:nvPr/>
        </p:nvSpPr>
        <p:spPr>
          <a:xfrm>
            <a:off x="6007608" y="3255264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7360920" y="3255264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21 — D.S. 007-2021-MIDAGRI — Sin título habilitante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5943600" y="3566160"/>
            <a:ext cx="6053328" cy="3017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1" name="Shape 88"/>
          <p:cNvSpPr/>
          <p:nvPr/>
        </p:nvSpPr>
        <p:spPr>
          <a:xfrm>
            <a:off x="5943600" y="3566160"/>
            <a:ext cx="13716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2" name="Text 89"/>
          <p:cNvSpPr/>
          <p:nvPr/>
        </p:nvSpPr>
        <p:spPr>
          <a:xfrm>
            <a:off x="6007608" y="3566160"/>
            <a:ext cx="1307592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Descargo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7360920" y="3566160"/>
            <a:ext cx="45902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presentaron descargo dentro del plazo — No desvirtúan indicios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5943600" y="3602736"/>
            <a:ext cx="6053328" cy="12801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95" name="Shape 92"/>
          <p:cNvSpPr/>
          <p:nvPr/>
        </p:nvSpPr>
        <p:spPr>
          <a:xfrm>
            <a:off x="5998464" y="3749040"/>
            <a:ext cx="228600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6" name="Text 93"/>
          <p:cNvSpPr/>
          <p:nvPr/>
        </p:nvSpPr>
        <p:spPr>
          <a:xfrm>
            <a:off x="5998464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MUY GRAVE — Ítem 21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8375904" y="3749040"/>
            <a:ext cx="3566160" cy="29260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98" name="Text 95"/>
          <p:cNvSpPr/>
          <p:nvPr/>
        </p:nvSpPr>
        <p:spPr>
          <a:xfrm>
            <a:off x="8375904" y="3749040"/>
            <a:ext cx="3566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Mashonaste NT · Motosierra decomisada · Sin título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5943600" y="4206240"/>
            <a:ext cx="6053328" cy="10424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0" name="Text 97"/>
          <p:cNvSpPr/>
          <p:nvPr/>
        </p:nvSpPr>
        <p:spPr>
          <a:xfrm>
            <a:off x="6053328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PFM Intervenido — IT N°005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6016752" y="4407408"/>
            <a:ext cx="140817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2" name="Shape 99"/>
          <p:cNvSpPr/>
          <p:nvPr/>
        </p:nvSpPr>
        <p:spPr>
          <a:xfrm>
            <a:off x="6016752" y="4407408"/>
            <a:ext cx="140817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3" name="Text 100"/>
          <p:cNvSpPr/>
          <p:nvPr/>
        </p:nvSpPr>
        <p:spPr>
          <a:xfrm>
            <a:off x="6016752" y="4535424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17.393</a:t>
            </a:r>
            <a:endParaRPr lang="en-US" sz="1800" dirty="0"/>
          </a:p>
        </p:txBody>
      </p:sp>
      <p:sp>
        <p:nvSpPr>
          <p:cNvPr id="104" name="Text 101"/>
          <p:cNvSpPr/>
          <p:nvPr/>
        </p:nvSpPr>
        <p:spPr>
          <a:xfrm>
            <a:off x="6016752" y="49743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7498080" y="4407408"/>
            <a:ext cx="140817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7498080" y="4407408"/>
            <a:ext cx="140817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7" name="Text 104"/>
          <p:cNvSpPr/>
          <p:nvPr/>
        </p:nvSpPr>
        <p:spPr>
          <a:xfrm>
            <a:off x="7498080" y="4535424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3,826</a:t>
            </a:r>
            <a:endParaRPr lang="en-US" sz="1800" dirty="0"/>
          </a:p>
        </p:txBody>
      </p:sp>
      <p:sp>
        <p:nvSpPr>
          <p:cNvPr id="108" name="Text 105"/>
          <p:cNvSpPr/>
          <p:nvPr/>
        </p:nvSpPr>
        <p:spPr>
          <a:xfrm>
            <a:off x="7498080" y="49743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900" dirty="0"/>
          </a:p>
        </p:txBody>
      </p:sp>
      <p:sp>
        <p:nvSpPr>
          <p:cNvPr id="109" name="Shape 106"/>
          <p:cNvSpPr/>
          <p:nvPr/>
        </p:nvSpPr>
        <p:spPr>
          <a:xfrm>
            <a:off x="8979408" y="4407408"/>
            <a:ext cx="140817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0" name="Shape 107"/>
          <p:cNvSpPr/>
          <p:nvPr/>
        </p:nvSpPr>
        <p:spPr>
          <a:xfrm>
            <a:off x="8979408" y="4407408"/>
            <a:ext cx="140817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11" name="Text 108"/>
          <p:cNvSpPr/>
          <p:nvPr/>
        </p:nvSpPr>
        <p:spPr>
          <a:xfrm>
            <a:off x="8979408" y="4535424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6,583</a:t>
            </a:r>
            <a:endParaRPr lang="en-US" sz="1800" dirty="0"/>
          </a:p>
        </p:txBody>
      </p:sp>
      <p:sp>
        <p:nvSpPr>
          <p:cNvPr id="112" name="Text 109"/>
          <p:cNvSpPr/>
          <p:nvPr/>
        </p:nvSpPr>
        <p:spPr>
          <a:xfrm>
            <a:off x="8979408" y="49743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10460736" y="4407408"/>
            <a:ext cx="1408176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4" name="Shape 111"/>
          <p:cNvSpPr/>
          <p:nvPr/>
        </p:nvSpPr>
        <p:spPr>
          <a:xfrm>
            <a:off x="10460736" y="4407408"/>
            <a:ext cx="140817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5" name="Text 112"/>
          <p:cNvSpPr/>
          <p:nvPr/>
        </p:nvSpPr>
        <p:spPr>
          <a:xfrm>
            <a:off x="10460736" y="4535424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 dirty="0"/>
          </a:p>
        </p:txBody>
      </p:sp>
      <p:sp>
        <p:nvSpPr>
          <p:cNvPr id="116" name="Text 113"/>
          <p:cNvSpPr/>
          <p:nvPr/>
        </p:nvSpPr>
        <p:spPr>
          <a:xfrm>
            <a:off x="10460736" y="49743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164592" y="5742432"/>
            <a:ext cx="11832336" cy="822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18" name="Shape 115"/>
          <p:cNvSpPr/>
          <p:nvPr/>
        </p:nvSpPr>
        <p:spPr>
          <a:xfrm>
            <a:off x="164592" y="5742432"/>
            <a:ext cx="11832336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9" name="Text 116"/>
          <p:cNvSpPr/>
          <p:nvPr/>
        </p:nvSpPr>
        <p:spPr>
          <a:xfrm>
            <a:off x="274320" y="5742432"/>
            <a:ext cx="116128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CONSOLIDADO IT N° 004 + 005-2026 — COMPARATIVO PFM INTERVENIDO</a:t>
            </a:r>
            <a:endParaRPr lang="en-US" sz="1050" dirty="0"/>
          </a:p>
        </p:txBody>
      </p:sp>
      <p:sp>
        <p:nvSpPr>
          <p:cNvPr id="120" name="Shape 117"/>
          <p:cNvSpPr/>
          <p:nvPr/>
        </p:nvSpPr>
        <p:spPr>
          <a:xfrm>
            <a:off x="256032" y="6071616"/>
            <a:ext cx="382219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256032" y="6071616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2" name="Text 119"/>
          <p:cNvSpPr/>
          <p:nvPr/>
        </p:nvSpPr>
        <p:spPr>
          <a:xfrm>
            <a:off x="365760" y="6071616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N°004 Lupuna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1764792" y="6071616"/>
            <a:ext cx="841248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6.430 m³</a:t>
            </a:r>
            <a:endParaRPr lang="en-US" sz="950" dirty="0"/>
          </a:p>
        </p:txBody>
      </p:sp>
      <p:sp>
        <p:nvSpPr>
          <p:cNvPr id="124" name="Text 121"/>
          <p:cNvSpPr/>
          <p:nvPr/>
        </p:nvSpPr>
        <p:spPr>
          <a:xfrm>
            <a:off x="2633472" y="6071616"/>
            <a:ext cx="749808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1,414 PT</a:t>
            </a:r>
            <a:endParaRPr lang="en-US" sz="900" dirty="0"/>
          </a:p>
        </p:txBody>
      </p:sp>
      <p:sp>
        <p:nvSpPr>
          <p:cNvPr id="125" name="Text 122"/>
          <p:cNvSpPr/>
          <p:nvPr/>
        </p:nvSpPr>
        <p:spPr>
          <a:xfrm>
            <a:off x="3401568" y="6071616"/>
            <a:ext cx="64008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S/2,121</a:t>
            </a:r>
            <a:endParaRPr lang="en-US" sz="900" dirty="0"/>
          </a:p>
        </p:txBody>
      </p:sp>
      <p:sp>
        <p:nvSpPr>
          <p:cNvPr id="126" name="Shape 123"/>
          <p:cNvSpPr/>
          <p:nvPr/>
        </p:nvSpPr>
        <p:spPr>
          <a:xfrm>
            <a:off x="4187952" y="6071616"/>
            <a:ext cx="382219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7" name="Shape 124"/>
          <p:cNvSpPr/>
          <p:nvPr/>
        </p:nvSpPr>
        <p:spPr>
          <a:xfrm>
            <a:off x="4187952" y="6071616"/>
            <a:ext cx="73152" cy="457200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28" name="Text 125"/>
          <p:cNvSpPr/>
          <p:nvPr/>
        </p:nvSpPr>
        <p:spPr>
          <a:xfrm>
            <a:off x="4297680" y="6071616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N°005 Tala Ilegal</a:t>
            </a:r>
            <a:endParaRPr lang="en-US" sz="900" dirty="0"/>
          </a:p>
        </p:txBody>
      </p:sp>
      <p:sp>
        <p:nvSpPr>
          <p:cNvPr id="129" name="Text 126"/>
          <p:cNvSpPr/>
          <p:nvPr/>
        </p:nvSpPr>
        <p:spPr>
          <a:xfrm>
            <a:off x="5696712" y="6071616"/>
            <a:ext cx="841248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17.393 m³</a:t>
            </a:r>
            <a:endParaRPr lang="en-US" sz="950" dirty="0"/>
          </a:p>
        </p:txBody>
      </p:sp>
      <p:sp>
        <p:nvSpPr>
          <p:cNvPr id="130" name="Text 127"/>
          <p:cNvSpPr/>
          <p:nvPr/>
        </p:nvSpPr>
        <p:spPr>
          <a:xfrm>
            <a:off x="6565392" y="6071616"/>
            <a:ext cx="749808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3,826 PT</a:t>
            </a:r>
            <a:endParaRPr lang="en-US" sz="900" dirty="0"/>
          </a:p>
        </p:txBody>
      </p:sp>
      <p:sp>
        <p:nvSpPr>
          <p:cNvPr id="131" name="Text 128"/>
          <p:cNvSpPr/>
          <p:nvPr/>
        </p:nvSpPr>
        <p:spPr>
          <a:xfrm>
            <a:off x="7333488" y="6071616"/>
            <a:ext cx="64008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S/6,583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8119872" y="6071616"/>
            <a:ext cx="382219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3" name="Shape 130"/>
          <p:cNvSpPr/>
          <p:nvPr/>
        </p:nvSpPr>
        <p:spPr>
          <a:xfrm>
            <a:off x="8119872" y="6071616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4" name="Text 131"/>
          <p:cNvSpPr/>
          <p:nvPr/>
        </p:nvSpPr>
        <p:spPr>
          <a:xfrm>
            <a:off x="8229600" y="6071616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ambos</a:t>
            </a:r>
            <a:endParaRPr lang="en-US" sz="900" dirty="0"/>
          </a:p>
        </p:txBody>
      </p:sp>
      <p:sp>
        <p:nvSpPr>
          <p:cNvPr id="135" name="Text 132"/>
          <p:cNvSpPr/>
          <p:nvPr/>
        </p:nvSpPr>
        <p:spPr>
          <a:xfrm>
            <a:off x="9628632" y="6071616"/>
            <a:ext cx="841248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23.823 m³</a:t>
            </a:r>
            <a:endParaRPr lang="en-US" sz="950" dirty="0"/>
          </a:p>
        </p:txBody>
      </p:sp>
      <p:sp>
        <p:nvSpPr>
          <p:cNvPr id="136" name="Text 133"/>
          <p:cNvSpPr/>
          <p:nvPr/>
        </p:nvSpPr>
        <p:spPr>
          <a:xfrm>
            <a:off x="10497312" y="6071616"/>
            <a:ext cx="749808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5,240 PT</a:t>
            </a:r>
            <a:endParaRPr lang="en-US" sz="900" dirty="0"/>
          </a:p>
        </p:txBody>
      </p:sp>
      <p:sp>
        <p:nvSpPr>
          <p:cNvPr id="137" name="Text 134"/>
          <p:cNvSpPr/>
          <p:nvPr/>
        </p:nvSpPr>
        <p:spPr>
          <a:xfrm>
            <a:off x="11265408" y="6071616"/>
            <a:ext cx="64008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S/8,704</a:t>
            </a:r>
            <a:endParaRPr lang="en-US" sz="900" dirty="0"/>
          </a:p>
        </p:txBody>
      </p:sp>
      <p:sp>
        <p:nvSpPr>
          <p:cNvPr id="138" name="Shape 135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9" name="Shape 136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40" name="Text 137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IT N°004: INICIAR PAS — Lupuna 6.43 m³ sin GTF · IT N°005: INICIAR PAS — 25 árboles / 17.393 m³ / 2.019 ha — Derivar a FEMA · Diapositiva 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0891B2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006-2026 — INFORME TÉCNICO COMPLEMENTARIO DE INICIO DE PAS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Evaluación técnica complementaria — inicio PAS contra JOEL GRÁNDEZ CHÁVEZ (DNI 00177277) — Fundo El Tornillal I y II — Exp. N° 041-2025-PAS-SOFFS/PA  ·  04 Marzo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Vol.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Deforestadas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S/10,734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722730"/>
            <a:ext cx="2761488" cy="3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ilícita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249424"/>
            <a:ext cx="5468112" cy="42793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249424"/>
            <a:ext cx="5468112" cy="34747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30428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24942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— EXP. N° 041-2025-PAS-SOFFS/PA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596896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596896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596896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596896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Grández Chávez — DNI N° 00177277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2990088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2990088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2990088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2990088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'El Tornillal I' y 'El Tornillal II' — UC 028664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383280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383280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383280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383280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Miraflores, Distrito y Provincia de Padre Abad, Ucayali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3776472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3776472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3776472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3776472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439306 E / 8997637 N (1ª insp.) — UTM 439392 E / 8997763 N (2ª insp.)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169664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169664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169664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169664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S/N-2025-VCHM — Honorio Velásquez Casanova — Reg. N° 2878 (17/10/2025)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4562856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4562856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4562856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Inspección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4562856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N° 019 — 17/10/2025 — Retiro cobertura vegetal, shucleo previo a tala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4956048"/>
            <a:ext cx="5468112" cy="38404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4956048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4956048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Inspección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4956048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Inspección Ocular N° 002 — 02/02/2026 — 09:20 h — FEMA + PNP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5349240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5349240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5349240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5349240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Abog. Néstor Antonio Bartra Ramos — 2° FEMA-Ucayali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164592" y="5742432"/>
            <a:ext cx="5468112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2" name="Shape 58"/>
          <p:cNvSpPr/>
          <p:nvPr/>
        </p:nvSpPr>
        <p:spPr>
          <a:xfrm>
            <a:off x="164592" y="5742432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9"/>
          <p:cNvSpPr/>
          <p:nvPr/>
        </p:nvSpPr>
        <p:spPr>
          <a:xfrm>
            <a:off x="228600" y="5742432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Infracciones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1581912" y="5742432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Ítem 19 (retiro cobertura) + Ítem 21 (tala sin título) — MUY GRAVE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164592" y="6135624"/>
            <a:ext cx="546811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2"/>
          <p:cNvSpPr/>
          <p:nvPr/>
        </p:nvSpPr>
        <p:spPr>
          <a:xfrm>
            <a:off x="164592" y="6135624"/>
            <a:ext cx="13716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3"/>
          <p:cNvSpPr/>
          <p:nvPr/>
        </p:nvSpPr>
        <p:spPr>
          <a:xfrm>
            <a:off x="228600" y="6135624"/>
            <a:ext cx="13075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título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1581912" y="6135624"/>
            <a:ext cx="40050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N° 017-2026-APAPP/ARCP confirma: SIN permiso 2020-2025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164592" y="6565392"/>
            <a:ext cx="5468112" cy="71323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0" name="Text 66"/>
          <p:cNvSpPr/>
          <p:nvPr/>
        </p:nvSpPr>
        <p:spPr>
          <a:xfrm>
            <a:off x="274320" y="66019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AGRAVANTES — EXP. 041-2025</a:t>
            </a:r>
            <a:endParaRPr lang="en-US" sz="1000" dirty="0"/>
          </a:p>
        </p:txBody>
      </p:sp>
      <p:sp>
        <p:nvSpPr>
          <p:cNvPr id="71" name="Text 67"/>
          <p:cNvSpPr/>
          <p:nvPr/>
        </p:nvSpPr>
        <p:spPr>
          <a:xfrm>
            <a:off x="274320" y="68031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en Zona de Recuperación Forestal ZF-60301 (RM N° 0046-2024-MIDAGRI-DM)  • Afectación de quebrada con caudal (ANA — Art. 75° Ley 29338)  • Administrado reconoció actividad de rozo en acta  • Derivación a 2° FEMA-Ucayali (Art. 310° CP)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5760720" y="2249424"/>
            <a:ext cx="6236208" cy="42793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5760720" y="2249424"/>
            <a:ext cx="6236208" cy="347472"/>
          </a:xfrm>
          <a:prstGeom prst="rect">
            <a:avLst/>
          </a:prstGeom>
          <a:solidFill>
            <a:srgbClr val="1B7A34"/>
          </a:solidFill>
          <a:ln/>
        </p:spPr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304288"/>
            <a:ext cx="237744" cy="237744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6163056" y="2249424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01 — TORNILLO (Cedrelinga cateniformis) — 14 ÁRBOLES TALADOS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5760720" y="2596896"/>
            <a:ext cx="6236208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7" name="Text 72"/>
          <p:cNvSpPr/>
          <p:nvPr/>
        </p:nvSpPr>
        <p:spPr>
          <a:xfrm>
            <a:off x="5852160" y="2596896"/>
            <a:ext cx="610819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N° 002-2026-ATI/EGMM · Precio S/ 3.20/PT · 3,354.56 PT · S/ 10,734.59 · Cat. DS043-2006-AG: NO amenazada</a:t>
            </a:r>
            <a:endParaRPr lang="en-US" sz="850" dirty="0"/>
          </a:p>
        </p:txBody>
      </p:sp>
      <p:sp>
        <p:nvSpPr>
          <p:cNvPr id="78" name="Shape 73"/>
          <p:cNvSpPr/>
          <p:nvPr/>
        </p:nvSpPr>
        <p:spPr>
          <a:xfrm>
            <a:off x="5760720" y="2816352"/>
            <a:ext cx="320040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9" name="Text 74"/>
          <p:cNvSpPr/>
          <p:nvPr/>
        </p:nvSpPr>
        <p:spPr>
          <a:xfrm>
            <a:off x="5779008" y="2816352"/>
            <a:ext cx="29260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6080760" y="2816352"/>
            <a:ext cx="2395728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1" name="Text 76"/>
          <p:cNvSpPr/>
          <p:nvPr/>
        </p:nvSpPr>
        <p:spPr>
          <a:xfrm>
            <a:off x="6099048" y="2816352"/>
            <a:ext cx="236829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8476488" y="2816352"/>
            <a:ext cx="594360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3" name="Text 78"/>
          <p:cNvSpPr/>
          <p:nvPr/>
        </p:nvSpPr>
        <p:spPr>
          <a:xfrm>
            <a:off x="8494776" y="2816352"/>
            <a:ext cx="56692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D1(cm)</a:t>
            </a:r>
            <a:endParaRPr lang="en-US" sz="850" dirty="0"/>
          </a:p>
        </p:txBody>
      </p:sp>
      <p:sp>
        <p:nvSpPr>
          <p:cNvPr id="84" name="Shape 79"/>
          <p:cNvSpPr/>
          <p:nvPr/>
        </p:nvSpPr>
        <p:spPr>
          <a:xfrm>
            <a:off x="9070848" y="2816352"/>
            <a:ext cx="658368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5" name="Text 80"/>
          <p:cNvSpPr/>
          <p:nvPr/>
        </p:nvSpPr>
        <p:spPr>
          <a:xfrm>
            <a:off x="9089136" y="2816352"/>
            <a:ext cx="63093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L(m)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9729216" y="2816352"/>
            <a:ext cx="749808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7" name="Text 82"/>
          <p:cNvSpPr/>
          <p:nvPr/>
        </p:nvSpPr>
        <p:spPr>
          <a:xfrm>
            <a:off x="9747504" y="2816352"/>
            <a:ext cx="72237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m³</a:t>
            </a:r>
            <a:endParaRPr lang="en-US" sz="850" dirty="0"/>
          </a:p>
        </p:txBody>
      </p:sp>
      <p:sp>
        <p:nvSpPr>
          <p:cNvPr id="88" name="Shape 83"/>
          <p:cNvSpPr/>
          <p:nvPr/>
        </p:nvSpPr>
        <p:spPr>
          <a:xfrm>
            <a:off x="10479024" y="2816352"/>
            <a:ext cx="1335024" cy="25603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89" name="Text 84"/>
          <p:cNvSpPr/>
          <p:nvPr/>
        </p:nvSpPr>
        <p:spPr>
          <a:xfrm>
            <a:off x="10497312" y="2816352"/>
            <a:ext cx="130759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PT</a:t>
            </a:r>
            <a:endParaRPr lang="en-US" sz="850" dirty="0"/>
          </a:p>
        </p:txBody>
      </p:sp>
      <p:sp>
        <p:nvSpPr>
          <p:cNvPr id="90" name="Shape 85"/>
          <p:cNvSpPr/>
          <p:nvPr/>
        </p:nvSpPr>
        <p:spPr>
          <a:xfrm>
            <a:off x="5760720" y="3072384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1" name="Text 86"/>
          <p:cNvSpPr/>
          <p:nvPr/>
        </p:nvSpPr>
        <p:spPr>
          <a:xfrm>
            <a:off x="5779008" y="3072384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2" name="Shape 87"/>
          <p:cNvSpPr/>
          <p:nvPr/>
        </p:nvSpPr>
        <p:spPr>
          <a:xfrm>
            <a:off x="6080760" y="3072384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3" name="Text 88"/>
          <p:cNvSpPr/>
          <p:nvPr/>
        </p:nvSpPr>
        <p:spPr>
          <a:xfrm>
            <a:off x="6099048" y="3072384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94" name="Shape 89"/>
          <p:cNvSpPr/>
          <p:nvPr/>
        </p:nvSpPr>
        <p:spPr>
          <a:xfrm>
            <a:off x="8476488" y="3072384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5" name="Text 90"/>
          <p:cNvSpPr/>
          <p:nvPr/>
        </p:nvSpPr>
        <p:spPr>
          <a:xfrm>
            <a:off x="8494776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50" dirty="0"/>
          </a:p>
        </p:txBody>
      </p:sp>
      <p:sp>
        <p:nvSpPr>
          <p:cNvPr id="96" name="Shape 91"/>
          <p:cNvSpPr/>
          <p:nvPr/>
        </p:nvSpPr>
        <p:spPr>
          <a:xfrm>
            <a:off x="9070848" y="3072384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7" name="Text 92"/>
          <p:cNvSpPr/>
          <p:nvPr/>
        </p:nvSpPr>
        <p:spPr>
          <a:xfrm>
            <a:off x="9089136" y="3072384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98" name="Shape 93"/>
          <p:cNvSpPr/>
          <p:nvPr/>
        </p:nvSpPr>
        <p:spPr>
          <a:xfrm>
            <a:off x="9729216" y="3072384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99" name="Text 94"/>
          <p:cNvSpPr/>
          <p:nvPr/>
        </p:nvSpPr>
        <p:spPr>
          <a:xfrm>
            <a:off x="9747504" y="3072384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1.751</a:t>
            </a:r>
            <a:endParaRPr lang="en-US" sz="850" dirty="0"/>
          </a:p>
        </p:txBody>
      </p:sp>
      <p:sp>
        <p:nvSpPr>
          <p:cNvPr id="100" name="Shape 95"/>
          <p:cNvSpPr/>
          <p:nvPr/>
        </p:nvSpPr>
        <p:spPr>
          <a:xfrm>
            <a:off x="10479024" y="3072384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01" name="Text 96"/>
          <p:cNvSpPr/>
          <p:nvPr/>
        </p:nvSpPr>
        <p:spPr>
          <a:xfrm>
            <a:off x="10497312" y="3072384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385.22</a:t>
            </a:r>
            <a:endParaRPr lang="en-US" sz="850" dirty="0"/>
          </a:p>
        </p:txBody>
      </p:sp>
      <p:sp>
        <p:nvSpPr>
          <p:cNvPr id="102" name="Shape 97"/>
          <p:cNvSpPr/>
          <p:nvPr/>
        </p:nvSpPr>
        <p:spPr>
          <a:xfrm>
            <a:off x="5760720" y="3259836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98"/>
          <p:cNvSpPr/>
          <p:nvPr/>
        </p:nvSpPr>
        <p:spPr>
          <a:xfrm>
            <a:off x="5779008" y="3259836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4" name="Shape 99"/>
          <p:cNvSpPr/>
          <p:nvPr/>
        </p:nvSpPr>
        <p:spPr>
          <a:xfrm>
            <a:off x="6080760" y="3259836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0"/>
          <p:cNvSpPr/>
          <p:nvPr/>
        </p:nvSpPr>
        <p:spPr>
          <a:xfrm>
            <a:off x="6099048" y="3259836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06" name="Shape 101"/>
          <p:cNvSpPr/>
          <p:nvPr/>
        </p:nvSpPr>
        <p:spPr>
          <a:xfrm>
            <a:off x="8476488" y="3259836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2"/>
          <p:cNvSpPr/>
          <p:nvPr/>
        </p:nvSpPr>
        <p:spPr>
          <a:xfrm>
            <a:off x="8494776" y="3259836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50" dirty="0"/>
          </a:p>
        </p:txBody>
      </p:sp>
      <p:sp>
        <p:nvSpPr>
          <p:cNvPr id="108" name="Shape 103"/>
          <p:cNvSpPr/>
          <p:nvPr/>
        </p:nvSpPr>
        <p:spPr>
          <a:xfrm>
            <a:off x="9070848" y="3259836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4"/>
          <p:cNvSpPr/>
          <p:nvPr/>
        </p:nvSpPr>
        <p:spPr>
          <a:xfrm>
            <a:off x="9089136" y="3259836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10" name="Shape 105"/>
          <p:cNvSpPr/>
          <p:nvPr/>
        </p:nvSpPr>
        <p:spPr>
          <a:xfrm>
            <a:off x="9729216" y="3259836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6"/>
          <p:cNvSpPr/>
          <p:nvPr/>
        </p:nvSpPr>
        <p:spPr>
          <a:xfrm>
            <a:off x="9747504" y="3259836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1.510</a:t>
            </a:r>
            <a:endParaRPr lang="en-US" sz="850" dirty="0"/>
          </a:p>
        </p:txBody>
      </p:sp>
      <p:sp>
        <p:nvSpPr>
          <p:cNvPr id="112" name="Shape 107"/>
          <p:cNvSpPr/>
          <p:nvPr/>
        </p:nvSpPr>
        <p:spPr>
          <a:xfrm>
            <a:off x="10479024" y="3259836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8"/>
          <p:cNvSpPr/>
          <p:nvPr/>
        </p:nvSpPr>
        <p:spPr>
          <a:xfrm>
            <a:off x="10497312" y="3259836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332.20</a:t>
            </a:r>
            <a:endParaRPr lang="en-US" sz="850" dirty="0"/>
          </a:p>
        </p:txBody>
      </p:sp>
      <p:sp>
        <p:nvSpPr>
          <p:cNvPr id="114" name="Shape 109"/>
          <p:cNvSpPr/>
          <p:nvPr/>
        </p:nvSpPr>
        <p:spPr>
          <a:xfrm>
            <a:off x="5760720" y="3447288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5" name="Text 110"/>
          <p:cNvSpPr/>
          <p:nvPr/>
        </p:nvSpPr>
        <p:spPr>
          <a:xfrm>
            <a:off x="5779008" y="3447288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16" name="Shape 111"/>
          <p:cNvSpPr/>
          <p:nvPr/>
        </p:nvSpPr>
        <p:spPr>
          <a:xfrm>
            <a:off x="6080760" y="3447288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7" name="Text 112"/>
          <p:cNvSpPr/>
          <p:nvPr/>
        </p:nvSpPr>
        <p:spPr>
          <a:xfrm>
            <a:off x="6099048" y="3447288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18" name="Shape 113"/>
          <p:cNvSpPr/>
          <p:nvPr/>
        </p:nvSpPr>
        <p:spPr>
          <a:xfrm>
            <a:off x="8476488" y="3447288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9" name="Text 114"/>
          <p:cNvSpPr/>
          <p:nvPr/>
        </p:nvSpPr>
        <p:spPr>
          <a:xfrm>
            <a:off x="8494776" y="3447288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850" dirty="0"/>
          </a:p>
        </p:txBody>
      </p:sp>
      <p:sp>
        <p:nvSpPr>
          <p:cNvPr id="120" name="Shape 115"/>
          <p:cNvSpPr/>
          <p:nvPr/>
        </p:nvSpPr>
        <p:spPr>
          <a:xfrm>
            <a:off x="9070848" y="3447288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1" name="Text 116"/>
          <p:cNvSpPr/>
          <p:nvPr/>
        </p:nvSpPr>
        <p:spPr>
          <a:xfrm>
            <a:off x="9089136" y="3447288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22" name="Shape 117"/>
          <p:cNvSpPr/>
          <p:nvPr/>
        </p:nvSpPr>
        <p:spPr>
          <a:xfrm>
            <a:off x="9729216" y="3447288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3" name="Text 118"/>
          <p:cNvSpPr/>
          <p:nvPr/>
        </p:nvSpPr>
        <p:spPr>
          <a:xfrm>
            <a:off x="9747504" y="3447288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1.330</a:t>
            </a:r>
            <a:endParaRPr lang="en-US" sz="850" dirty="0"/>
          </a:p>
        </p:txBody>
      </p:sp>
      <p:sp>
        <p:nvSpPr>
          <p:cNvPr id="124" name="Shape 119"/>
          <p:cNvSpPr/>
          <p:nvPr/>
        </p:nvSpPr>
        <p:spPr>
          <a:xfrm>
            <a:off x="10479024" y="3447288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5" name="Text 120"/>
          <p:cNvSpPr/>
          <p:nvPr/>
        </p:nvSpPr>
        <p:spPr>
          <a:xfrm>
            <a:off x="10497312" y="3447288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292.60</a:t>
            </a:r>
            <a:endParaRPr lang="en-US" sz="850" dirty="0"/>
          </a:p>
        </p:txBody>
      </p:sp>
      <p:sp>
        <p:nvSpPr>
          <p:cNvPr id="126" name="Shape 121"/>
          <p:cNvSpPr/>
          <p:nvPr/>
        </p:nvSpPr>
        <p:spPr>
          <a:xfrm>
            <a:off x="5760720" y="3634740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2"/>
          <p:cNvSpPr/>
          <p:nvPr/>
        </p:nvSpPr>
        <p:spPr>
          <a:xfrm>
            <a:off x="5779008" y="3634740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28" name="Shape 123"/>
          <p:cNvSpPr/>
          <p:nvPr/>
        </p:nvSpPr>
        <p:spPr>
          <a:xfrm>
            <a:off x="6080760" y="3634740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4"/>
          <p:cNvSpPr/>
          <p:nvPr/>
        </p:nvSpPr>
        <p:spPr>
          <a:xfrm>
            <a:off x="6099048" y="3634740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30" name="Shape 125"/>
          <p:cNvSpPr/>
          <p:nvPr/>
        </p:nvSpPr>
        <p:spPr>
          <a:xfrm>
            <a:off x="8476488" y="3634740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6"/>
          <p:cNvSpPr/>
          <p:nvPr/>
        </p:nvSpPr>
        <p:spPr>
          <a:xfrm>
            <a:off x="8494776" y="3634740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850" dirty="0"/>
          </a:p>
        </p:txBody>
      </p:sp>
      <p:sp>
        <p:nvSpPr>
          <p:cNvPr id="132" name="Shape 127"/>
          <p:cNvSpPr/>
          <p:nvPr/>
        </p:nvSpPr>
        <p:spPr>
          <a:xfrm>
            <a:off x="9070848" y="3634740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28"/>
          <p:cNvSpPr/>
          <p:nvPr/>
        </p:nvSpPr>
        <p:spPr>
          <a:xfrm>
            <a:off x="9089136" y="3634740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34" name="Shape 129"/>
          <p:cNvSpPr/>
          <p:nvPr/>
        </p:nvSpPr>
        <p:spPr>
          <a:xfrm>
            <a:off x="9729216" y="3634740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0"/>
          <p:cNvSpPr/>
          <p:nvPr/>
        </p:nvSpPr>
        <p:spPr>
          <a:xfrm>
            <a:off x="9747504" y="3634740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1.216</a:t>
            </a:r>
            <a:endParaRPr lang="en-US" sz="850" dirty="0"/>
          </a:p>
        </p:txBody>
      </p:sp>
      <p:sp>
        <p:nvSpPr>
          <p:cNvPr id="136" name="Shape 131"/>
          <p:cNvSpPr/>
          <p:nvPr/>
        </p:nvSpPr>
        <p:spPr>
          <a:xfrm>
            <a:off x="10479024" y="3634740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2"/>
          <p:cNvSpPr/>
          <p:nvPr/>
        </p:nvSpPr>
        <p:spPr>
          <a:xfrm>
            <a:off x="10497312" y="3634740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267.52</a:t>
            </a:r>
            <a:endParaRPr lang="en-US" sz="850" dirty="0"/>
          </a:p>
        </p:txBody>
      </p:sp>
      <p:sp>
        <p:nvSpPr>
          <p:cNvPr id="138" name="Shape 133"/>
          <p:cNvSpPr/>
          <p:nvPr/>
        </p:nvSpPr>
        <p:spPr>
          <a:xfrm>
            <a:off x="5760720" y="3822192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39" name="Text 134"/>
          <p:cNvSpPr/>
          <p:nvPr/>
        </p:nvSpPr>
        <p:spPr>
          <a:xfrm>
            <a:off x="5779008" y="3822192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40" name="Shape 135"/>
          <p:cNvSpPr/>
          <p:nvPr/>
        </p:nvSpPr>
        <p:spPr>
          <a:xfrm>
            <a:off x="6080760" y="3822192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1" name="Text 136"/>
          <p:cNvSpPr/>
          <p:nvPr/>
        </p:nvSpPr>
        <p:spPr>
          <a:xfrm>
            <a:off x="6099048" y="3822192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42" name="Shape 137"/>
          <p:cNvSpPr/>
          <p:nvPr/>
        </p:nvSpPr>
        <p:spPr>
          <a:xfrm>
            <a:off x="8476488" y="3822192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3" name="Text 138"/>
          <p:cNvSpPr/>
          <p:nvPr/>
        </p:nvSpPr>
        <p:spPr>
          <a:xfrm>
            <a:off x="8494776" y="3822192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850" dirty="0"/>
          </a:p>
        </p:txBody>
      </p:sp>
      <p:sp>
        <p:nvSpPr>
          <p:cNvPr id="144" name="Shape 139"/>
          <p:cNvSpPr/>
          <p:nvPr/>
        </p:nvSpPr>
        <p:spPr>
          <a:xfrm>
            <a:off x="9070848" y="3822192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5" name="Text 140"/>
          <p:cNvSpPr/>
          <p:nvPr/>
        </p:nvSpPr>
        <p:spPr>
          <a:xfrm>
            <a:off x="9089136" y="3822192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46" name="Shape 141"/>
          <p:cNvSpPr/>
          <p:nvPr/>
        </p:nvSpPr>
        <p:spPr>
          <a:xfrm>
            <a:off x="9729216" y="3822192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7" name="Text 142"/>
          <p:cNvSpPr/>
          <p:nvPr/>
        </p:nvSpPr>
        <p:spPr>
          <a:xfrm>
            <a:off x="9747504" y="3822192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850" dirty="0"/>
          </a:p>
        </p:txBody>
      </p:sp>
      <p:sp>
        <p:nvSpPr>
          <p:cNvPr id="148" name="Shape 143"/>
          <p:cNvSpPr/>
          <p:nvPr/>
        </p:nvSpPr>
        <p:spPr>
          <a:xfrm>
            <a:off x="10479024" y="3822192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9" name="Text 144"/>
          <p:cNvSpPr/>
          <p:nvPr/>
        </p:nvSpPr>
        <p:spPr>
          <a:xfrm>
            <a:off x="10497312" y="3822192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155.32</a:t>
            </a:r>
            <a:endParaRPr lang="en-US" sz="850" dirty="0"/>
          </a:p>
        </p:txBody>
      </p:sp>
      <p:sp>
        <p:nvSpPr>
          <p:cNvPr id="150" name="Shape 145"/>
          <p:cNvSpPr/>
          <p:nvPr/>
        </p:nvSpPr>
        <p:spPr>
          <a:xfrm>
            <a:off x="5760720" y="4009644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6"/>
          <p:cNvSpPr/>
          <p:nvPr/>
        </p:nvSpPr>
        <p:spPr>
          <a:xfrm>
            <a:off x="5779008" y="4009644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52" name="Shape 147"/>
          <p:cNvSpPr/>
          <p:nvPr/>
        </p:nvSpPr>
        <p:spPr>
          <a:xfrm>
            <a:off x="6080760" y="4009644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48"/>
          <p:cNvSpPr/>
          <p:nvPr/>
        </p:nvSpPr>
        <p:spPr>
          <a:xfrm>
            <a:off x="6099048" y="4009644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54" name="Shape 149"/>
          <p:cNvSpPr/>
          <p:nvPr/>
        </p:nvSpPr>
        <p:spPr>
          <a:xfrm>
            <a:off x="8476488" y="4009644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0"/>
          <p:cNvSpPr/>
          <p:nvPr/>
        </p:nvSpPr>
        <p:spPr>
          <a:xfrm>
            <a:off x="8494776" y="4009644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50" dirty="0"/>
          </a:p>
        </p:txBody>
      </p:sp>
      <p:sp>
        <p:nvSpPr>
          <p:cNvPr id="156" name="Shape 151"/>
          <p:cNvSpPr/>
          <p:nvPr/>
        </p:nvSpPr>
        <p:spPr>
          <a:xfrm>
            <a:off x="9070848" y="4009644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2"/>
          <p:cNvSpPr/>
          <p:nvPr/>
        </p:nvSpPr>
        <p:spPr>
          <a:xfrm>
            <a:off x="9089136" y="4009644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58" name="Shape 153"/>
          <p:cNvSpPr/>
          <p:nvPr/>
        </p:nvSpPr>
        <p:spPr>
          <a:xfrm>
            <a:off x="9729216" y="4009644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4"/>
          <p:cNvSpPr/>
          <p:nvPr/>
        </p:nvSpPr>
        <p:spPr>
          <a:xfrm>
            <a:off x="9747504" y="4009644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1.081</a:t>
            </a:r>
            <a:endParaRPr lang="en-US" sz="850" dirty="0"/>
          </a:p>
        </p:txBody>
      </p:sp>
      <p:sp>
        <p:nvSpPr>
          <p:cNvPr id="160" name="Shape 155"/>
          <p:cNvSpPr/>
          <p:nvPr/>
        </p:nvSpPr>
        <p:spPr>
          <a:xfrm>
            <a:off x="10479024" y="4009644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6"/>
          <p:cNvSpPr/>
          <p:nvPr/>
        </p:nvSpPr>
        <p:spPr>
          <a:xfrm>
            <a:off x="10497312" y="4009644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237.82</a:t>
            </a:r>
            <a:endParaRPr lang="en-US" sz="850" dirty="0"/>
          </a:p>
        </p:txBody>
      </p:sp>
      <p:sp>
        <p:nvSpPr>
          <p:cNvPr id="162" name="Shape 157"/>
          <p:cNvSpPr/>
          <p:nvPr/>
        </p:nvSpPr>
        <p:spPr>
          <a:xfrm>
            <a:off x="5760720" y="4197096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3" name="Text 158"/>
          <p:cNvSpPr/>
          <p:nvPr/>
        </p:nvSpPr>
        <p:spPr>
          <a:xfrm>
            <a:off x="5779008" y="4197096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64" name="Shape 159"/>
          <p:cNvSpPr/>
          <p:nvPr/>
        </p:nvSpPr>
        <p:spPr>
          <a:xfrm>
            <a:off x="6080760" y="4197096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5" name="Text 160"/>
          <p:cNvSpPr/>
          <p:nvPr/>
        </p:nvSpPr>
        <p:spPr>
          <a:xfrm>
            <a:off x="6099048" y="4197096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66" name="Shape 161"/>
          <p:cNvSpPr/>
          <p:nvPr/>
        </p:nvSpPr>
        <p:spPr>
          <a:xfrm>
            <a:off x="8476488" y="4197096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7" name="Text 162"/>
          <p:cNvSpPr/>
          <p:nvPr/>
        </p:nvSpPr>
        <p:spPr>
          <a:xfrm>
            <a:off x="8494776" y="4197096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50" dirty="0"/>
          </a:p>
        </p:txBody>
      </p:sp>
      <p:sp>
        <p:nvSpPr>
          <p:cNvPr id="168" name="Shape 163"/>
          <p:cNvSpPr/>
          <p:nvPr/>
        </p:nvSpPr>
        <p:spPr>
          <a:xfrm>
            <a:off x="9070848" y="4197096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9" name="Text 164"/>
          <p:cNvSpPr/>
          <p:nvPr/>
        </p:nvSpPr>
        <p:spPr>
          <a:xfrm>
            <a:off x="9089136" y="4197096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70" name="Shape 165"/>
          <p:cNvSpPr/>
          <p:nvPr/>
        </p:nvSpPr>
        <p:spPr>
          <a:xfrm>
            <a:off x="9729216" y="4197096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71" name="Text 166"/>
          <p:cNvSpPr/>
          <p:nvPr/>
        </p:nvSpPr>
        <p:spPr>
          <a:xfrm>
            <a:off x="9747504" y="4197096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850" dirty="0"/>
          </a:p>
        </p:txBody>
      </p:sp>
      <p:sp>
        <p:nvSpPr>
          <p:cNvPr id="172" name="Shape 167"/>
          <p:cNvSpPr/>
          <p:nvPr/>
        </p:nvSpPr>
        <p:spPr>
          <a:xfrm>
            <a:off x="10479024" y="4197096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73" name="Text 168"/>
          <p:cNvSpPr/>
          <p:nvPr/>
        </p:nvSpPr>
        <p:spPr>
          <a:xfrm>
            <a:off x="10497312" y="4197096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196.46</a:t>
            </a:r>
            <a:endParaRPr lang="en-US" sz="850" dirty="0"/>
          </a:p>
        </p:txBody>
      </p:sp>
      <p:sp>
        <p:nvSpPr>
          <p:cNvPr id="174" name="Shape 169"/>
          <p:cNvSpPr/>
          <p:nvPr/>
        </p:nvSpPr>
        <p:spPr>
          <a:xfrm>
            <a:off x="5760720" y="4384548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Text 170"/>
          <p:cNvSpPr/>
          <p:nvPr/>
        </p:nvSpPr>
        <p:spPr>
          <a:xfrm>
            <a:off x="5779008" y="4384548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76" name="Shape 171"/>
          <p:cNvSpPr/>
          <p:nvPr/>
        </p:nvSpPr>
        <p:spPr>
          <a:xfrm>
            <a:off x="6080760" y="4384548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2"/>
          <p:cNvSpPr/>
          <p:nvPr/>
        </p:nvSpPr>
        <p:spPr>
          <a:xfrm>
            <a:off x="6099048" y="4384548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78" name="Shape 173"/>
          <p:cNvSpPr/>
          <p:nvPr/>
        </p:nvSpPr>
        <p:spPr>
          <a:xfrm>
            <a:off x="8476488" y="4384548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9" name="Text 174"/>
          <p:cNvSpPr/>
          <p:nvPr/>
        </p:nvSpPr>
        <p:spPr>
          <a:xfrm>
            <a:off x="8494776" y="4384548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80" name="Shape 175"/>
          <p:cNvSpPr/>
          <p:nvPr/>
        </p:nvSpPr>
        <p:spPr>
          <a:xfrm>
            <a:off x="9070848" y="4384548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Text 176"/>
          <p:cNvSpPr/>
          <p:nvPr/>
        </p:nvSpPr>
        <p:spPr>
          <a:xfrm>
            <a:off x="9089136" y="4384548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82" name="Shape 177"/>
          <p:cNvSpPr/>
          <p:nvPr/>
        </p:nvSpPr>
        <p:spPr>
          <a:xfrm>
            <a:off x="9729216" y="4384548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Text 178"/>
          <p:cNvSpPr/>
          <p:nvPr/>
        </p:nvSpPr>
        <p:spPr>
          <a:xfrm>
            <a:off x="9747504" y="4384548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850" dirty="0"/>
          </a:p>
        </p:txBody>
      </p:sp>
      <p:sp>
        <p:nvSpPr>
          <p:cNvPr id="184" name="Shape 179"/>
          <p:cNvSpPr/>
          <p:nvPr/>
        </p:nvSpPr>
        <p:spPr>
          <a:xfrm>
            <a:off x="10479024" y="4384548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5" name="Text 180"/>
          <p:cNvSpPr/>
          <p:nvPr/>
        </p:nvSpPr>
        <p:spPr>
          <a:xfrm>
            <a:off x="10497312" y="4384548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107.80</a:t>
            </a:r>
            <a:endParaRPr lang="en-US" sz="850" dirty="0"/>
          </a:p>
        </p:txBody>
      </p:sp>
      <p:sp>
        <p:nvSpPr>
          <p:cNvPr id="186" name="Shape 181"/>
          <p:cNvSpPr/>
          <p:nvPr/>
        </p:nvSpPr>
        <p:spPr>
          <a:xfrm>
            <a:off x="5760720" y="4572000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7" name="Text 182"/>
          <p:cNvSpPr/>
          <p:nvPr/>
        </p:nvSpPr>
        <p:spPr>
          <a:xfrm>
            <a:off x="5779008" y="4572000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88" name="Shape 183"/>
          <p:cNvSpPr/>
          <p:nvPr/>
        </p:nvSpPr>
        <p:spPr>
          <a:xfrm>
            <a:off x="6080760" y="4572000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9" name="Text 184"/>
          <p:cNvSpPr/>
          <p:nvPr/>
        </p:nvSpPr>
        <p:spPr>
          <a:xfrm>
            <a:off x="6099048" y="4572000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190" name="Shape 185"/>
          <p:cNvSpPr/>
          <p:nvPr/>
        </p:nvSpPr>
        <p:spPr>
          <a:xfrm>
            <a:off x="8476488" y="4572000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1" name="Text 186"/>
          <p:cNvSpPr/>
          <p:nvPr/>
        </p:nvSpPr>
        <p:spPr>
          <a:xfrm>
            <a:off x="8494776" y="4572000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92" name="Shape 187"/>
          <p:cNvSpPr/>
          <p:nvPr/>
        </p:nvSpPr>
        <p:spPr>
          <a:xfrm>
            <a:off x="9070848" y="4572000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3" name="Text 188"/>
          <p:cNvSpPr/>
          <p:nvPr/>
        </p:nvSpPr>
        <p:spPr>
          <a:xfrm>
            <a:off x="9089136" y="4572000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94" name="Shape 189"/>
          <p:cNvSpPr/>
          <p:nvPr/>
        </p:nvSpPr>
        <p:spPr>
          <a:xfrm>
            <a:off x="9729216" y="4572000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5" name="Text 190"/>
          <p:cNvSpPr/>
          <p:nvPr/>
        </p:nvSpPr>
        <p:spPr>
          <a:xfrm>
            <a:off x="9747504" y="4572000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850" dirty="0"/>
          </a:p>
        </p:txBody>
      </p:sp>
      <p:sp>
        <p:nvSpPr>
          <p:cNvPr id="196" name="Shape 191"/>
          <p:cNvSpPr/>
          <p:nvPr/>
        </p:nvSpPr>
        <p:spPr>
          <a:xfrm>
            <a:off x="10479024" y="4572000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7" name="Text 192"/>
          <p:cNvSpPr/>
          <p:nvPr/>
        </p:nvSpPr>
        <p:spPr>
          <a:xfrm>
            <a:off x="10497312" y="4572000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107.80</a:t>
            </a:r>
            <a:endParaRPr lang="en-US" sz="850" dirty="0"/>
          </a:p>
        </p:txBody>
      </p:sp>
      <p:sp>
        <p:nvSpPr>
          <p:cNvPr id="198" name="Shape 193"/>
          <p:cNvSpPr/>
          <p:nvPr/>
        </p:nvSpPr>
        <p:spPr>
          <a:xfrm>
            <a:off x="5760720" y="4759452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4"/>
          <p:cNvSpPr/>
          <p:nvPr/>
        </p:nvSpPr>
        <p:spPr>
          <a:xfrm>
            <a:off x="5779008" y="4759452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200" name="Shape 195"/>
          <p:cNvSpPr/>
          <p:nvPr/>
        </p:nvSpPr>
        <p:spPr>
          <a:xfrm>
            <a:off x="6080760" y="4759452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1" name="Text 196"/>
          <p:cNvSpPr/>
          <p:nvPr/>
        </p:nvSpPr>
        <p:spPr>
          <a:xfrm>
            <a:off x="6099048" y="4759452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02" name="Shape 197"/>
          <p:cNvSpPr/>
          <p:nvPr/>
        </p:nvSpPr>
        <p:spPr>
          <a:xfrm>
            <a:off x="8476488" y="4759452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3" name="Text 198"/>
          <p:cNvSpPr/>
          <p:nvPr/>
        </p:nvSpPr>
        <p:spPr>
          <a:xfrm>
            <a:off x="8494776" y="4759452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850" dirty="0"/>
          </a:p>
        </p:txBody>
      </p:sp>
      <p:sp>
        <p:nvSpPr>
          <p:cNvPr id="204" name="Shape 199"/>
          <p:cNvSpPr/>
          <p:nvPr/>
        </p:nvSpPr>
        <p:spPr>
          <a:xfrm>
            <a:off x="9070848" y="4759452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5" name="Text 200"/>
          <p:cNvSpPr/>
          <p:nvPr/>
        </p:nvSpPr>
        <p:spPr>
          <a:xfrm>
            <a:off x="9089136" y="4759452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06" name="Shape 201"/>
          <p:cNvSpPr/>
          <p:nvPr/>
        </p:nvSpPr>
        <p:spPr>
          <a:xfrm>
            <a:off x="9729216" y="4759452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7" name="Text 202"/>
          <p:cNvSpPr/>
          <p:nvPr/>
        </p:nvSpPr>
        <p:spPr>
          <a:xfrm>
            <a:off x="9747504" y="4759452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0.419</a:t>
            </a:r>
            <a:endParaRPr lang="en-US" sz="850" dirty="0"/>
          </a:p>
        </p:txBody>
      </p:sp>
      <p:sp>
        <p:nvSpPr>
          <p:cNvPr id="208" name="Shape 203"/>
          <p:cNvSpPr/>
          <p:nvPr/>
        </p:nvSpPr>
        <p:spPr>
          <a:xfrm>
            <a:off x="10479024" y="4759452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9" name="Text 204"/>
          <p:cNvSpPr/>
          <p:nvPr/>
        </p:nvSpPr>
        <p:spPr>
          <a:xfrm>
            <a:off x="10497312" y="4759452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92.18</a:t>
            </a:r>
            <a:endParaRPr lang="en-US" sz="850" dirty="0"/>
          </a:p>
        </p:txBody>
      </p:sp>
      <p:sp>
        <p:nvSpPr>
          <p:cNvPr id="210" name="Shape 205"/>
          <p:cNvSpPr/>
          <p:nvPr/>
        </p:nvSpPr>
        <p:spPr>
          <a:xfrm>
            <a:off x="5760720" y="4946904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1" name="Text 206"/>
          <p:cNvSpPr/>
          <p:nvPr/>
        </p:nvSpPr>
        <p:spPr>
          <a:xfrm>
            <a:off x="5779008" y="4946904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12" name="Shape 207"/>
          <p:cNvSpPr/>
          <p:nvPr/>
        </p:nvSpPr>
        <p:spPr>
          <a:xfrm>
            <a:off x="6080760" y="4946904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3" name="Text 208"/>
          <p:cNvSpPr/>
          <p:nvPr/>
        </p:nvSpPr>
        <p:spPr>
          <a:xfrm>
            <a:off x="6099048" y="4946904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14" name="Shape 209"/>
          <p:cNvSpPr/>
          <p:nvPr/>
        </p:nvSpPr>
        <p:spPr>
          <a:xfrm>
            <a:off x="8476488" y="4946904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5" name="Text 210"/>
          <p:cNvSpPr/>
          <p:nvPr/>
        </p:nvSpPr>
        <p:spPr>
          <a:xfrm>
            <a:off x="8494776" y="4946904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850" dirty="0"/>
          </a:p>
        </p:txBody>
      </p:sp>
      <p:sp>
        <p:nvSpPr>
          <p:cNvPr id="216" name="Shape 211"/>
          <p:cNvSpPr/>
          <p:nvPr/>
        </p:nvSpPr>
        <p:spPr>
          <a:xfrm>
            <a:off x="9070848" y="4946904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7" name="Text 212"/>
          <p:cNvSpPr/>
          <p:nvPr/>
        </p:nvSpPr>
        <p:spPr>
          <a:xfrm>
            <a:off x="9089136" y="4946904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18" name="Shape 213"/>
          <p:cNvSpPr/>
          <p:nvPr/>
        </p:nvSpPr>
        <p:spPr>
          <a:xfrm>
            <a:off x="9729216" y="4946904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9" name="Text 214"/>
          <p:cNvSpPr/>
          <p:nvPr/>
        </p:nvSpPr>
        <p:spPr>
          <a:xfrm>
            <a:off x="9747504" y="4946904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1.723</a:t>
            </a:r>
            <a:endParaRPr lang="en-US" sz="850" dirty="0"/>
          </a:p>
        </p:txBody>
      </p:sp>
      <p:sp>
        <p:nvSpPr>
          <p:cNvPr id="220" name="Shape 215"/>
          <p:cNvSpPr/>
          <p:nvPr/>
        </p:nvSpPr>
        <p:spPr>
          <a:xfrm>
            <a:off x="10479024" y="4946904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21" name="Text 216"/>
          <p:cNvSpPr/>
          <p:nvPr/>
        </p:nvSpPr>
        <p:spPr>
          <a:xfrm>
            <a:off x="10497312" y="4946904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379.06</a:t>
            </a:r>
            <a:endParaRPr lang="en-US" sz="850" dirty="0"/>
          </a:p>
        </p:txBody>
      </p:sp>
      <p:sp>
        <p:nvSpPr>
          <p:cNvPr id="222" name="Shape 217"/>
          <p:cNvSpPr/>
          <p:nvPr/>
        </p:nvSpPr>
        <p:spPr>
          <a:xfrm>
            <a:off x="5760720" y="5134356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3" name="Text 218"/>
          <p:cNvSpPr/>
          <p:nvPr/>
        </p:nvSpPr>
        <p:spPr>
          <a:xfrm>
            <a:off x="5779008" y="5134356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24" name="Shape 219"/>
          <p:cNvSpPr/>
          <p:nvPr/>
        </p:nvSpPr>
        <p:spPr>
          <a:xfrm>
            <a:off x="6080760" y="5134356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5" name="Text 220"/>
          <p:cNvSpPr/>
          <p:nvPr/>
        </p:nvSpPr>
        <p:spPr>
          <a:xfrm>
            <a:off x="6099048" y="5134356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26" name="Shape 221"/>
          <p:cNvSpPr/>
          <p:nvPr/>
        </p:nvSpPr>
        <p:spPr>
          <a:xfrm>
            <a:off x="8476488" y="5134356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7" name="Text 222"/>
          <p:cNvSpPr/>
          <p:nvPr/>
        </p:nvSpPr>
        <p:spPr>
          <a:xfrm>
            <a:off x="8494776" y="5134356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50" dirty="0"/>
          </a:p>
        </p:txBody>
      </p:sp>
      <p:sp>
        <p:nvSpPr>
          <p:cNvPr id="228" name="Shape 223"/>
          <p:cNvSpPr/>
          <p:nvPr/>
        </p:nvSpPr>
        <p:spPr>
          <a:xfrm>
            <a:off x="9070848" y="5134356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9" name="Text 224"/>
          <p:cNvSpPr/>
          <p:nvPr/>
        </p:nvSpPr>
        <p:spPr>
          <a:xfrm>
            <a:off x="9089136" y="5134356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30" name="Shape 225"/>
          <p:cNvSpPr/>
          <p:nvPr/>
        </p:nvSpPr>
        <p:spPr>
          <a:xfrm>
            <a:off x="9729216" y="5134356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1" name="Text 226"/>
          <p:cNvSpPr/>
          <p:nvPr/>
        </p:nvSpPr>
        <p:spPr>
          <a:xfrm>
            <a:off x="9747504" y="5134356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1.501</a:t>
            </a:r>
            <a:endParaRPr lang="en-US" sz="850" dirty="0"/>
          </a:p>
        </p:txBody>
      </p:sp>
      <p:sp>
        <p:nvSpPr>
          <p:cNvPr id="232" name="Shape 227"/>
          <p:cNvSpPr/>
          <p:nvPr/>
        </p:nvSpPr>
        <p:spPr>
          <a:xfrm>
            <a:off x="10479024" y="5134356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3" name="Text 228"/>
          <p:cNvSpPr/>
          <p:nvPr/>
        </p:nvSpPr>
        <p:spPr>
          <a:xfrm>
            <a:off x="10497312" y="5134356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330.22</a:t>
            </a:r>
            <a:endParaRPr lang="en-US" sz="850" dirty="0"/>
          </a:p>
        </p:txBody>
      </p:sp>
      <p:sp>
        <p:nvSpPr>
          <p:cNvPr id="234" name="Shape 229"/>
          <p:cNvSpPr/>
          <p:nvPr/>
        </p:nvSpPr>
        <p:spPr>
          <a:xfrm>
            <a:off x="5760720" y="5321808"/>
            <a:ext cx="32004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35" name="Text 230"/>
          <p:cNvSpPr/>
          <p:nvPr/>
        </p:nvSpPr>
        <p:spPr>
          <a:xfrm>
            <a:off x="5779008" y="5321808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236" name="Shape 231"/>
          <p:cNvSpPr/>
          <p:nvPr/>
        </p:nvSpPr>
        <p:spPr>
          <a:xfrm>
            <a:off x="6080760" y="5321808"/>
            <a:ext cx="239572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37" name="Text 232"/>
          <p:cNvSpPr/>
          <p:nvPr/>
        </p:nvSpPr>
        <p:spPr>
          <a:xfrm>
            <a:off x="6099048" y="5321808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38" name="Shape 233"/>
          <p:cNvSpPr/>
          <p:nvPr/>
        </p:nvSpPr>
        <p:spPr>
          <a:xfrm>
            <a:off x="8476488" y="5321808"/>
            <a:ext cx="594360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39" name="Text 234"/>
          <p:cNvSpPr/>
          <p:nvPr/>
        </p:nvSpPr>
        <p:spPr>
          <a:xfrm>
            <a:off x="8494776" y="5321808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850" dirty="0"/>
          </a:p>
        </p:txBody>
      </p:sp>
      <p:sp>
        <p:nvSpPr>
          <p:cNvPr id="240" name="Shape 235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1" name="Text 236"/>
          <p:cNvSpPr/>
          <p:nvPr/>
        </p:nvSpPr>
        <p:spPr>
          <a:xfrm>
            <a:off x="9089136" y="5321808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42" name="Shape 237"/>
          <p:cNvSpPr/>
          <p:nvPr/>
        </p:nvSpPr>
        <p:spPr>
          <a:xfrm>
            <a:off x="9729216" y="5321808"/>
            <a:ext cx="749808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3" name="Text 238"/>
          <p:cNvSpPr/>
          <p:nvPr/>
        </p:nvSpPr>
        <p:spPr>
          <a:xfrm>
            <a:off x="9747504" y="5321808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1.177</a:t>
            </a:r>
            <a:endParaRPr lang="en-US" sz="850" dirty="0"/>
          </a:p>
        </p:txBody>
      </p:sp>
      <p:sp>
        <p:nvSpPr>
          <p:cNvPr id="244" name="Shape 239"/>
          <p:cNvSpPr/>
          <p:nvPr/>
        </p:nvSpPr>
        <p:spPr>
          <a:xfrm>
            <a:off x="10479024" y="5321808"/>
            <a:ext cx="1335024" cy="1828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5" name="Text 240"/>
          <p:cNvSpPr/>
          <p:nvPr/>
        </p:nvSpPr>
        <p:spPr>
          <a:xfrm>
            <a:off x="10497312" y="5321808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258.94</a:t>
            </a:r>
            <a:endParaRPr lang="en-US" sz="850" dirty="0"/>
          </a:p>
        </p:txBody>
      </p:sp>
      <p:sp>
        <p:nvSpPr>
          <p:cNvPr id="246" name="Shape 241"/>
          <p:cNvSpPr/>
          <p:nvPr/>
        </p:nvSpPr>
        <p:spPr>
          <a:xfrm>
            <a:off x="5760720" y="5509260"/>
            <a:ext cx="3200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7" name="Text 242"/>
          <p:cNvSpPr/>
          <p:nvPr/>
        </p:nvSpPr>
        <p:spPr>
          <a:xfrm>
            <a:off x="5779008" y="5509260"/>
            <a:ext cx="29260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48" name="Shape 243"/>
          <p:cNvSpPr/>
          <p:nvPr/>
        </p:nvSpPr>
        <p:spPr>
          <a:xfrm>
            <a:off x="6080760" y="5509260"/>
            <a:ext cx="239572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9" name="Text 244"/>
          <p:cNvSpPr/>
          <p:nvPr/>
        </p:nvSpPr>
        <p:spPr>
          <a:xfrm>
            <a:off x="6099048" y="5509260"/>
            <a:ext cx="236829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cateniformis Ducke</a:t>
            </a:r>
            <a:endParaRPr lang="en-US" sz="850" dirty="0"/>
          </a:p>
        </p:txBody>
      </p:sp>
      <p:sp>
        <p:nvSpPr>
          <p:cNvPr id="250" name="Shape 245"/>
          <p:cNvSpPr/>
          <p:nvPr/>
        </p:nvSpPr>
        <p:spPr>
          <a:xfrm>
            <a:off x="8476488" y="5509260"/>
            <a:ext cx="594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1" name="Text 246"/>
          <p:cNvSpPr/>
          <p:nvPr/>
        </p:nvSpPr>
        <p:spPr>
          <a:xfrm>
            <a:off x="8494776" y="5509260"/>
            <a:ext cx="56692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850" dirty="0"/>
          </a:p>
        </p:txBody>
      </p:sp>
      <p:sp>
        <p:nvSpPr>
          <p:cNvPr id="252" name="Shape 247"/>
          <p:cNvSpPr/>
          <p:nvPr/>
        </p:nvSpPr>
        <p:spPr>
          <a:xfrm>
            <a:off x="9070848" y="5509260"/>
            <a:ext cx="65836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3" name="Text 248"/>
          <p:cNvSpPr/>
          <p:nvPr/>
        </p:nvSpPr>
        <p:spPr>
          <a:xfrm>
            <a:off x="9089136" y="5509260"/>
            <a:ext cx="6309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54" name="Shape 249"/>
          <p:cNvSpPr/>
          <p:nvPr/>
        </p:nvSpPr>
        <p:spPr>
          <a:xfrm>
            <a:off x="9729216" y="5509260"/>
            <a:ext cx="7498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5" name="Text 250"/>
          <p:cNvSpPr/>
          <p:nvPr/>
        </p:nvSpPr>
        <p:spPr>
          <a:xfrm>
            <a:off x="9747504" y="5509260"/>
            <a:ext cx="72237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850" dirty="0"/>
          </a:p>
        </p:txBody>
      </p:sp>
      <p:sp>
        <p:nvSpPr>
          <p:cNvPr id="256" name="Shape 251"/>
          <p:cNvSpPr/>
          <p:nvPr/>
        </p:nvSpPr>
        <p:spPr>
          <a:xfrm>
            <a:off x="10479024" y="5509260"/>
            <a:ext cx="133502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7" name="Text 252"/>
          <p:cNvSpPr/>
          <p:nvPr/>
        </p:nvSpPr>
        <p:spPr>
          <a:xfrm>
            <a:off x="10497312" y="5509260"/>
            <a:ext cx="130759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211.42</a:t>
            </a:r>
            <a:endParaRPr lang="en-US" sz="850" dirty="0"/>
          </a:p>
        </p:txBody>
      </p:sp>
      <p:sp>
        <p:nvSpPr>
          <p:cNvPr id="258" name="Shape 253"/>
          <p:cNvSpPr/>
          <p:nvPr/>
        </p:nvSpPr>
        <p:spPr>
          <a:xfrm>
            <a:off x="5760720" y="5696712"/>
            <a:ext cx="32004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59" name="Text 254"/>
          <p:cNvSpPr/>
          <p:nvPr/>
        </p:nvSpPr>
        <p:spPr>
          <a:xfrm>
            <a:off x="5779008" y="5696712"/>
            <a:ext cx="29260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0" name="Shape 255"/>
          <p:cNvSpPr/>
          <p:nvPr/>
        </p:nvSpPr>
        <p:spPr>
          <a:xfrm>
            <a:off x="6080760" y="5696712"/>
            <a:ext cx="2395728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1" name="Text 256"/>
          <p:cNvSpPr/>
          <p:nvPr/>
        </p:nvSpPr>
        <p:spPr>
          <a:xfrm>
            <a:off x="6099048" y="5696712"/>
            <a:ext cx="236829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14 árboles</a:t>
            </a:r>
            <a:endParaRPr lang="en-US" sz="900" dirty="0"/>
          </a:p>
        </p:txBody>
      </p:sp>
      <p:sp>
        <p:nvSpPr>
          <p:cNvPr id="262" name="Shape 257"/>
          <p:cNvSpPr/>
          <p:nvPr/>
        </p:nvSpPr>
        <p:spPr>
          <a:xfrm>
            <a:off x="8476488" y="5696712"/>
            <a:ext cx="59436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3" name="Text 258"/>
          <p:cNvSpPr/>
          <p:nvPr/>
        </p:nvSpPr>
        <p:spPr>
          <a:xfrm>
            <a:off x="8494776" y="5696712"/>
            <a:ext cx="56692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4" name="Shape 259"/>
          <p:cNvSpPr/>
          <p:nvPr/>
        </p:nvSpPr>
        <p:spPr>
          <a:xfrm>
            <a:off x="9070848" y="5696712"/>
            <a:ext cx="658368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5" name="Text 260"/>
          <p:cNvSpPr/>
          <p:nvPr/>
        </p:nvSpPr>
        <p:spPr>
          <a:xfrm>
            <a:off x="9089136" y="5696712"/>
            <a:ext cx="63093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6" name="Shape 261"/>
          <p:cNvSpPr/>
          <p:nvPr/>
        </p:nvSpPr>
        <p:spPr>
          <a:xfrm>
            <a:off x="9729216" y="5696712"/>
            <a:ext cx="749808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7" name="Text 262"/>
          <p:cNvSpPr/>
          <p:nvPr/>
        </p:nvSpPr>
        <p:spPr>
          <a:xfrm>
            <a:off x="9747504" y="5696712"/>
            <a:ext cx="722376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</a:t>
            </a:r>
            <a:endParaRPr lang="en-US" sz="900" dirty="0"/>
          </a:p>
        </p:txBody>
      </p:sp>
      <p:sp>
        <p:nvSpPr>
          <p:cNvPr id="268" name="Shape 263"/>
          <p:cNvSpPr/>
          <p:nvPr/>
        </p:nvSpPr>
        <p:spPr>
          <a:xfrm>
            <a:off x="10479024" y="5696712"/>
            <a:ext cx="1335024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9" name="Text 264"/>
          <p:cNvSpPr/>
          <p:nvPr/>
        </p:nvSpPr>
        <p:spPr>
          <a:xfrm>
            <a:off x="10497312" y="5696712"/>
            <a:ext cx="13075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3,354.56</a:t>
            </a:r>
            <a:endParaRPr lang="en-US" sz="900" dirty="0"/>
          </a:p>
        </p:txBody>
      </p:sp>
      <p:sp>
        <p:nvSpPr>
          <p:cNvPr id="270" name="Shape 265"/>
          <p:cNvSpPr/>
          <p:nvPr/>
        </p:nvSpPr>
        <p:spPr>
          <a:xfrm>
            <a:off x="5760720" y="6044184"/>
            <a:ext cx="6236208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1" name="Text 266"/>
          <p:cNvSpPr/>
          <p:nvPr/>
        </p:nvSpPr>
        <p:spPr>
          <a:xfrm>
            <a:off x="5870448" y="6080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ZONIFICACIÓN FORESTAL</a:t>
            </a:r>
            <a:endParaRPr lang="en-US" sz="1000" dirty="0"/>
          </a:p>
        </p:txBody>
      </p:sp>
      <p:sp>
        <p:nvSpPr>
          <p:cNvPr id="272" name="Text 267"/>
          <p:cNvSpPr/>
          <p:nvPr/>
        </p:nvSpPr>
        <p:spPr>
          <a:xfrm>
            <a:off x="5870448" y="6300216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ZF-60301 — Zona de Recuperación de Cobertura Forestal con fines de producción maderera  (RM N° 0046-2024-MIDAGRI-DM)  ·  CUM: Clase C3-C2, subclase s y e  ·  Pérdida total: 0.547 ha de bosque secundario (Copernicus sep-oct 2025)</a:t>
            </a:r>
            <a:endParaRPr lang="en-US" sz="850" dirty="0"/>
          </a:p>
        </p:txBody>
      </p:sp>
      <p:sp>
        <p:nvSpPr>
          <p:cNvPr id="273" name="Shape 268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4" name="Shape 269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275" name="Text 270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CONCLUSIÓN: INICIAR PAS — Infracciones MUY GRAVE Ítems 19 y 21 — S/ 10,734.59 · Derivar a 2° FEMA-Ucayali (Art. 310° CP) · Comunicar a ANA (Art. 75° Ley 29338) · Diapositiva 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B7A3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INSTRUCTIVO N° 001-2026-GRU-GGR-GRFFS-SOFFSPA-PAS/CRR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Informe Final del PAS contra JOEL MIKE DURAN JORGE — CTP DECOMADERA DURAN G&amp;R E.I.R.L.  ·  Autoridad Instructora: Ing. Cubillas Romero Ramírez  ·  Fecha: 12 Febrero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multa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(UIT 2026=S/5,500)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 PFM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Decomisado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286000"/>
            <a:ext cx="5486400" cy="42245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286000"/>
            <a:ext cx="5486400" cy="347472"/>
          </a:xfrm>
          <a:prstGeom prst="rect">
            <a:avLst/>
          </a:prstGeom>
          <a:solidFill>
            <a:srgbClr val="1B7A34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340864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PROBADOS — CONDUCTA INFRACTORA (Art. 248° TUO LPAG)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633472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633472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633472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633472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Posesión de 8 trozas de madera en rollo sin GTF ni doc. de origen legal (verbo rector: POSEER — infracción de peligro abstracto)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3118104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3118104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3118104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3118104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22, Anexo 1, D.S. 007-2021-MIDAGRI — no requiere acreditar daño ambiental concreto ni ID de fuente ilícita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602736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602736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602736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Culpabilidad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602736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simple (negligencia) — omisión del deber de diligencia del representante legal del CTP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4087368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4087368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4087368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descargos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4087368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 NO presentó descargo dentro del plazo de 10 días hábiles — hechos adquieren firmeza probatoria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572000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572000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572000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eximentes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572000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acreditó fuerza mayor, caso fortuito ni error invencible de hecho (Art. 257° TUO LPAG)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5056632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5056632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5056632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cautelar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5056632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ejecutado en campo — fundamento: Art. 126° Ley N° 29763 + Art. 10° RISMFFS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5541264"/>
            <a:ext cx="5486400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5541264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5541264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prescripción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5541264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advierte prescripción ni caducidad — actuaciones dentro del plazo legal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6025896"/>
            <a:ext cx="54864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6025896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6025896"/>
            <a:ext cx="130759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6025896"/>
            <a:ext cx="4023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 (B. utile), Palisangre (B. rubescens), Marupa (S. amara) — sin categoría DS043 ni CITES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5760720" y="2286000"/>
            <a:ext cx="6236208" cy="42245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5760720" y="2286000"/>
            <a:ext cx="6236208" cy="347472"/>
          </a:xfrm>
          <a:prstGeom prst="rect">
            <a:avLst/>
          </a:prstGeom>
          <a:solidFill>
            <a:srgbClr val="F4831F"/>
          </a:solidFill>
          <a:ln/>
        </p:spPr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340864"/>
            <a:ext cx="237744" cy="237744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163056" y="2286000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GRADUALIDAD — R.D.E. N° 004-2018-SERFOR-DE</a:t>
            </a:r>
            <a:endParaRPr lang="en-US" sz="1200" dirty="0"/>
          </a:p>
        </p:txBody>
      </p:sp>
      <p:sp>
        <p:nvSpPr>
          <p:cNvPr id="65" name="Shape 60"/>
          <p:cNvSpPr/>
          <p:nvPr/>
        </p:nvSpPr>
        <p:spPr>
          <a:xfrm>
            <a:off x="5760720" y="2633472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6" name="Shape 61"/>
          <p:cNvSpPr/>
          <p:nvPr/>
        </p:nvSpPr>
        <p:spPr>
          <a:xfrm>
            <a:off x="5760720" y="2633472"/>
            <a:ext cx="91440" cy="47548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67" name="Text 62"/>
          <p:cNvSpPr/>
          <p:nvPr/>
        </p:nvSpPr>
        <p:spPr>
          <a:xfrm>
            <a:off x="5888736" y="2633472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ilícito (B)</a:t>
            </a:r>
            <a:endParaRPr lang="en-US" sz="850" dirty="0"/>
          </a:p>
        </p:txBody>
      </p:sp>
      <p:sp>
        <p:nvSpPr>
          <p:cNvPr id="68" name="Shape 63"/>
          <p:cNvSpPr/>
          <p:nvPr/>
        </p:nvSpPr>
        <p:spPr>
          <a:xfrm>
            <a:off x="7680960" y="2715768"/>
            <a:ext cx="114300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69" name="Text 64"/>
          <p:cNvSpPr/>
          <p:nvPr/>
        </p:nvSpPr>
        <p:spPr>
          <a:xfrm>
            <a:off x="7680960" y="2715768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2,639.01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8887968" y="2633472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7.997 m³ a S/ 1.50/PT mercado local — IT N°008-2025-VJPT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5760720" y="3118104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7"/>
          <p:cNvSpPr/>
          <p:nvPr/>
        </p:nvSpPr>
        <p:spPr>
          <a:xfrm>
            <a:off x="5760720" y="3118104"/>
            <a:ext cx="91440" cy="475488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73" name="Text 68"/>
          <p:cNvSpPr/>
          <p:nvPr/>
        </p:nvSpPr>
        <p:spPr>
          <a:xfrm>
            <a:off x="5888736" y="3118104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evitados (C)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7680960" y="3200400"/>
            <a:ext cx="114300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75" name="Text 70"/>
          <p:cNvSpPr/>
          <p:nvPr/>
        </p:nvSpPr>
        <p:spPr>
          <a:xfrm>
            <a:off x="7680960" y="3200400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 no obtenida</a:t>
            </a:r>
            <a:endParaRPr lang="en-US" sz="800" dirty="0"/>
          </a:p>
        </p:txBody>
      </p:sp>
      <p:sp>
        <p:nvSpPr>
          <p:cNvPr id="76" name="Text 71"/>
          <p:cNvSpPr/>
          <p:nvPr/>
        </p:nvSpPr>
        <p:spPr>
          <a:xfrm>
            <a:off x="8887968" y="3118104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evitó tramitar Guía de Transporte Forestal requerida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5760720" y="3602736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8" name="Shape 73"/>
          <p:cNvSpPr/>
          <p:nvPr/>
        </p:nvSpPr>
        <p:spPr>
          <a:xfrm>
            <a:off x="5760720" y="3602736"/>
            <a:ext cx="91440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9" name="Text 74"/>
          <p:cNvSpPr/>
          <p:nvPr/>
        </p:nvSpPr>
        <p:spPr>
          <a:xfrm>
            <a:off x="5888736" y="3602736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detección (Pd)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7680960" y="3685032"/>
            <a:ext cx="114300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1" name="Text 76"/>
          <p:cNvSpPr/>
          <p:nvPr/>
        </p:nvSpPr>
        <p:spPr>
          <a:xfrm>
            <a:off x="7680960" y="3685032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82" name="Text 77"/>
          <p:cNvSpPr/>
          <p:nvPr/>
        </p:nvSpPr>
        <p:spPr>
          <a:xfrm>
            <a:off x="8887968" y="3602736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inopinada al CTP — control rutinario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5760720" y="4087368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79"/>
          <p:cNvSpPr/>
          <p:nvPr/>
        </p:nvSpPr>
        <p:spPr>
          <a:xfrm>
            <a:off x="5760720" y="4087368"/>
            <a:ext cx="91440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5" name="Text 80"/>
          <p:cNvSpPr/>
          <p:nvPr/>
        </p:nvSpPr>
        <p:spPr>
          <a:xfrm>
            <a:off x="5888736" y="4087368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Perjuicio al Estado (Pe)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7680960" y="4169664"/>
            <a:ext cx="114300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7" name="Text 82"/>
          <p:cNvSpPr/>
          <p:nvPr/>
        </p:nvSpPr>
        <p:spPr>
          <a:xfrm>
            <a:off x="7680960" y="4169664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Cuantía baja</a:t>
            </a:r>
            <a:endParaRPr lang="en-US" sz="800" dirty="0"/>
          </a:p>
        </p:txBody>
      </p:sp>
      <p:sp>
        <p:nvSpPr>
          <p:cNvPr id="88" name="Text 83"/>
          <p:cNvSpPr/>
          <p:nvPr/>
        </p:nvSpPr>
        <p:spPr>
          <a:xfrm>
            <a:off x="8887968" y="4087368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aprovechamiento no acreditados — S/ 2,639.01</a:t>
            </a:r>
            <a:endParaRPr lang="en-US" sz="850" dirty="0"/>
          </a:p>
        </p:txBody>
      </p:sp>
      <p:sp>
        <p:nvSpPr>
          <p:cNvPr id="89" name="Shape 84"/>
          <p:cNvSpPr/>
          <p:nvPr/>
        </p:nvSpPr>
        <p:spPr>
          <a:xfrm>
            <a:off x="5760720" y="4572000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0" name="Shape 85"/>
          <p:cNvSpPr/>
          <p:nvPr/>
        </p:nvSpPr>
        <p:spPr>
          <a:xfrm>
            <a:off x="5760720" y="4572000"/>
            <a:ext cx="9144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1" name="Text 86"/>
          <p:cNvSpPr/>
          <p:nvPr/>
        </p:nvSpPr>
        <p:spPr>
          <a:xfrm>
            <a:off x="5888736" y="4572000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Gravedad daño (G)</a:t>
            </a:r>
            <a:endParaRPr lang="en-US" sz="850" dirty="0"/>
          </a:p>
        </p:txBody>
      </p:sp>
      <p:sp>
        <p:nvSpPr>
          <p:cNvPr id="92" name="Shape 87"/>
          <p:cNvSpPr/>
          <p:nvPr/>
        </p:nvSpPr>
        <p:spPr>
          <a:xfrm>
            <a:off x="7680960" y="4654296"/>
            <a:ext cx="114300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3" name="Text 88"/>
          <p:cNvSpPr/>
          <p:nvPr/>
        </p:nvSpPr>
        <p:spPr>
          <a:xfrm>
            <a:off x="7680960" y="4654296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abstracto</a:t>
            </a:r>
            <a:endParaRPr lang="en-US" sz="800" dirty="0"/>
          </a:p>
        </p:txBody>
      </p:sp>
      <p:sp>
        <p:nvSpPr>
          <p:cNvPr id="94" name="Text 89"/>
          <p:cNvSpPr/>
          <p:nvPr/>
        </p:nvSpPr>
        <p:spPr>
          <a:xfrm>
            <a:off x="8887968" y="4572000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Afectación a la cadena de control forestal — sin ID origen ilícito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5760720" y="5056632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1"/>
          <p:cNvSpPr/>
          <p:nvPr/>
        </p:nvSpPr>
        <p:spPr>
          <a:xfrm>
            <a:off x="5760720" y="5056632"/>
            <a:ext cx="9144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7" name="Text 92"/>
          <p:cNvSpPr/>
          <p:nvPr/>
        </p:nvSpPr>
        <p:spPr>
          <a:xfrm>
            <a:off x="5888736" y="5056632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amenaza (A)</a:t>
            </a:r>
            <a:endParaRPr lang="en-US" sz="850" dirty="0"/>
          </a:p>
        </p:txBody>
      </p:sp>
      <p:sp>
        <p:nvSpPr>
          <p:cNvPr id="98" name="Shape 93"/>
          <p:cNvSpPr/>
          <p:nvPr/>
        </p:nvSpPr>
        <p:spPr>
          <a:xfrm>
            <a:off x="7680960" y="5138928"/>
            <a:ext cx="114300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9" name="Text 94"/>
          <p:cNvSpPr/>
          <p:nvPr/>
        </p:nvSpPr>
        <p:spPr>
          <a:xfrm>
            <a:off x="7680960" y="5138928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categoría</a:t>
            </a:r>
            <a:endParaRPr lang="en-US" sz="800" dirty="0"/>
          </a:p>
        </p:txBody>
      </p:sp>
      <p:sp>
        <p:nvSpPr>
          <p:cNvPr id="100" name="Text 95"/>
          <p:cNvSpPr/>
          <p:nvPr/>
        </p:nvSpPr>
        <p:spPr>
          <a:xfrm>
            <a:off x="8887968" y="5056632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Panguana, Palisangre, Marupa — ninguna en DS043 ni CITES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5760720" y="5541264"/>
            <a:ext cx="6236208" cy="47548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2" name="Shape 97"/>
          <p:cNvSpPr/>
          <p:nvPr/>
        </p:nvSpPr>
        <p:spPr>
          <a:xfrm>
            <a:off x="5760720" y="5541264"/>
            <a:ext cx="91440" cy="47548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3" name="Text 98"/>
          <p:cNvSpPr/>
          <p:nvPr/>
        </p:nvSpPr>
        <p:spPr>
          <a:xfrm>
            <a:off x="5888736" y="5541264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regeneración (R)</a:t>
            </a:r>
            <a:endParaRPr lang="en-US" sz="850" dirty="0"/>
          </a:p>
        </p:txBody>
      </p:sp>
      <p:sp>
        <p:nvSpPr>
          <p:cNvPr id="104" name="Shape 99"/>
          <p:cNvSpPr/>
          <p:nvPr/>
        </p:nvSpPr>
        <p:spPr>
          <a:xfrm>
            <a:off x="7680960" y="5623560"/>
            <a:ext cx="1143000" cy="31089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5" name="Text 100"/>
          <p:cNvSpPr/>
          <p:nvPr/>
        </p:nvSpPr>
        <p:spPr>
          <a:xfrm>
            <a:off x="7680960" y="5623560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50%</a:t>
            </a:r>
            <a:endParaRPr lang="en-US" sz="800" dirty="0"/>
          </a:p>
        </p:txBody>
      </p:sp>
      <p:sp>
        <p:nvSpPr>
          <p:cNvPr id="106" name="Text 101"/>
          <p:cNvSpPr/>
          <p:nvPr/>
        </p:nvSpPr>
        <p:spPr>
          <a:xfrm>
            <a:off x="8887968" y="5541264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no determinable en trozas — aplica 50% conforme R.D.E.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5760720" y="6025896"/>
            <a:ext cx="62362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103"/>
          <p:cNvSpPr/>
          <p:nvPr/>
        </p:nvSpPr>
        <p:spPr>
          <a:xfrm>
            <a:off x="5760720" y="6025896"/>
            <a:ext cx="91440" cy="47548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09" name="Text 104"/>
          <p:cNvSpPr/>
          <p:nvPr/>
        </p:nvSpPr>
        <p:spPr>
          <a:xfrm>
            <a:off x="5888736" y="6025896"/>
            <a:ext cx="1755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Agravantes/Atenuantes</a:t>
            </a:r>
            <a:endParaRPr lang="en-US" sz="850" dirty="0"/>
          </a:p>
        </p:txBody>
      </p:sp>
      <p:sp>
        <p:nvSpPr>
          <p:cNvPr id="110" name="Shape 105"/>
          <p:cNvSpPr/>
          <p:nvPr/>
        </p:nvSpPr>
        <p:spPr>
          <a:xfrm>
            <a:off x="7680960" y="6108192"/>
            <a:ext cx="1143000" cy="31089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1" name="Text 106"/>
          <p:cNvSpPr/>
          <p:nvPr/>
        </p:nvSpPr>
        <p:spPr>
          <a:xfrm>
            <a:off x="7680960" y="6108192"/>
            <a:ext cx="11430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reiterancia</a:t>
            </a:r>
            <a:endParaRPr lang="en-US" sz="800" dirty="0"/>
          </a:p>
        </p:txBody>
      </p:sp>
      <p:sp>
        <p:nvSpPr>
          <p:cNvPr id="112" name="Text 107"/>
          <p:cNvSpPr/>
          <p:nvPr/>
        </p:nvSpPr>
        <p:spPr>
          <a:xfrm>
            <a:off x="8887968" y="6025896"/>
            <a:ext cx="3063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Colaboró con la fiscalización — sin antecedentes sancionatorios</a:t>
            </a:r>
            <a:endParaRPr lang="en-US" sz="850" dirty="0"/>
          </a:p>
        </p:txBody>
      </p:sp>
      <p:sp>
        <p:nvSpPr>
          <p:cNvPr id="113" name="Shape 108"/>
          <p:cNvSpPr/>
          <p:nvPr/>
        </p:nvSpPr>
        <p:spPr>
          <a:xfrm>
            <a:off x="164592" y="6601968"/>
            <a:ext cx="11832336" cy="512064"/>
          </a:xfrm>
          <a:prstGeom prst="rect">
            <a:avLst/>
          </a:prstGeom>
          <a:solidFill>
            <a:srgbClr val="1B7A3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6693408"/>
            <a:ext cx="329184" cy="329184"/>
          </a:xfrm>
          <a:prstGeom prst="rect">
            <a:avLst/>
          </a:prstGeom>
        </p:spPr>
      </p:pic>
      <p:sp>
        <p:nvSpPr>
          <p:cNvPr id="115" name="Text 109"/>
          <p:cNvSpPr/>
          <p:nvPr/>
        </p:nvSpPr>
        <p:spPr>
          <a:xfrm>
            <a:off x="658368" y="660196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PROPUESTA: 0.4790 UIT = S/ 2,634.24</a:t>
            </a:r>
            <a:endParaRPr lang="en-US" sz="1500" dirty="0"/>
          </a:p>
        </p:txBody>
      </p:sp>
      <p:sp>
        <p:nvSpPr>
          <p:cNvPr id="116" name="Text 110"/>
          <p:cNvSpPr/>
          <p:nvPr/>
        </p:nvSpPr>
        <p:spPr>
          <a:xfrm>
            <a:off x="7132320" y="6601968"/>
            <a:ext cx="466344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sobre UIT 2026 = S/ 5,500 (D.S. N° 007-2025-EF) · Se actualizará al valor UIT vigente al momento de cancelación · Rango legal: más de 10 UIT hasta 5,000 UIT · Factor: 0.4790 UIT</a:t>
            </a:r>
            <a:endParaRPr lang="en-US" sz="900" dirty="0"/>
          </a:p>
        </p:txBody>
      </p:sp>
      <p:sp>
        <p:nvSpPr>
          <p:cNvPr id="117" name="Shape 111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8" name="Shape 112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19" name="Text 113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RECOMENDACIÓN: IMPONER MULTA 0.4790 UIT — MANTENER decomiso PFM (Art. 213° DS 018-2015-MINAGRI) — Elevar al Órgano Sancionador GERFFS-U · Diapositiva 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D4ED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INSTRUCTIVO N° 002-2026 — ROBINSON RIVADENEYRA REÁTEGUI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Elmer — Caserío Miguel Grau, Neshuya — Ítems 19 y 21 — DOLO DIRECTO: Palma aceitera sembrada en área desboscada  · 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287121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0.5274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9456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42416"/>
            <a:ext cx="2871216" cy="5486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163824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2,900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18688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multa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(UIT=S/5,500)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3056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042416"/>
            <a:ext cx="2871216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3.2715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217920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Desboscadas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62288" y="1042416"/>
            <a:ext cx="2871216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62288" y="1042416"/>
            <a:ext cx="2871216" cy="5486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23" name="Text 20"/>
          <p:cNvSpPr/>
          <p:nvPr/>
        </p:nvSpPr>
        <p:spPr>
          <a:xfrm>
            <a:off x="9162288" y="1115568"/>
            <a:ext cx="2871216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217152" y="1734068"/>
            <a:ext cx="2761488" cy="37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 aceitera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sembrada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2286000"/>
            <a:ext cx="5486400" cy="42245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64592" y="2286000"/>
            <a:ext cx="5486400" cy="347472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340864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PROBADOS — CONDUCTA INFRACTORA (Art. 248° TUO LPAG)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64592" y="2633472"/>
            <a:ext cx="5486400" cy="37490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Shape 26"/>
          <p:cNvSpPr/>
          <p:nvPr/>
        </p:nvSpPr>
        <p:spPr>
          <a:xfrm>
            <a:off x="164592" y="2633472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228600" y="2633472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581912" y="2633472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Robinson Rivadeneyra Reátegui — DNI N° 05278846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" y="3017520"/>
            <a:ext cx="54864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164592" y="3017520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1"/>
          <p:cNvSpPr/>
          <p:nvPr/>
        </p:nvSpPr>
        <p:spPr>
          <a:xfrm>
            <a:off x="228600" y="3017520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81912" y="3017520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Elmer — Caserío Miguel Grau, Neshuya, Padre Abad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64592" y="3401568"/>
            <a:ext cx="5486400" cy="37490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8" name="Shape 34"/>
          <p:cNvSpPr/>
          <p:nvPr/>
        </p:nvSpPr>
        <p:spPr>
          <a:xfrm>
            <a:off x="164592" y="3401568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228600" y="3401568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afectada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581912" y="3401568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3.2715 hectáreas — desbosque y tala entre agosto 2020 y agosto 2021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64592" y="3785616"/>
            <a:ext cx="54864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164592" y="3785616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" y="3785616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581912" y="3785616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árboles + 7 trozas / 6 especies / 10.376 m³ / 2,282.72 PT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64592" y="4169664"/>
            <a:ext cx="5486400" cy="37490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6" name="Shape 42"/>
          <p:cNvSpPr/>
          <p:nvPr/>
        </p:nvSpPr>
        <p:spPr>
          <a:xfrm>
            <a:off x="164592" y="4169664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4169664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Infracciones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581912" y="4169664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19 (retiro cobertura) + 21 (tala sin título) — MUY GRAVE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64592" y="4553712"/>
            <a:ext cx="54864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6"/>
          <p:cNvSpPr/>
          <p:nvPr/>
        </p:nvSpPr>
        <p:spPr>
          <a:xfrm>
            <a:off x="164592" y="4553712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7"/>
          <p:cNvSpPr/>
          <p:nvPr/>
        </p:nvSpPr>
        <p:spPr>
          <a:xfrm>
            <a:off x="228600" y="4553712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rector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581912" y="4553712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TALAR — ítem 21 como tipo principal (concurso Art. 246° TUO LPAG)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164592" y="4937760"/>
            <a:ext cx="5486400" cy="37490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4" name="Shape 50"/>
          <p:cNvSpPr/>
          <p:nvPr/>
        </p:nvSpPr>
        <p:spPr>
          <a:xfrm>
            <a:off x="164592" y="4937760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4937760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Culpabilidad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581912" y="4937760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 DIRECTO — palma aceitera (Elaeis guineensis) sembrada en área desboscada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64592" y="5321808"/>
            <a:ext cx="54864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164592" y="5321808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5"/>
          <p:cNvSpPr/>
          <p:nvPr/>
        </p:nvSpPr>
        <p:spPr>
          <a:xfrm>
            <a:off x="228600" y="5321808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Descargo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581912" y="5321808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23 Sep 2025 — DESESTIMADO — no desvirtúa indicios técnicos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164592" y="5705856"/>
            <a:ext cx="5486400" cy="37490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2" name="Shape 58"/>
          <p:cNvSpPr/>
          <p:nvPr/>
        </p:nvSpPr>
        <p:spPr>
          <a:xfrm>
            <a:off x="164592" y="5705856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9"/>
          <p:cNvSpPr/>
          <p:nvPr/>
        </p:nvSpPr>
        <p:spPr>
          <a:xfrm>
            <a:off x="228600" y="5705856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eximentes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1581912" y="5705856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Alegó incendio forestal — RECHAZADO por presencia de palma y análisis satelital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164592" y="6089904"/>
            <a:ext cx="54864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2"/>
          <p:cNvSpPr/>
          <p:nvPr/>
        </p:nvSpPr>
        <p:spPr>
          <a:xfrm>
            <a:off x="164592" y="6089904"/>
            <a:ext cx="1371600" cy="374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3"/>
          <p:cNvSpPr/>
          <p:nvPr/>
        </p:nvSpPr>
        <p:spPr>
          <a:xfrm>
            <a:off x="228600" y="6089904"/>
            <a:ext cx="1307592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1581912" y="6089904"/>
            <a:ext cx="40233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Legal Instructivo N° 04-2026-PAS/BBCR — 27 Feb 2026 — Continuar PAS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5760720" y="2286000"/>
            <a:ext cx="6236208" cy="42245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6"/>
          <p:cNvSpPr/>
          <p:nvPr/>
        </p:nvSpPr>
        <p:spPr>
          <a:xfrm>
            <a:off x="5760720" y="2286000"/>
            <a:ext cx="6236208" cy="347472"/>
          </a:xfrm>
          <a:prstGeom prst="rect">
            <a:avLst/>
          </a:prstGeom>
          <a:solidFill>
            <a:srgbClr val="F4831F"/>
          </a:solidFill>
          <a:ln/>
        </p:spPr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340864"/>
            <a:ext cx="237744" cy="237744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6163056" y="2286000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GRADUALIDAD — MULTA 0.5274 UIT = S/ 2,900.70</a:t>
            </a:r>
            <a:endParaRPr lang="en-US" sz="1200" dirty="0"/>
          </a:p>
        </p:txBody>
      </p:sp>
      <p:sp>
        <p:nvSpPr>
          <p:cNvPr id="73" name="Shape 68"/>
          <p:cNvSpPr/>
          <p:nvPr/>
        </p:nvSpPr>
        <p:spPr>
          <a:xfrm>
            <a:off x="5760720" y="2633472"/>
            <a:ext cx="6236208" cy="4663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4" name="Shape 69"/>
          <p:cNvSpPr/>
          <p:nvPr/>
        </p:nvSpPr>
        <p:spPr>
          <a:xfrm>
            <a:off x="5760720" y="2633472"/>
            <a:ext cx="91440" cy="46634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75" name="Text 70"/>
          <p:cNvSpPr/>
          <p:nvPr/>
        </p:nvSpPr>
        <p:spPr>
          <a:xfrm>
            <a:off x="5888736" y="2633472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ilícito (B)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7680960" y="2715768"/>
            <a:ext cx="123444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77" name="Text 72"/>
          <p:cNvSpPr/>
          <p:nvPr/>
        </p:nvSpPr>
        <p:spPr>
          <a:xfrm>
            <a:off x="7680960" y="2715768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estim.</a:t>
            </a:r>
            <a:endParaRPr lang="en-US" sz="750" dirty="0"/>
          </a:p>
        </p:txBody>
      </p:sp>
      <p:sp>
        <p:nvSpPr>
          <p:cNvPr id="78" name="Text 73"/>
          <p:cNvSpPr/>
          <p:nvPr/>
        </p:nvSpPr>
        <p:spPr>
          <a:xfrm>
            <a:off x="8979408" y="2633472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precio de referencia específico — criterio supletorio 20% Lineamientos §6.2</a:t>
            </a:r>
            <a:endParaRPr lang="en-US" sz="800" dirty="0"/>
          </a:p>
        </p:txBody>
      </p:sp>
      <p:sp>
        <p:nvSpPr>
          <p:cNvPr id="79" name="Shape 74"/>
          <p:cNvSpPr/>
          <p:nvPr/>
        </p:nvSpPr>
        <p:spPr>
          <a:xfrm>
            <a:off x="5760720" y="3108960"/>
            <a:ext cx="6236208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5"/>
          <p:cNvSpPr/>
          <p:nvPr/>
        </p:nvSpPr>
        <p:spPr>
          <a:xfrm>
            <a:off x="5760720" y="3108960"/>
            <a:ext cx="91440" cy="466344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81" name="Text 76"/>
          <p:cNvSpPr/>
          <p:nvPr/>
        </p:nvSpPr>
        <p:spPr>
          <a:xfrm>
            <a:off x="5888736" y="3108960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evitados (C)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7680960" y="3191256"/>
            <a:ext cx="1234440" cy="310896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83" name="Text 78"/>
          <p:cNvSpPr/>
          <p:nvPr/>
        </p:nvSpPr>
        <p:spPr>
          <a:xfrm>
            <a:off x="7680960" y="3191256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Desbosque</a:t>
            </a:r>
            <a:endParaRPr lang="en-US" sz="750" dirty="0"/>
          </a:p>
        </p:txBody>
      </p:sp>
      <p:sp>
        <p:nvSpPr>
          <p:cNvPr id="84" name="Text 79"/>
          <p:cNvSpPr/>
          <p:nvPr/>
        </p:nvSpPr>
        <p:spPr>
          <a:xfrm>
            <a:off x="8979408" y="3108960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evitó autorización de desbosque y permiso de cambio de uso — costos eludidos</a:t>
            </a:r>
            <a:endParaRPr lang="en-US" sz="800" dirty="0"/>
          </a:p>
        </p:txBody>
      </p:sp>
      <p:sp>
        <p:nvSpPr>
          <p:cNvPr id="85" name="Shape 80"/>
          <p:cNvSpPr/>
          <p:nvPr/>
        </p:nvSpPr>
        <p:spPr>
          <a:xfrm>
            <a:off x="5760720" y="3584448"/>
            <a:ext cx="6236208" cy="4663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6" name="Shape 81"/>
          <p:cNvSpPr/>
          <p:nvPr/>
        </p:nvSpPr>
        <p:spPr>
          <a:xfrm>
            <a:off x="5760720" y="3584448"/>
            <a:ext cx="91440" cy="4663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7" name="Text 82"/>
          <p:cNvSpPr/>
          <p:nvPr/>
        </p:nvSpPr>
        <p:spPr>
          <a:xfrm>
            <a:off x="5888736" y="3584448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detección (Pd)</a:t>
            </a:r>
            <a:endParaRPr lang="en-US" sz="850" dirty="0"/>
          </a:p>
        </p:txBody>
      </p:sp>
      <p:sp>
        <p:nvSpPr>
          <p:cNvPr id="88" name="Shape 83"/>
          <p:cNvSpPr/>
          <p:nvPr/>
        </p:nvSpPr>
        <p:spPr>
          <a:xfrm>
            <a:off x="7680960" y="3666744"/>
            <a:ext cx="123444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9" name="Text 84"/>
          <p:cNvSpPr/>
          <p:nvPr/>
        </p:nvSpPr>
        <p:spPr>
          <a:xfrm>
            <a:off x="7680960" y="3666744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50" dirty="0"/>
          </a:p>
        </p:txBody>
      </p:sp>
      <p:sp>
        <p:nvSpPr>
          <p:cNvPr id="90" name="Text 85"/>
          <p:cNvSpPr/>
          <p:nvPr/>
        </p:nvSpPr>
        <p:spPr>
          <a:xfrm>
            <a:off x="8979408" y="3584448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 detectada in situ en área de afectación — escenario a §6.4 Lineamientos</a:t>
            </a:r>
            <a:endParaRPr lang="en-US" sz="800" dirty="0"/>
          </a:p>
        </p:txBody>
      </p:sp>
      <p:sp>
        <p:nvSpPr>
          <p:cNvPr id="91" name="Shape 86"/>
          <p:cNvSpPr/>
          <p:nvPr/>
        </p:nvSpPr>
        <p:spPr>
          <a:xfrm>
            <a:off x="5760720" y="4059936"/>
            <a:ext cx="6236208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87"/>
          <p:cNvSpPr/>
          <p:nvPr/>
        </p:nvSpPr>
        <p:spPr>
          <a:xfrm>
            <a:off x="5760720" y="4059936"/>
            <a:ext cx="91440" cy="4663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3" name="Text 88"/>
          <p:cNvSpPr/>
          <p:nvPr/>
        </p:nvSpPr>
        <p:spPr>
          <a:xfrm>
            <a:off x="5888736" y="4059936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Perjuicio al Estado (Pe)</a:t>
            </a:r>
            <a:endParaRPr lang="en-US" sz="850" dirty="0"/>
          </a:p>
        </p:txBody>
      </p:sp>
      <p:sp>
        <p:nvSpPr>
          <p:cNvPr id="94" name="Shape 89"/>
          <p:cNvSpPr/>
          <p:nvPr/>
        </p:nvSpPr>
        <p:spPr>
          <a:xfrm>
            <a:off x="7680960" y="4142232"/>
            <a:ext cx="123444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5" name="Text 90"/>
          <p:cNvSpPr/>
          <p:nvPr/>
        </p:nvSpPr>
        <p:spPr>
          <a:xfrm>
            <a:off x="7680960" y="4142232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10.376 m³</a:t>
            </a:r>
            <a:endParaRPr lang="en-US" sz="750" dirty="0"/>
          </a:p>
        </p:txBody>
      </p:sp>
      <p:sp>
        <p:nvSpPr>
          <p:cNvPr id="96" name="Text 91"/>
          <p:cNvSpPr/>
          <p:nvPr/>
        </p:nvSpPr>
        <p:spPr>
          <a:xfrm>
            <a:off x="8979408" y="4059936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Aprovechamiento sin derechos — valor PFM sin precio de referencia DS043</a:t>
            </a:r>
            <a:endParaRPr lang="en-US" sz="800" dirty="0"/>
          </a:p>
        </p:txBody>
      </p:sp>
      <p:sp>
        <p:nvSpPr>
          <p:cNvPr id="97" name="Shape 92"/>
          <p:cNvSpPr/>
          <p:nvPr/>
        </p:nvSpPr>
        <p:spPr>
          <a:xfrm>
            <a:off x="5760720" y="4535424"/>
            <a:ext cx="6236208" cy="4663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8" name="Shape 93"/>
          <p:cNvSpPr/>
          <p:nvPr/>
        </p:nvSpPr>
        <p:spPr>
          <a:xfrm>
            <a:off x="5760720" y="4535424"/>
            <a:ext cx="91440" cy="4663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9" name="Text 94"/>
          <p:cNvSpPr/>
          <p:nvPr/>
        </p:nvSpPr>
        <p:spPr>
          <a:xfrm>
            <a:off x="5888736" y="4535424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Gravedad daño (G)</a:t>
            </a:r>
            <a:endParaRPr lang="en-US" sz="850" dirty="0"/>
          </a:p>
        </p:txBody>
      </p:sp>
      <p:sp>
        <p:nvSpPr>
          <p:cNvPr id="100" name="Shape 95"/>
          <p:cNvSpPr/>
          <p:nvPr/>
        </p:nvSpPr>
        <p:spPr>
          <a:xfrm>
            <a:off x="7680960" y="4617720"/>
            <a:ext cx="123444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1" name="Text 96"/>
          <p:cNvSpPr/>
          <p:nvPr/>
        </p:nvSpPr>
        <p:spPr>
          <a:xfrm>
            <a:off x="7680960" y="4617720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60+30+0+0=90%</a:t>
            </a:r>
            <a:endParaRPr lang="en-US" sz="750" dirty="0"/>
          </a:p>
        </p:txBody>
      </p:sp>
      <p:sp>
        <p:nvSpPr>
          <p:cNvPr id="102" name="Text 97"/>
          <p:cNvSpPr/>
          <p:nvPr/>
        </p:nvSpPr>
        <p:spPr>
          <a:xfrm>
            <a:off x="8979408" y="4535424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g1=60% (bosque secundario), g4=30% (servicios ecosistémicos) — G=90%→100%</a:t>
            </a:r>
            <a:endParaRPr lang="en-US" sz="800" dirty="0"/>
          </a:p>
        </p:txBody>
      </p:sp>
      <p:sp>
        <p:nvSpPr>
          <p:cNvPr id="103" name="Shape 98"/>
          <p:cNvSpPr/>
          <p:nvPr/>
        </p:nvSpPr>
        <p:spPr>
          <a:xfrm>
            <a:off x="5760720" y="5010912"/>
            <a:ext cx="6236208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99"/>
          <p:cNvSpPr/>
          <p:nvPr/>
        </p:nvSpPr>
        <p:spPr>
          <a:xfrm>
            <a:off x="5760720" y="5010912"/>
            <a:ext cx="91440" cy="4663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5" name="Text 100"/>
          <p:cNvSpPr/>
          <p:nvPr/>
        </p:nvSpPr>
        <p:spPr>
          <a:xfrm>
            <a:off x="5888736" y="5010912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amenaza (A)</a:t>
            </a:r>
            <a:endParaRPr lang="en-US" sz="850" dirty="0"/>
          </a:p>
        </p:txBody>
      </p:sp>
      <p:sp>
        <p:nvSpPr>
          <p:cNvPr id="106" name="Shape 101"/>
          <p:cNvSpPr/>
          <p:nvPr/>
        </p:nvSpPr>
        <p:spPr>
          <a:xfrm>
            <a:off x="7680960" y="5093208"/>
            <a:ext cx="123444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7" name="Text 102"/>
          <p:cNvSpPr/>
          <p:nvPr/>
        </p:nvSpPr>
        <p:spPr>
          <a:xfrm>
            <a:off x="7680960" y="5093208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A=0</a:t>
            </a:r>
            <a:endParaRPr lang="en-US" sz="750" dirty="0"/>
          </a:p>
        </p:txBody>
      </p:sp>
      <p:sp>
        <p:nvSpPr>
          <p:cNvPr id="108" name="Text 103"/>
          <p:cNvSpPr/>
          <p:nvPr/>
        </p:nvSpPr>
        <p:spPr>
          <a:xfrm>
            <a:off x="8979408" y="5010912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6 especies en D.S. 043-2006-AG — no amenazadas</a:t>
            </a:r>
            <a:endParaRPr lang="en-US" sz="800" dirty="0"/>
          </a:p>
        </p:txBody>
      </p:sp>
      <p:sp>
        <p:nvSpPr>
          <p:cNvPr id="109" name="Shape 104"/>
          <p:cNvSpPr/>
          <p:nvPr/>
        </p:nvSpPr>
        <p:spPr>
          <a:xfrm>
            <a:off x="5760720" y="5486400"/>
            <a:ext cx="6236208" cy="4663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0" name="Shape 105"/>
          <p:cNvSpPr/>
          <p:nvPr/>
        </p:nvSpPr>
        <p:spPr>
          <a:xfrm>
            <a:off x="5760720" y="5486400"/>
            <a:ext cx="91440" cy="46634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1" name="Text 106"/>
          <p:cNvSpPr/>
          <p:nvPr/>
        </p:nvSpPr>
        <p:spPr>
          <a:xfrm>
            <a:off x="5888736" y="5486400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regen. (R)</a:t>
            </a:r>
            <a:endParaRPr lang="en-US" sz="850" dirty="0"/>
          </a:p>
        </p:txBody>
      </p:sp>
      <p:sp>
        <p:nvSpPr>
          <p:cNvPr id="112" name="Shape 107"/>
          <p:cNvSpPr/>
          <p:nvPr/>
        </p:nvSpPr>
        <p:spPr>
          <a:xfrm>
            <a:off x="7680960" y="5568696"/>
            <a:ext cx="1234440" cy="310896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113" name="Text 108"/>
          <p:cNvSpPr/>
          <p:nvPr/>
        </p:nvSpPr>
        <p:spPr>
          <a:xfrm>
            <a:off x="7680960" y="5568696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750" dirty="0"/>
          </a:p>
        </p:txBody>
      </p:sp>
      <p:sp>
        <p:nvSpPr>
          <p:cNvPr id="114" name="Text 109"/>
          <p:cNvSpPr/>
          <p:nvPr/>
        </p:nvSpPr>
        <p:spPr>
          <a:xfrm>
            <a:off x="8979408" y="5486400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supletorio §6.8 — DMC no determinable en área desboscada</a:t>
            </a:r>
            <a:endParaRPr lang="en-US" sz="800" dirty="0"/>
          </a:p>
        </p:txBody>
      </p:sp>
      <p:sp>
        <p:nvSpPr>
          <p:cNvPr id="115" name="Shape 110"/>
          <p:cNvSpPr/>
          <p:nvPr/>
        </p:nvSpPr>
        <p:spPr>
          <a:xfrm>
            <a:off x="5760720" y="5961888"/>
            <a:ext cx="6236208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111"/>
          <p:cNvSpPr/>
          <p:nvPr/>
        </p:nvSpPr>
        <p:spPr>
          <a:xfrm>
            <a:off x="5760720" y="5961888"/>
            <a:ext cx="91440" cy="4663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7" name="Text 112"/>
          <p:cNvSpPr/>
          <p:nvPr/>
        </p:nvSpPr>
        <p:spPr>
          <a:xfrm>
            <a:off x="5888736" y="5961888"/>
            <a:ext cx="1755648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Agravantes (f)</a:t>
            </a:r>
            <a:endParaRPr lang="en-US" sz="850" dirty="0"/>
          </a:p>
        </p:txBody>
      </p:sp>
      <p:sp>
        <p:nvSpPr>
          <p:cNvPr id="118" name="Shape 113"/>
          <p:cNvSpPr/>
          <p:nvPr/>
        </p:nvSpPr>
        <p:spPr>
          <a:xfrm>
            <a:off x="7680960" y="6044184"/>
            <a:ext cx="12344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9" name="Text 114"/>
          <p:cNvSpPr/>
          <p:nvPr/>
        </p:nvSpPr>
        <p:spPr>
          <a:xfrm>
            <a:off x="7680960" y="6044184"/>
            <a:ext cx="12344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 f5=0</a:t>
            </a:r>
            <a:endParaRPr lang="en-US" sz="750" dirty="0"/>
          </a:p>
        </p:txBody>
      </p:sp>
      <p:sp>
        <p:nvSpPr>
          <p:cNvPr id="120" name="Text 115"/>
          <p:cNvSpPr/>
          <p:nvPr/>
        </p:nvSpPr>
        <p:spPr>
          <a:xfrm>
            <a:off x="8979408" y="5961888"/>
            <a:ext cx="2971800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 aceitera + arranque de tocones: infracción intencional — sin atenuantes</a:t>
            </a:r>
            <a:endParaRPr lang="en-US" sz="800" dirty="0"/>
          </a:p>
        </p:txBody>
      </p:sp>
      <p:sp>
        <p:nvSpPr>
          <p:cNvPr id="121" name="Shape 116"/>
          <p:cNvSpPr/>
          <p:nvPr/>
        </p:nvSpPr>
        <p:spPr>
          <a:xfrm>
            <a:off x="164592" y="6601968"/>
            <a:ext cx="11832336" cy="475488"/>
          </a:xfrm>
          <a:prstGeom prst="rect">
            <a:avLst/>
          </a:prstGeom>
          <a:solidFill>
            <a:srgbClr val="1D4ED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2" name="Text 117"/>
          <p:cNvSpPr/>
          <p:nvPr/>
        </p:nvSpPr>
        <p:spPr>
          <a:xfrm>
            <a:off x="292608" y="6601968"/>
            <a:ext cx="11704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PROPUESTA: 0.5274 UIT = S/ 2,900.70  ·  Ítem 21 tipo principal  ·  Dolo directo acreditado  ·  Descargo desestimado</a:t>
            </a:r>
            <a:endParaRPr lang="en-US" sz="1300" dirty="0"/>
          </a:p>
        </p:txBody>
      </p:sp>
      <p:sp>
        <p:nvSpPr>
          <p:cNvPr id="123" name="Shape 118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4" name="Shape 119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125" name="Text 120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RECOMENDACIÓN: IMPONER MULTA 0.5274 UIT — Ítems 19+21 — Dolo directo (palma aceitera) — Fundo Elmer, Neshuya — Robinson Rivadeneyra Reátegui · Diapositiva 9 / 10 (IFI N°002)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46304"/>
            <a:ext cx="11832336" cy="786384"/>
          </a:xfrm>
          <a:prstGeom prst="rect">
            <a:avLst/>
          </a:prstGeom>
          <a:solidFill>
            <a:srgbClr val="1B7A3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9456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4630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 — PAS FORESTAL ATF AGUAYTÍA 2026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6112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Operativa Forestal y de Fauna Silvestre — Padre Abad, Ucayali · Período Enero–Marzo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" y="1042416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42416"/>
            <a:ext cx="457200" cy="1417320"/>
          </a:xfrm>
          <a:prstGeom prst="rect">
            <a:avLst/>
          </a:prstGeom>
          <a:solidFill>
            <a:srgbClr val="F4831F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" y="1042416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6656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 MUY GRAVE acreditada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" y="1444752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Mike Duran Jorge poseía 7.997 m³ de PFM (8 trozas, 3 especies) sin GTF. Conducta tipificada en Numeral 22 Anexo 1 D.S. 007-2021-MIDAGRI. Culpa simple verificada.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06240" y="1042416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06240" y="1042416"/>
            <a:ext cx="457200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4206240" y="1042416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718304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infracción MUY GRAVE — El Tornillal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18304" y="1444752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Grández Chávez taló 14 árboles Tornillo (15.248 m³ / S/ 10,734.59) en 0.574 ha Zona de Recuperación Forestal sin título habilitante. Ítems 19 y 21 RISMFFS.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4592" y="2569464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64592" y="2569464"/>
            <a:ext cx="457200" cy="1417320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21" name="Text 18"/>
          <p:cNvSpPr/>
          <p:nvPr/>
        </p:nvSpPr>
        <p:spPr>
          <a:xfrm>
            <a:off x="164592" y="2569464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76656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propuesta: 0.4790 UIT (S/ 2,634.24)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6656" y="2971800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conforme R.D.E. 004-2018-SERFOR-DE. Proporcional al beneficio ilícito (S/ 2,639.01). Actualizable al valor UIT vigente al momento de pago efectivo.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206240" y="2569464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06240" y="2569464"/>
            <a:ext cx="457200" cy="1417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" name="Text 23"/>
          <p:cNvSpPr/>
          <p:nvPr/>
        </p:nvSpPr>
        <p:spPr>
          <a:xfrm>
            <a:off x="4206240" y="2569464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718304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ejecutado y fundamentado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18304" y="2971800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Decomiso de 7.997 m³ respaldado en Art. 126° Ley N° 29763 y Art. 10° RISMFFS. Pendiente determinación de destino definitivo (Art. 213° DS 018-2015-MINAGRI).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64592" y="4096512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64592" y="4096512"/>
            <a:ext cx="45720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4096512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676656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interinstitucional FEMA-PNP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6656" y="4498848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Grández: derivado a 2° FEMA-Ucayali (Art. 310° CP — delito ambiental). ANA Aguaytía informada por afectación hídrica de quebrada (Art. 75° Ley 29338).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206240" y="4096512"/>
            <a:ext cx="376732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206240" y="4096512"/>
            <a:ext cx="457200" cy="1417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3"/>
          <p:cNvSpPr/>
          <p:nvPr/>
        </p:nvSpPr>
        <p:spPr>
          <a:xfrm>
            <a:off x="4206240" y="4096512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4718304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Respeto irrestricto al debido procedimiento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18304" y="4498848"/>
            <a:ext cx="320040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expedientes cumplen principios Art. 248° TUO LPAG: legalidad, tipicidad, razonabilidad, culpabilidad y gradualidad. Plazos legales observados. Sin prescripción.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900416" y="1042416"/>
            <a:ext cx="4114800" cy="5486400"/>
          </a:xfrm>
          <a:prstGeom prst="rect">
            <a:avLst/>
          </a:prstGeom>
          <a:solidFill>
            <a:srgbClr val="DCFCE7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900416" y="1042416"/>
            <a:ext cx="4114800" cy="347472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41" name="Text 38"/>
          <p:cNvSpPr/>
          <p:nvPr/>
        </p:nvSpPr>
        <p:spPr>
          <a:xfrm>
            <a:off x="7991856" y="1042416"/>
            <a:ext cx="398678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ACCESO Y COMPARTIR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065008" y="144475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los códigos QR para acceder al informe completo o compartirlo por WhatsApp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083296" y="1883664"/>
            <a:ext cx="1792224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38528"/>
            <a:ext cx="1682496" cy="168249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046720" y="3767328"/>
            <a:ext cx="1865376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Informe Completo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8046720" y="39867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xavi768.github.io/pas-forestal-soffs-pa/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10040112" y="1883664"/>
            <a:ext cx="1792224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1938528"/>
            <a:ext cx="1682496" cy="1682496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10003536" y="3767328"/>
            <a:ext cx="1865376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Compartir WhatsApp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10003536" y="39867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y comparte por WhatsApp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8046720" y="4261104"/>
            <a:ext cx="3858768" cy="23774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52" name="Text 47"/>
          <p:cNvSpPr/>
          <p:nvPr/>
        </p:nvSpPr>
        <p:spPr>
          <a:xfrm>
            <a:off x="8065008" y="4261104"/>
            <a:ext cx="385876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DEL EXPEDIENTE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8046720" y="4553712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Text 49"/>
          <p:cNvSpPr/>
          <p:nvPr/>
        </p:nvSpPr>
        <p:spPr>
          <a:xfrm>
            <a:off x="8083296" y="4553712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Elaborado: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9107424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Javier Carlos Vela — CIP N° 180398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8046720" y="4837176"/>
            <a:ext cx="38587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2"/>
          <p:cNvSpPr/>
          <p:nvPr/>
        </p:nvSpPr>
        <p:spPr>
          <a:xfrm>
            <a:off x="8083296" y="4837176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Revisado: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9107424" y="4837176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Cubillas Romero Ramírez — Dir. SOFFS-PA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8046720" y="5120640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0" name="Text 55"/>
          <p:cNvSpPr/>
          <p:nvPr/>
        </p:nvSpPr>
        <p:spPr>
          <a:xfrm>
            <a:off x="8083296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Dirigido: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9107424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Mág. Ing. Vilma Vilcas Melchor — GRFFS Ucayali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8046720" y="5404104"/>
            <a:ext cx="38587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58"/>
          <p:cNvSpPr/>
          <p:nvPr/>
        </p:nvSpPr>
        <p:spPr>
          <a:xfrm>
            <a:off x="8083296" y="5404104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1:</a:t>
            </a:r>
            <a:endParaRPr lang="en-US" sz="850" dirty="0"/>
          </a:p>
        </p:txBody>
      </p:sp>
      <p:sp>
        <p:nvSpPr>
          <p:cNvPr id="64" name="Text 59"/>
          <p:cNvSpPr/>
          <p:nvPr/>
        </p:nvSpPr>
        <p:spPr>
          <a:xfrm>
            <a:off x="9107424" y="5404104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026-2025-PAS-SOFFS/PA (DECOMADERA)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8046720" y="5687568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6" name="Text 61"/>
          <p:cNvSpPr/>
          <p:nvPr/>
        </p:nvSpPr>
        <p:spPr>
          <a:xfrm>
            <a:off x="8083296" y="5687568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2: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9107424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041-2025-PAS-SOFFS/PA (El Tornillal)</a:t>
            </a:r>
            <a:endParaRPr lang="en-US" sz="850" dirty="0"/>
          </a:p>
        </p:txBody>
      </p:sp>
      <p:sp>
        <p:nvSpPr>
          <p:cNvPr id="68" name="Shape 63"/>
          <p:cNvSpPr/>
          <p:nvPr/>
        </p:nvSpPr>
        <p:spPr>
          <a:xfrm>
            <a:off x="8046720" y="5971032"/>
            <a:ext cx="38587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4"/>
          <p:cNvSpPr/>
          <p:nvPr/>
        </p:nvSpPr>
        <p:spPr>
          <a:xfrm>
            <a:off x="8083296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Norma:</a:t>
            </a:r>
            <a:endParaRPr lang="en-US" sz="850" dirty="0"/>
          </a:p>
        </p:txBody>
      </p:sp>
      <p:sp>
        <p:nvSpPr>
          <p:cNvPr id="70" name="Text 65"/>
          <p:cNvSpPr/>
          <p:nvPr/>
        </p:nvSpPr>
        <p:spPr>
          <a:xfrm>
            <a:off x="9107424" y="5971032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D.S. N° 007-2021-MIDAGRI / Ley N° 29763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8046720" y="6254496"/>
            <a:ext cx="38587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2" name="Text 67"/>
          <p:cNvSpPr/>
          <p:nvPr/>
        </p:nvSpPr>
        <p:spPr>
          <a:xfrm>
            <a:off x="8083296" y="6254496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</a:t>
            </a:r>
            <a:endParaRPr lang="en-US" sz="850" dirty="0"/>
          </a:p>
        </p:txBody>
      </p:sp>
      <p:sp>
        <p:nvSpPr>
          <p:cNvPr id="73" name="Text 68"/>
          <p:cNvSpPr/>
          <p:nvPr/>
        </p:nvSpPr>
        <p:spPr>
          <a:xfrm>
            <a:off x="9107424" y="6254496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— Marzo 2026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1B7A34"/>
          </a:solidFill>
          <a:ln/>
        </p:spPr>
      </p:sp>
      <p:sp>
        <p:nvSpPr>
          <p:cNvPr id="75" name="Shape 70"/>
          <p:cNvSpPr/>
          <p:nvPr/>
        </p:nvSpPr>
        <p:spPr>
          <a:xfrm>
            <a:off x="0" y="6528816"/>
            <a:ext cx="109728" cy="329184"/>
          </a:xfrm>
          <a:prstGeom prst="rect">
            <a:avLst/>
          </a:prstGeom>
          <a:solidFill>
            <a:srgbClr val="0D4A1E"/>
          </a:solidFill>
          <a:ln/>
        </p:spPr>
      </p:sp>
      <p:sp>
        <p:nvSpPr>
          <p:cNvPr id="76" name="Text 71"/>
          <p:cNvSpPr/>
          <p:nvPr/>
        </p:nvSpPr>
        <p:spPr>
          <a:xfrm>
            <a:off x="164592" y="6528816"/>
            <a:ext cx="1194206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Regional de Ucayali — Gerencia Regional Forestal y de Fauna Silvestre — SOFFS-PA · Padre Abad, Ucayali · Año de la Esperanza y el Fortalecimiento de la Democracia · 2026 · Diapositiva 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4209</Words>
  <Application>Microsoft Office PowerPoint</Application>
  <PresentationFormat>Panorámica</PresentationFormat>
  <Paragraphs>752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PAS Forestal — ATF Aguaytía 2026</dc:title>
  <dc:subject>PptxGenJS Presentation</dc:subject>
  <dc:creator>PptxGenJS</dc:creator>
  <cp:lastModifiedBy>JAVIER CARLOS VELA</cp:lastModifiedBy>
  <cp:revision>1</cp:revision>
  <dcterms:created xsi:type="dcterms:W3CDTF">2026-03-13T14:08:38Z</dcterms:created>
  <dcterms:modified xsi:type="dcterms:W3CDTF">2026-03-13T14:32:56Z</dcterms:modified>
</cp:coreProperties>
</file>