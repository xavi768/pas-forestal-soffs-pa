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264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053682" cy="6858000"/>
          </a:xfrm>
          <a:prstGeom prst="rect">
            <a:avLst/>
          </a:prstGeom>
          <a:solidFill>
            <a:srgbClr val="0D4A1E"/>
          </a:solidFill>
          <a:ln/>
        </p:spPr>
      </p:sp>
      <p:sp>
        <p:nvSpPr>
          <p:cNvPr id="3" name="Shape 1"/>
          <p:cNvSpPr/>
          <p:nvPr/>
        </p:nvSpPr>
        <p:spPr>
          <a:xfrm>
            <a:off x="7053682" y="0"/>
            <a:ext cx="5107838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5" name="Shape 3"/>
          <p:cNvSpPr/>
          <p:nvPr/>
        </p:nvSpPr>
        <p:spPr>
          <a:xfrm>
            <a:off x="7029359" y="0"/>
            <a:ext cx="36576" cy="685800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292608"/>
            <a:ext cx="3474720" cy="502920"/>
          </a:xfrm>
          <a:prstGeom prst="rect">
            <a:avLst/>
          </a:prstGeom>
          <a:solidFill>
            <a:srgbClr val="1B6B3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292608"/>
            <a:ext cx="3438144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GOBIERNO REGIONAL DE UCAYALI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6032" y="932688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EJECUTIVO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256032" y="2423160"/>
            <a:ext cx="4114800" cy="5486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10" name="Shape 8"/>
          <p:cNvSpPr/>
          <p:nvPr/>
        </p:nvSpPr>
        <p:spPr>
          <a:xfrm>
            <a:off x="4443984" y="2423160"/>
            <a:ext cx="1097280" cy="54864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" y="254203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ADMINISTRATIVO SANCIONADOR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" y="296265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Operativa Forestal y de Fauna Silvestre — Padre Abad, Ucayali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" y="3310128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 de Informes Técnicos elaborados por el Área PAS-SOFFS-PA conforme a la Ley N° 29763, D.S. N° 007-2021-MIDAGRI y TUO LPAG D.S. N° 004-2019-JUS. Período enero–marzo 2026.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4059936"/>
            <a:ext cx="6492240" cy="54864"/>
          </a:xfrm>
          <a:prstGeom prst="rect">
            <a:avLst/>
          </a:prstGeom>
          <a:solidFill>
            <a:srgbClr val="2A6040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" y="418795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Javier Carlos Vela (CIP 180398)  ·  Personal Técnico PAS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" y="444398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Cubillas Romero Ramírez  ·  Director SOFFS-PA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4937760"/>
            <a:ext cx="2377440" cy="51206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" y="4937760"/>
            <a:ext cx="23774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12 MARZO 2026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50608" y="292608"/>
            <a:ext cx="155448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50608" y="292608"/>
            <a:ext cx="1554480" cy="5486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21" name="Text 19"/>
          <p:cNvSpPr/>
          <p:nvPr/>
        </p:nvSpPr>
        <p:spPr>
          <a:xfrm>
            <a:off x="7150608" y="365760"/>
            <a:ext cx="1554480" cy="778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05472" y="1154339"/>
            <a:ext cx="1444752" cy="472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Técnicos PAS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906256" y="292608"/>
            <a:ext cx="155448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06256" y="292608"/>
            <a:ext cx="1554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8906256" y="365760"/>
            <a:ext cx="1554480" cy="778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961120" y="1154339"/>
            <a:ext cx="1444752" cy="472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PAS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661904" y="292608"/>
            <a:ext cx="155448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661904" y="292608"/>
            <a:ext cx="15544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10661904" y="365760"/>
            <a:ext cx="1554480" cy="778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0716768" y="1154339"/>
            <a:ext cx="1444752" cy="472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Presuntos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Infractores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50608" y="1883664"/>
            <a:ext cx="155448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50608" y="1883664"/>
            <a:ext cx="1554480" cy="5486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33" name="Text 31"/>
          <p:cNvSpPr/>
          <p:nvPr/>
        </p:nvSpPr>
        <p:spPr>
          <a:xfrm>
            <a:off x="7150608" y="1956816"/>
            <a:ext cx="1554480" cy="778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205472" y="2745395"/>
            <a:ext cx="1444752" cy="472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Infracciones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GRAVE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06256" y="1883664"/>
            <a:ext cx="155448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906256" y="1883664"/>
            <a:ext cx="1554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8906256" y="1956816"/>
            <a:ext cx="1554480" cy="778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0.574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8961120" y="2745395"/>
            <a:ext cx="1444752" cy="472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Deforestadas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Tornillal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661904" y="1883664"/>
            <a:ext cx="155448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661904" y="1883664"/>
            <a:ext cx="155448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1" name="Text 39"/>
          <p:cNvSpPr/>
          <p:nvPr/>
        </p:nvSpPr>
        <p:spPr>
          <a:xfrm>
            <a:off x="10661904" y="1956816"/>
            <a:ext cx="1554480" cy="778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7.997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10716768" y="2745395"/>
            <a:ext cx="1444752" cy="472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 Madera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Intervenida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607808" y="4005072"/>
            <a:ext cx="4261104" cy="1993392"/>
          </a:xfrm>
          <a:prstGeom prst="rect">
            <a:avLst/>
          </a:prstGeom>
          <a:solidFill>
            <a:srgbClr val="DCFCE7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754112" y="40690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Escanea para acceder al informe</a:t>
            </a:r>
            <a:endParaRPr lang="en-US" sz="1000" dirty="0"/>
          </a:p>
        </p:txBody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70832"/>
            <a:ext cx="1261872" cy="1261872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9400032" y="4434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por WhatsApp →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9400032" y="4709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wa.me/Dashboard-PAS-ATF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Aguaytía-2026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9400032" y="5230368"/>
            <a:ext cx="2212848" cy="292608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49" name="Text 46"/>
          <p:cNvSpPr/>
          <p:nvPr/>
        </p:nvSpPr>
        <p:spPr>
          <a:xfrm>
            <a:off x="9400032" y="5230368"/>
            <a:ext cx="221284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WhatsApp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A2E18"/>
          </a:solidFill>
          <a:ln/>
        </p:spPr>
      </p:sp>
      <p:sp>
        <p:nvSpPr>
          <p:cNvPr id="51" name="Text 48"/>
          <p:cNvSpPr/>
          <p:nvPr/>
        </p:nvSpPr>
        <p:spPr>
          <a:xfrm>
            <a:off x="164592" y="6547104"/>
            <a:ext cx="11942064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B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SOFFS-PA · Padre Abad, Ucayali · Área PAS — Procedimiento Administrativo Sancionador Forestal · Enero–Marzo 2026 · Diapositiva 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46304"/>
            <a:ext cx="11832336" cy="786384"/>
          </a:xfrm>
          <a:prstGeom prst="rect">
            <a:avLst/>
          </a:prstGeom>
          <a:solidFill>
            <a:srgbClr val="F4831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4630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N° 001-2026-PAS/JCV — INFORME DE INICIO DE PAS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32688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E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Asunto: Evaluación para el inicio del PAS contra JOEL MIKE DURAN JORGE (DNI 71746214) — CTP DECOMADERA DURAN G&amp;R E.I.R.L.  ·  Fecha: 26 Enero 2026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64592" y="1042416"/>
            <a:ext cx="5486400" cy="5486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042416"/>
            <a:ext cx="5486400" cy="347472"/>
          </a:xfrm>
          <a:prstGeom prst="rect">
            <a:avLst/>
          </a:prstGeom>
          <a:solidFill>
            <a:srgbClr val="F4831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09728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" y="10424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CASO — EXP. PAS DECOMADERA DURAN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64592" y="1389888"/>
            <a:ext cx="5486400" cy="4114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Shape 10"/>
          <p:cNvSpPr/>
          <p:nvPr/>
        </p:nvSpPr>
        <p:spPr>
          <a:xfrm>
            <a:off x="164592" y="1389888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1"/>
          <p:cNvSpPr/>
          <p:nvPr/>
        </p:nvSpPr>
        <p:spPr>
          <a:xfrm>
            <a:off x="228600" y="1389888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581912" y="1389888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Mike Duran Jorge — DNI N° 71746214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64592" y="1810512"/>
            <a:ext cx="54864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164592" y="1810512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5"/>
          <p:cNvSpPr/>
          <p:nvPr/>
        </p:nvSpPr>
        <p:spPr>
          <a:xfrm>
            <a:off x="228600" y="1810512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581912" y="1810512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DECOMADERA DURAN G&amp;R E.I.R.L. — RUC 20608634011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164592" y="2231136"/>
            <a:ext cx="5486400" cy="4114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Shape 18"/>
          <p:cNvSpPr/>
          <p:nvPr/>
        </p:nvSpPr>
        <p:spPr>
          <a:xfrm>
            <a:off x="164592" y="2231136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19"/>
          <p:cNvSpPr/>
          <p:nvPr/>
        </p:nvSpPr>
        <p:spPr>
          <a:xfrm>
            <a:off x="228600" y="2231136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581912" y="2231136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Representante Legal del Centro de Transformación Primaria (CTP)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64592" y="2651760"/>
            <a:ext cx="54864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164592" y="2651760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3"/>
          <p:cNvSpPr/>
          <p:nvPr/>
        </p:nvSpPr>
        <p:spPr>
          <a:xfrm>
            <a:off x="228600" y="2651760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581912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Av. Los Cedros Mz. E Lt. 04, Complejo Industrial AIMPA, Mariela II, Padre Abad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164592" y="3072384"/>
            <a:ext cx="5486400" cy="4114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0" name="Shape 26"/>
          <p:cNvSpPr/>
          <p:nvPr/>
        </p:nvSpPr>
        <p:spPr>
          <a:xfrm>
            <a:off x="164592" y="3072384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7"/>
          <p:cNvSpPr/>
          <p:nvPr/>
        </p:nvSpPr>
        <p:spPr>
          <a:xfrm>
            <a:off x="228600" y="3072384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581912" y="3072384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013-2025-GRU-GGR-GRFFS-SOFFS-PA — 18 Dic 2025 — hora 10:10 a.m.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164592" y="3493008"/>
            <a:ext cx="54864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0"/>
          <p:cNvSpPr/>
          <p:nvPr/>
        </p:nvSpPr>
        <p:spPr>
          <a:xfrm>
            <a:off x="164592" y="3493008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1"/>
          <p:cNvSpPr/>
          <p:nvPr/>
        </p:nvSpPr>
        <p:spPr>
          <a:xfrm>
            <a:off x="228600" y="3493008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acto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581912" y="3493008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Fiscalización inopinada al CTP — verificación origen legal del PFM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164592" y="3913632"/>
            <a:ext cx="5486400" cy="4114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8" name="Shape 34"/>
          <p:cNvSpPr/>
          <p:nvPr/>
        </p:nvSpPr>
        <p:spPr>
          <a:xfrm>
            <a:off x="164592" y="3913632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5"/>
          <p:cNvSpPr/>
          <p:nvPr/>
        </p:nvSpPr>
        <p:spPr>
          <a:xfrm>
            <a:off x="228600" y="3913632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Infracción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581912" y="3913632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 22, Anexo 1, D.S. N° 007-2021-MIDAGRI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164592" y="4334256"/>
            <a:ext cx="54864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8"/>
          <p:cNvSpPr/>
          <p:nvPr/>
        </p:nvSpPr>
        <p:spPr>
          <a:xfrm>
            <a:off x="164592" y="4334256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39"/>
          <p:cNvSpPr/>
          <p:nvPr/>
        </p:nvSpPr>
        <p:spPr>
          <a:xfrm>
            <a:off x="228600" y="4334256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 rector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1581912" y="4334256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POSEER — PFM sin Guía de Transporte Forestal (GTF) ni doc. equivalente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164592" y="4754880"/>
            <a:ext cx="5486400" cy="41148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6" name="Shape 42"/>
          <p:cNvSpPr/>
          <p:nvPr/>
        </p:nvSpPr>
        <p:spPr>
          <a:xfrm>
            <a:off x="164592" y="4754880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3"/>
          <p:cNvSpPr/>
          <p:nvPr/>
        </p:nvSpPr>
        <p:spPr>
          <a:xfrm>
            <a:off x="228600" y="4754880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581912" y="4754880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MUY GRAVE — Multa: más de 10 UIT hasta 5,000 UIT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164592" y="5175504"/>
            <a:ext cx="54864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6"/>
          <p:cNvSpPr/>
          <p:nvPr/>
        </p:nvSpPr>
        <p:spPr>
          <a:xfrm>
            <a:off x="164592" y="5175504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Text 47"/>
          <p:cNvSpPr/>
          <p:nvPr/>
        </p:nvSpPr>
        <p:spPr>
          <a:xfrm>
            <a:off x="228600" y="5175504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PFM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1581912" y="5175504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2,639.01 — 7.997 m³ · 1,759.34 PT · precio mercado S/ 1.50/PT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164592" y="5596128"/>
            <a:ext cx="5486400" cy="4114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4" name="Shape 50"/>
          <p:cNvSpPr/>
          <p:nvPr/>
        </p:nvSpPr>
        <p:spPr>
          <a:xfrm>
            <a:off x="164592" y="5596128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5" name="Text 51"/>
          <p:cNvSpPr/>
          <p:nvPr/>
        </p:nvSpPr>
        <p:spPr>
          <a:xfrm>
            <a:off x="228600" y="5596128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1581912" y="5596128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Decomiso de 8 trozas — custodia según Acta 18/12/2025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164592" y="6016752"/>
            <a:ext cx="54864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4"/>
          <p:cNvSpPr/>
          <p:nvPr/>
        </p:nvSpPr>
        <p:spPr>
          <a:xfrm>
            <a:off x="164592" y="6016752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55"/>
          <p:cNvSpPr/>
          <p:nvPr/>
        </p:nvSpPr>
        <p:spPr>
          <a:xfrm>
            <a:off x="228600" y="6016752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1581912" y="6016752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N° 008-2025-VJPT — Bach. Víctor J. Perea Tapullima (18/12/2025)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5760720" y="1042416"/>
            <a:ext cx="6236208" cy="658368"/>
          </a:xfrm>
          <a:prstGeom prst="rect">
            <a:avLst/>
          </a:prstGeom>
          <a:solidFill>
            <a:srgbClr val="E0F7FA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2" name="Text 58"/>
          <p:cNvSpPr/>
          <p:nvPr/>
        </p:nvSpPr>
        <p:spPr>
          <a:xfrm>
            <a:off x="5870448" y="1078992"/>
            <a:ext cx="6071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CONTEXTO DE LA INTERVENCIÓN</a:t>
            </a:r>
            <a:endParaRPr lang="en-US" sz="1050" dirty="0"/>
          </a:p>
        </p:txBody>
      </p:sp>
      <p:sp>
        <p:nvSpPr>
          <p:cNvPr id="63" name="Text 59"/>
          <p:cNvSpPr/>
          <p:nvPr/>
        </p:nvSpPr>
        <p:spPr>
          <a:xfrm>
            <a:off x="5870448" y="1298448"/>
            <a:ext cx="607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18/12/2025, personal de la SOFFS-PA fiscalizó inopinadamente el CTP DECOMADERA DURAN G&amp;R E.I.R.L. Identificaron 8 trozas de madera en rollo (3 especies) sin Guía de Transporte Forestal ni documentación de origen legal. Configura infracción MUY GRAVE Numeral 22, Anexo 1, D.S. 007-2021-MIDAGRI.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5760720" y="1792224"/>
            <a:ext cx="6236208" cy="486460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5" name="Shape 61"/>
          <p:cNvSpPr/>
          <p:nvPr/>
        </p:nvSpPr>
        <p:spPr>
          <a:xfrm>
            <a:off x="5760720" y="1792224"/>
            <a:ext cx="6236208" cy="347472"/>
          </a:xfrm>
          <a:prstGeom prst="rect">
            <a:avLst/>
          </a:prstGeom>
          <a:solidFill>
            <a:srgbClr val="1B7A34"/>
          </a:solidFill>
          <a:ln/>
        </p:spPr>
      </p:sp>
      <p:pic>
        <p:nvPicPr>
          <p:cNvPr id="6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1847088"/>
            <a:ext cx="237744" cy="237744"/>
          </a:xfrm>
          <a:prstGeom prst="rect">
            <a:avLst/>
          </a:prstGeom>
        </p:spPr>
      </p:pic>
      <p:sp>
        <p:nvSpPr>
          <p:cNvPr id="67" name="Text 62"/>
          <p:cNvSpPr/>
          <p:nvPr/>
        </p:nvSpPr>
        <p:spPr>
          <a:xfrm>
            <a:off x="6163056" y="1792224"/>
            <a:ext cx="5779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01 — PRODUCTOS FORESTALES MADERABLES INTERVENIDOS</a:t>
            </a:r>
            <a:endParaRPr lang="en-US" sz="1200" dirty="0"/>
          </a:p>
        </p:txBody>
      </p:sp>
      <p:sp>
        <p:nvSpPr>
          <p:cNvPr id="68" name="Shape 63"/>
          <p:cNvSpPr/>
          <p:nvPr/>
        </p:nvSpPr>
        <p:spPr>
          <a:xfrm>
            <a:off x="5760720" y="2139696"/>
            <a:ext cx="6236208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69" name="Text 64"/>
          <p:cNvSpPr/>
          <p:nvPr/>
        </p:nvSpPr>
        <p:spPr>
          <a:xfrm>
            <a:off x="5852160" y="2139696"/>
            <a:ext cx="610819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N° 013-2025 · IT N° 008-2025-VJPT · Total: 8 trozas · 7.997 m³ · 1,759.34 PT · Precio S/ 1.50/PT</a:t>
            </a:r>
            <a:endParaRPr lang="en-US" sz="900" dirty="0"/>
          </a:p>
        </p:txBody>
      </p:sp>
      <p:sp>
        <p:nvSpPr>
          <p:cNvPr id="70" name="Shape 65"/>
          <p:cNvSpPr/>
          <p:nvPr/>
        </p:nvSpPr>
        <p:spPr>
          <a:xfrm>
            <a:off x="5760720" y="2377440"/>
            <a:ext cx="118872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1" name="Text 66"/>
          <p:cNvSpPr/>
          <p:nvPr/>
        </p:nvSpPr>
        <p:spPr>
          <a:xfrm>
            <a:off x="5779008" y="2377440"/>
            <a:ext cx="1161288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Común</a:t>
            </a:r>
            <a:endParaRPr lang="en-US" sz="850" dirty="0"/>
          </a:p>
        </p:txBody>
      </p:sp>
      <p:sp>
        <p:nvSpPr>
          <p:cNvPr id="72" name="Shape 67"/>
          <p:cNvSpPr/>
          <p:nvPr/>
        </p:nvSpPr>
        <p:spPr>
          <a:xfrm>
            <a:off x="6949440" y="2377440"/>
            <a:ext cx="192024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3" name="Text 68"/>
          <p:cNvSpPr/>
          <p:nvPr/>
        </p:nvSpPr>
        <p:spPr>
          <a:xfrm>
            <a:off x="6967728" y="2377440"/>
            <a:ext cx="1892808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Científico</a:t>
            </a:r>
            <a:endParaRPr lang="en-US" sz="850" dirty="0"/>
          </a:p>
        </p:txBody>
      </p:sp>
      <p:sp>
        <p:nvSpPr>
          <p:cNvPr id="74" name="Shape 69"/>
          <p:cNvSpPr/>
          <p:nvPr/>
        </p:nvSpPr>
        <p:spPr>
          <a:xfrm>
            <a:off x="8869680" y="2377440"/>
            <a:ext cx="45720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5" name="Text 70"/>
          <p:cNvSpPr/>
          <p:nvPr/>
        </p:nvSpPr>
        <p:spPr>
          <a:xfrm>
            <a:off x="8887968" y="2377440"/>
            <a:ext cx="429768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9326880" y="2377440"/>
            <a:ext cx="749808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7" name="Text 72"/>
          <p:cNvSpPr/>
          <p:nvPr/>
        </p:nvSpPr>
        <p:spPr>
          <a:xfrm>
            <a:off x="9345168" y="2377440"/>
            <a:ext cx="722376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m³</a:t>
            </a:r>
            <a:endParaRPr lang="en-US" sz="850" dirty="0"/>
          </a:p>
        </p:txBody>
      </p:sp>
      <p:sp>
        <p:nvSpPr>
          <p:cNvPr id="78" name="Shape 73"/>
          <p:cNvSpPr/>
          <p:nvPr/>
        </p:nvSpPr>
        <p:spPr>
          <a:xfrm>
            <a:off x="10076688" y="2377440"/>
            <a:ext cx="749808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9" name="Text 74"/>
          <p:cNvSpPr/>
          <p:nvPr/>
        </p:nvSpPr>
        <p:spPr>
          <a:xfrm>
            <a:off x="10094976" y="2377440"/>
            <a:ext cx="722376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PT</a:t>
            </a:r>
            <a:endParaRPr lang="en-US" sz="850" dirty="0"/>
          </a:p>
        </p:txBody>
      </p:sp>
      <p:sp>
        <p:nvSpPr>
          <p:cNvPr id="80" name="Shape 75"/>
          <p:cNvSpPr/>
          <p:nvPr/>
        </p:nvSpPr>
        <p:spPr>
          <a:xfrm>
            <a:off x="10826496" y="2377440"/>
            <a:ext cx="96012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1" name="Text 76"/>
          <p:cNvSpPr/>
          <p:nvPr/>
        </p:nvSpPr>
        <p:spPr>
          <a:xfrm>
            <a:off x="10844784" y="2377440"/>
            <a:ext cx="932688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Cat.DS043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5760720" y="2651760"/>
            <a:ext cx="118872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3" name="Text 78"/>
          <p:cNvSpPr/>
          <p:nvPr/>
        </p:nvSpPr>
        <p:spPr>
          <a:xfrm>
            <a:off x="5788152" y="2651760"/>
            <a:ext cx="11521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PANGUANA</a:t>
            </a:r>
            <a:endParaRPr lang="en-US" sz="850" dirty="0"/>
          </a:p>
        </p:txBody>
      </p:sp>
      <p:sp>
        <p:nvSpPr>
          <p:cNvPr id="84" name="Shape 79"/>
          <p:cNvSpPr/>
          <p:nvPr/>
        </p:nvSpPr>
        <p:spPr>
          <a:xfrm>
            <a:off x="6949440" y="2651760"/>
            <a:ext cx="192024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5" name="Text 80"/>
          <p:cNvSpPr/>
          <p:nvPr/>
        </p:nvSpPr>
        <p:spPr>
          <a:xfrm>
            <a:off x="6976872" y="2651760"/>
            <a:ext cx="188366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Brosimum utile</a:t>
            </a:r>
            <a:endParaRPr lang="en-US" sz="850" dirty="0"/>
          </a:p>
        </p:txBody>
      </p:sp>
      <p:sp>
        <p:nvSpPr>
          <p:cNvPr id="86" name="Shape 81"/>
          <p:cNvSpPr/>
          <p:nvPr/>
        </p:nvSpPr>
        <p:spPr>
          <a:xfrm>
            <a:off x="8869680" y="2651760"/>
            <a:ext cx="45720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7" name="Text 82"/>
          <p:cNvSpPr/>
          <p:nvPr/>
        </p:nvSpPr>
        <p:spPr>
          <a:xfrm>
            <a:off x="8897112" y="2651760"/>
            <a:ext cx="42062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88" name="Shape 83"/>
          <p:cNvSpPr/>
          <p:nvPr/>
        </p:nvSpPr>
        <p:spPr>
          <a:xfrm>
            <a:off x="9326880" y="2651760"/>
            <a:ext cx="749808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9" name="Text 84"/>
          <p:cNvSpPr/>
          <p:nvPr/>
        </p:nvSpPr>
        <p:spPr>
          <a:xfrm>
            <a:off x="9354312" y="2651760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1.073</a:t>
            </a:r>
            <a:endParaRPr lang="en-US" sz="850" dirty="0"/>
          </a:p>
        </p:txBody>
      </p:sp>
      <p:sp>
        <p:nvSpPr>
          <p:cNvPr id="90" name="Shape 85"/>
          <p:cNvSpPr/>
          <p:nvPr/>
        </p:nvSpPr>
        <p:spPr>
          <a:xfrm>
            <a:off x="10076688" y="2651760"/>
            <a:ext cx="749808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1" name="Text 86"/>
          <p:cNvSpPr/>
          <p:nvPr/>
        </p:nvSpPr>
        <p:spPr>
          <a:xfrm>
            <a:off x="10104120" y="2651760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236.06</a:t>
            </a:r>
            <a:endParaRPr lang="en-US" sz="850" dirty="0"/>
          </a:p>
        </p:txBody>
      </p:sp>
      <p:sp>
        <p:nvSpPr>
          <p:cNvPr id="92" name="Shape 87"/>
          <p:cNvSpPr/>
          <p:nvPr/>
        </p:nvSpPr>
        <p:spPr>
          <a:xfrm>
            <a:off x="10826496" y="2651760"/>
            <a:ext cx="96012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3" name="Text 88"/>
          <p:cNvSpPr/>
          <p:nvPr/>
        </p:nvSpPr>
        <p:spPr>
          <a:xfrm>
            <a:off x="10853928" y="2651760"/>
            <a:ext cx="9235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94" name="Shape 89"/>
          <p:cNvSpPr/>
          <p:nvPr/>
        </p:nvSpPr>
        <p:spPr>
          <a:xfrm>
            <a:off x="5760720" y="2898648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0"/>
          <p:cNvSpPr/>
          <p:nvPr/>
        </p:nvSpPr>
        <p:spPr>
          <a:xfrm>
            <a:off x="5788152" y="2898648"/>
            <a:ext cx="11521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PANGUANA</a:t>
            </a:r>
            <a:endParaRPr lang="en-US" sz="850" dirty="0"/>
          </a:p>
        </p:txBody>
      </p:sp>
      <p:sp>
        <p:nvSpPr>
          <p:cNvPr id="96" name="Shape 91"/>
          <p:cNvSpPr/>
          <p:nvPr/>
        </p:nvSpPr>
        <p:spPr>
          <a:xfrm>
            <a:off x="6949440" y="2898648"/>
            <a:ext cx="192024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2"/>
          <p:cNvSpPr/>
          <p:nvPr/>
        </p:nvSpPr>
        <p:spPr>
          <a:xfrm>
            <a:off x="6976872" y="2898648"/>
            <a:ext cx="188366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Brosimum utile</a:t>
            </a:r>
            <a:endParaRPr lang="en-US" sz="850" dirty="0"/>
          </a:p>
        </p:txBody>
      </p:sp>
      <p:sp>
        <p:nvSpPr>
          <p:cNvPr id="98" name="Shape 93"/>
          <p:cNvSpPr/>
          <p:nvPr/>
        </p:nvSpPr>
        <p:spPr>
          <a:xfrm>
            <a:off x="8869680" y="2898648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4"/>
          <p:cNvSpPr/>
          <p:nvPr/>
        </p:nvSpPr>
        <p:spPr>
          <a:xfrm>
            <a:off x="8897112" y="2898648"/>
            <a:ext cx="42062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00" name="Shape 95"/>
          <p:cNvSpPr/>
          <p:nvPr/>
        </p:nvSpPr>
        <p:spPr>
          <a:xfrm>
            <a:off x="9326880" y="2898648"/>
            <a:ext cx="7498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Text 96"/>
          <p:cNvSpPr/>
          <p:nvPr/>
        </p:nvSpPr>
        <p:spPr>
          <a:xfrm>
            <a:off x="9354312" y="2898648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0.905</a:t>
            </a:r>
            <a:endParaRPr lang="en-US" sz="850" dirty="0"/>
          </a:p>
        </p:txBody>
      </p:sp>
      <p:sp>
        <p:nvSpPr>
          <p:cNvPr id="102" name="Shape 97"/>
          <p:cNvSpPr/>
          <p:nvPr/>
        </p:nvSpPr>
        <p:spPr>
          <a:xfrm>
            <a:off x="10076688" y="2898648"/>
            <a:ext cx="7498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Text 98"/>
          <p:cNvSpPr/>
          <p:nvPr/>
        </p:nvSpPr>
        <p:spPr>
          <a:xfrm>
            <a:off x="10104120" y="2898648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199.10</a:t>
            </a:r>
            <a:endParaRPr lang="en-US" sz="850" dirty="0"/>
          </a:p>
        </p:txBody>
      </p:sp>
      <p:sp>
        <p:nvSpPr>
          <p:cNvPr id="104" name="Shape 99"/>
          <p:cNvSpPr/>
          <p:nvPr/>
        </p:nvSpPr>
        <p:spPr>
          <a:xfrm>
            <a:off x="10826496" y="2898648"/>
            <a:ext cx="9601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Text 100"/>
          <p:cNvSpPr/>
          <p:nvPr/>
        </p:nvSpPr>
        <p:spPr>
          <a:xfrm>
            <a:off x="10853928" y="2898648"/>
            <a:ext cx="9235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06" name="Shape 101"/>
          <p:cNvSpPr/>
          <p:nvPr/>
        </p:nvSpPr>
        <p:spPr>
          <a:xfrm>
            <a:off x="5760720" y="3145536"/>
            <a:ext cx="118872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7" name="Text 102"/>
          <p:cNvSpPr/>
          <p:nvPr/>
        </p:nvSpPr>
        <p:spPr>
          <a:xfrm>
            <a:off x="5788152" y="3145536"/>
            <a:ext cx="11521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PANGUANA</a:t>
            </a:r>
            <a:endParaRPr lang="en-US" sz="850" dirty="0"/>
          </a:p>
        </p:txBody>
      </p:sp>
      <p:sp>
        <p:nvSpPr>
          <p:cNvPr id="108" name="Shape 103"/>
          <p:cNvSpPr/>
          <p:nvPr/>
        </p:nvSpPr>
        <p:spPr>
          <a:xfrm>
            <a:off x="6949440" y="3145536"/>
            <a:ext cx="192024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9" name="Text 104"/>
          <p:cNvSpPr/>
          <p:nvPr/>
        </p:nvSpPr>
        <p:spPr>
          <a:xfrm>
            <a:off x="6976872" y="3145536"/>
            <a:ext cx="188366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Brosimum utile</a:t>
            </a:r>
            <a:endParaRPr lang="en-US" sz="850" dirty="0"/>
          </a:p>
        </p:txBody>
      </p:sp>
      <p:sp>
        <p:nvSpPr>
          <p:cNvPr id="110" name="Shape 105"/>
          <p:cNvSpPr/>
          <p:nvPr/>
        </p:nvSpPr>
        <p:spPr>
          <a:xfrm>
            <a:off x="8869680" y="3145536"/>
            <a:ext cx="45720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11" name="Text 106"/>
          <p:cNvSpPr/>
          <p:nvPr/>
        </p:nvSpPr>
        <p:spPr>
          <a:xfrm>
            <a:off x="8897112" y="3145536"/>
            <a:ext cx="42062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12" name="Shape 107"/>
          <p:cNvSpPr/>
          <p:nvPr/>
        </p:nvSpPr>
        <p:spPr>
          <a:xfrm>
            <a:off x="9326880" y="3145536"/>
            <a:ext cx="749808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13" name="Text 108"/>
          <p:cNvSpPr/>
          <p:nvPr/>
        </p:nvSpPr>
        <p:spPr>
          <a:xfrm>
            <a:off x="9354312" y="3145536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0.775</a:t>
            </a:r>
            <a:endParaRPr lang="en-US" sz="850" dirty="0"/>
          </a:p>
        </p:txBody>
      </p:sp>
      <p:sp>
        <p:nvSpPr>
          <p:cNvPr id="114" name="Shape 109"/>
          <p:cNvSpPr/>
          <p:nvPr/>
        </p:nvSpPr>
        <p:spPr>
          <a:xfrm>
            <a:off x="10076688" y="3145536"/>
            <a:ext cx="749808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15" name="Text 110"/>
          <p:cNvSpPr/>
          <p:nvPr/>
        </p:nvSpPr>
        <p:spPr>
          <a:xfrm>
            <a:off x="10104120" y="3145536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170.50</a:t>
            </a:r>
            <a:endParaRPr lang="en-US" sz="850" dirty="0"/>
          </a:p>
        </p:txBody>
      </p:sp>
      <p:sp>
        <p:nvSpPr>
          <p:cNvPr id="116" name="Shape 111"/>
          <p:cNvSpPr/>
          <p:nvPr/>
        </p:nvSpPr>
        <p:spPr>
          <a:xfrm>
            <a:off x="10826496" y="3145536"/>
            <a:ext cx="96012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17" name="Text 112"/>
          <p:cNvSpPr/>
          <p:nvPr/>
        </p:nvSpPr>
        <p:spPr>
          <a:xfrm>
            <a:off x="10853928" y="3145536"/>
            <a:ext cx="9235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18" name="Shape 113"/>
          <p:cNvSpPr/>
          <p:nvPr/>
        </p:nvSpPr>
        <p:spPr>
          <a:xfrm>
            <a:off x="5760720" y="3392424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Text 114"/>
          <p:cNvSpPr/>
          <p:nvPr/>
        </p:nvSpPr>
        <p:spPr>
          <a:xfrm>
            <a:off x="5788152" y="3392424"/>
            <a:ext cx="11521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PALISANGRE</a:t>
            </a:r>
            <a:endParaRPr lang="en-US" sz="850" dirty="0"/>
          </a:p>
        </p:txBody>
      </p:sp>
      <p:sp>
        <p:nvSpPr>
          <p:cNvPr id="120" name="Shape 115"/>
          <p:cNvSpPr/>
          <p:nvPr/>
        </p:nvSpPr>
        <p:spPr>
          <a:xfrm>
            <a:off x="6949440" y="3392424"/>
            <a:ext cx="192024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6"/>
          <p:cNvSpPr/>
          <p:nvPr/>
        </p:nvSpPr>
        <p:spPr>
          <a:xfrm>
            <a:off x="6976872" y="3392424"/>
            <a:ext cx="188366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Brosimum rubescens</a:t>
            </a:r>
            <a:endParaRPr lang="en-US" sz="850" dirty="0"/>
          </a:p>
        </p:txBody>
      </p:sp>
      <p:sp>
        <p:nvSpPr>
          <p:cNvPr id="122" name="Shape 117"/>
          <p:cNvSpPr/>
          <p:nvPr/>
        </p:nvSpPr>
        <p:spPr>
          <a:xfrm>
            <a:off x="8869680" y="3392424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3" name="Text 118"/>
          <p:cNvSpPr/>
          <p:nvPr/>
        </p:nvSpPr>
        <p:spPr>
          <a:xfrm>
            <a:off x="8897112" y="3392424"/>
            <a:ext cx="42062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24" name="Shape 119"/>
          <p:cNvSpPr/>
          <p:nvPr/>
        </p:nvSpPr>
        <p:spPr>
          <a:xfrm>
            <a:off x="9326880" y="3392424"/>
            <a:ext cx="7498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5" name="Text 120"/>
          <p:cNvSpPr/>
          <p:nvPr/>
        </p:nvSpPr>
        <p:spPr>
          <a:xfrm>
            <a:off x="9354312" y="3392424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850" dirty="0"/>
          </a:p>
        </p:txBody>
      </p:sp>
      <p:sp>
        <p:nvSpPr>
          <p:cNvPr id="126" name="Shape 121"/>
          <p:cNvSpPr/>
          <p:nvPr/>
        </p:nvSpPr>
        <p:spPr>
          <a:xfrm>
            <a:off x="10076688" y="3392424"/>
            <a:ext cx="7498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7" name="Text 122"/>
          <p:cNvSpPr/>
          <p:nvPr/>
        </p:nvSpPr>
        <p:spPr>
          <a:xfrm>
            <a:off x="10104120" y="3392424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176.00</a:t>
            </a:r>
            <a:endParaRPr lang="en-US" sz="850" dirty="0"/>
          </a:p>
        </p:txBody>
      </p:sp>
      <p:sp>
        <p:nvSpPr>
          <p:cNvPr id="128" name="Shape 123"/>
          <p:cNvSpPr/>
          <p:nvPr/>
        </p:nvSpPr>
        <p:spPr>
          <a:xfrm>
            <a:off x="10826496" y="3392424"/>
            <a:ext cx="9601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9" name="Text 124"/>
          <p:cNvSpPr/>
          <p:nvPr/>
        </p:nvSpPr>
        <p:spPr>
          <a:xfrm>
            <a:off x="10853928" y="3392424"/>
            <a:ext cx="9235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30" name="Shape 125"/>
          <p:cNvSpPr/>
          <p:nvPr/>
        </p:nvSpPr>
        <p:spPr>
          <a:xfrm>
            <a:off x="5760720" y="3639312"/>
            <a:ext cx="118872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1" name="Text 126"/>
          <p:cNvSpPr/>
          <p:nvPr/>
        </p:nvSpPr>
        <p:spPr>
          <a:xfrm>
            <a:off x="5788152" y="3639312"/>
            <a:ext cx="11521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PALISANGRE</a:t>
            </a:r>
            <a:endParaRPr lang="en-US" sz="850" dirty="0"/>
          </a:p>
        </p:txBody>
      </p:sp>
      <p:sp>
        <p:nvSpPr>
          <p:cNvPr id="132" name="Shape 127"/>
          <p:cNvSpPr/>
          <p:nvPr/>
        </p:nvSpPr>
        <p:spPr>
          <a:xfrm>
            <a:off x="6949440" y="3639312"/>
            <a:ext cx="192024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3" name="Text 128"/>
          <p:cNvSpPr/>
          <p:nvPr/>
        </p:nvSpPr>
        <p:spPr>
          <a:xfrm>
            <a:off x="6976872" y="3639312"/>
            <a:ext cx="188366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Brosimum rubescens</a:t>
            </a:r>
            <a:endParaRPr lang="en-US" sz="850" dirty="0"/>
          </a:p>
        </p:txBody>
      </p:sp>
      <p:sp>
        <p:nvSpPr>
          <p:cNvPr id="134" name="Shape 129"/>
          <p:cNvSpPr/>
          <p:nvPr/>
        </p:nvSpPr>
        <p:spPr>
          <a:xfrm>
            <a:off x="8869680" y="3639312"/>
            <a:ext cx="45720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5" name="Text 130"/>
          <p:cNvSpPr/>
          <p:nvPr/>
        </p:nvSpPr>
        <p:spPr>
          <a:xfrm>
            <a:off x="8897112" y="3639312"/>
            <a:ext cx="42062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36" name="Shape 131"/>
          <p:cNvSpPr/>
          <p:nvPr/>
        </p:nvSpPr>
        <p:spPr>
          <a:xfrm>
            <a:off x="9326880" y="3639312"/>
            <a:ext cx="749808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7" name="Text 132"/>
          <p:cNvSpPr/>
          <p:nvPr/>
        </p:nvSpPr>
        <p:spPr>
          <a:xfrm>
            <a:off x="9354312" y="3639312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1.019</a:t>
            </a:r>
            <a:endParaRPr lang="en-US" sz="850" dirty="0"/>
          </a:p>
        </p:txBody>
      </p:sp>
      <p:sp>
        <p:nvSpPr>
          <p:cNvPr id="138" name="Shape 133"/>
          <p:cNvSpPr/>
          <p:nvPr/>
        </p:nvSpPr>
        <p:spPr>
          <a:xfrm>
            <a:off x="10076688" y="3639312"/>
            <a:ext cx="749808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9" name="Text 134"/>
          <p:cNvSpPr/>
          <p:nvPr/>
        </p:nvSpPr>
        <p:spPr>
          <a:xfrm>
            <a:off x="10104120" y="3639312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224.18</a:t>
            </a:r>
            <a:endParaRPr lang="en-US" sz="850" dirty="0"/>
          </a:p>
        </p:txBody>
      </p:sp>
      <p:sp>
        <p:nvSpPr>
          <p:cNvPr id="140" name="Shape 135"/>
          <p:cNvSpPr/>
          <p:nvPr/>
        </p:nvSpPr>
        <p:spPr>
          <a:xfrm>
            <a:off x="10826496" y="3639312"/>
            <a:ext cx="96012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1" name="Text 136"/>
          <p:cNvSpPr/>
          <p:nvPr/>
        </p:nvSpPr>
        <p:spPr>
          <a:xfrm>
            <a:off x="10853928" y="3639312"/>
            <a:ext cx="9235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42" name="Shape 137"/>
          <p:cNvSpPr/>
          <p:nvPr/>
        </p:nvSpPr>
        <p:spPr>
          <a:xfrm>
            <a:off x="5760720" y="3886200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3" name="Text 138"/>
          <p:cNvSpPr/>
          <p:nvPr/>
        </p:nvSpPr>
        <p:spPr>
          <a:xfrm>
            <a:off x="5788152" y="3886200"/>
            <a:ext cx="11521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PALISANGRE</a:t>
            </a:r>
            <a:endParaRPr lang="en-US" sz="850" dirty="0"/>
          </a:p>
        </p:txBody>
      </p:sp>
      <p:sp>
        <p:nvSpPr>
          <p:cNvPr id="144" name="Shape 139"/>
          <p:cNvSpPr/>
          <p:nvPr/>
        </p:nvSpPr>
        <p:spPr>
          <a:xfrm>
            <a:off x="6949440" y="3886200"/>
            <a:ext cx="192024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5" name="Text 140"/>
          <p:cNvSpPr/>
          <p:nvPr/>
        </p:nvSpPr>
        <p:spPr>
          <a:xfrm>
            <a:off x="6976872" y="3886200"/>
            <a:ext cx="188366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Brosimum rubescens</a:t>
            </a:r>
            <a:endParaRPr lang="en-US" sz="850" dirty="0"/>
          </a:p>
        </p:txBody>
      </p:sp>
      <p:sp>
        <p:nvSpPr>
          <p:cNvPr id="146" name="Shape 141"/>
          <p:cNvSpPr/>
          <p:nvPr/>
        </p:nvSpPr>
        <p:spPr>
          <a:xfrm>
            <a:off x="8869680" y="3886200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7" name="Text 142"/>
          <p:cNvSpPr/>
          <p:nvPr/>
        </p:nvSpPr>
        <p:spPr>
          <a:xfrm>
            <a:off x="8897112" y="3886200"/>
            <a:ext cx="42062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48" name="Shape 143"/>
          <p:cNvSpPr/>
          <p:nvPr/>
        </p:nvSpPr>
        <p:spPr>
          <a:xfrm>
            <a:off x="9326880" y="3886200"/>
            <a:ext cx="7498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9" name="Text 144"/>
          <p:cNvSpPr/>
          <p:nvPr/>
        </p:nvSpPr>
        <p:spPr>
          <a:xfrm>
            <a:off x="9354312" y="3886200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1.013</a:t>
            </a:r>
            <a:endParaRPr lang="en-US" sz="850" dirty="0"/>
          </a:p>
        </p:txBody>
      </p:sp>
      <p:sp>
        <p:nvSpPr>
          <p:cNvPr id="150" name="Shape 145"/>
          <p:cNvSpPr/>
          <p:nvPr/>
        </p:nvSpPr>
        <p:spPr>
          <a:xfrm>
            <a:off x="10076688" y="3886200"/>
            <a:ext cx="7498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" name="Text 146"/>
          <p:cNvSpPr/>
          <p:nvPr/>
        </p:nvSpPr>
        <p:spPr>
          <a:xfrm>
            <a:off x="10104120" y="3886200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222.86</a:t>
            </a:r>
            <a:endParaRPr lang="en-US" sz="850" dirty="0"/>
          </a:p>
        </p:txBody>
      </p:sp>
      <p:sp>
        <p:nvSpPr>
          <p:cNvPr id="152" name="Shape 147"/>
          <p:cNvSpPr/>
          <p:nvPr/>
        </p:nvSpPr>
        <p:spPr>
          <a:xfrm>
            <a:off x="10826496" y="3886200"/>
            <a:ext cx="9601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3" name="Text 148"/>
          <p:cNvSpPr/>
          <p:nvPr/>
        </p:nvSpPr>
        <p:spPr>
          <a:xfrm>
            <a:off x="10853928" y="3886200"/>
            <a:ext cx="9235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54" name="Shape 149"/>
          <p:cNvSpPr/>
          <p:nvPr/>
        </p:nvSpPr>
        <p:spPr>
          <a:xfrm>
            <a:off x="5760720" y="4133088"/>
            <a:ext cx="118872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5" name="Text 150"/>
          <p:cNvSpPr/>
          <p:nvPr/>
        </p:nvSpPr>
        <p:spPr>
          <a:xfrm>
            <a:off x="5788152" y="4133088"/>
            <a:ext cx="11521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MARUPA</a:t>
            </a:r>
            <a:endParaRPr lang="en-US" sz="850" dirty="0"/>
          </a:p>
        </p:txBody>
      </p:sp>
      <p:sp>
        <p:nvSpPr>
          <p:cNvPr id="156" name="Shape 151"/>
          <p:cNvSpPr/>
          <p:nvPr/>
        </p:nvSpPr>
        <p:spPr>
          <a:xfrm>
            <a:off x="6949440" y="4133088"/>
            <a:ext cx="192024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7" name="Text 152"/>
          <p:cNvSpPr/>
          <p:nvPr/>
        </p:nvSpPr>
        <p:spPr>
          <a:xfrm>
            <a:off x="6976872" y="4133088"/>
            <a:ext cx="188366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Simarouba amara</a:t>
            </a:r>
            <a:endParaRPr lang="en-US" sz="850" dirty="0"/>
          </a:p>
        </p:txBody>
      </p:sp>
      <p:sp>
        <p:nvSpPr>
          <p:cNvPr id="158" name="Shape 153"/>
          <p:cNvSpPr/>
          <p:nvPr/>
        </p:nvSpPr>
        <p:spPr>
          <a:xfrm>
            <a:off x="8869680" y="4133088"/>
            <a:ext cx="45720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9" name="Text 154"/>
          <p:cNvSpPr/>
          <p:nvPr/>
        </p:nvSpPr>
        <p:spPr>
          <a:xfrm>
            <a:off x="8897112" y="4133088"/>
            <a:ext cx="42062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0" name="Shape 155"/>
          <p:cNvSpPr/>
          <p:nvPr/>
        </p:nvSpPr>
        <p:spPr>
          <a:xfrm>
            <a:off x="9326880" y="4133088"/>
            <a:ext cx="749808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61" name="Text 156"/>
          <p:cNvSpPr/>
          <p:nvPr/>
        </p:nvSpPr>
        <p:spPr>
          <a:xfrm>
            <a:off x="9354312" y="4133088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1.414</a:t>
            </a:r>
            <a:endParaRPr lang="en-US" sz="850" dirty="0"/>
          </a:p>
        </p:txBody>
      </p:sp>
      <p:sp>
        <p:nvSpPr>
          <p:cNvPr id="162" name="Shape 157"/>
          <p:cNvSpPr/>
          <p:nvPr/>
        </p:nvSpPr>
        <p:spPr>
          <a:xfrm>
            <a:off x="10076688" y="4133088"/>
            <a:ext cx="749808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63" name="Text 158"/>
          <p:cNvSpPr/>
          <p:nvPr/>
        </p:nvSpPr>
        <p:spPr>
          <a:xfrm>
            <a:off x="10104120" y="4133088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311.08</a:t>
            </a:r>
            <a:endParaRPr lang="en-US" sz="850" dirty="0"/>
          </a:p>
        </p:txBody>
      </p:sp>
      <p:sp>
        <p:nvSpPr>
          <p:cNvPr id="164" name="Shape 159"/>
          <p:cNvSpPr/>
          <p:nvPr/>
        </p:nvSpPr>
        <p:spPr>
          <a:xfrm>
            <a:off x="10826496" y="4133088"/>
            <a:ext cx="96012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65" name="Text 160"/>
          <p:cNvSpPr/>
          <p:nvPr/>
        </p:nvSpPr>
        <p:spPr>
          <a:xfrm>
            <a:off x="10853928" y="4133088"/>
            <a:ext cx="9235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66" name="Shape 161"/>
          <p:cNvSpPr/>
          <p:nvPr/>
        </p:nvSpPr>
        <p:spPr>
          <a:xfrm>
            <a:off x="5760720" y="4379976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7" name="Text 162"/>
          <p:cNvSpPr/>
          <p:nvPr/>
        </p:nvSpPr>
        <p:spPr>
          <a:xfrm>
            <a:off x="5788152" y="4379976"/>
            <a:ext cx="11521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MARUPA</a:t>
            </a:r>
            <a:endParaRPr lang="en-US" sz="850" dirty="0"/>
          </a:p>
        </p:txBody>
      </p:sp>
      <p:sp>
        <p:nvSpPr>
          <p:cNvPr id="168" name="Shape 163"/>
          <p:cNvSpPr/>
          <p:nvPr/>
        </p:nvSpPr>
        <p:spPr>
          <a:xfrm>
            <a:off x="6949440" y="4379976"/>
            <a:ext cx="192024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9" name="Text 164"/>
          <p:cNvSpPr/>
          <p:nvPr/>
        </p:nvSpPr>
        <p:spPr>
          <a:xfrm>
            <a:off x="6976872" y="4379976"/>
            <a:ext cx="188366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Simarouba amara</a:t>
            </a:r>
            <a:endParaRPr lang="en-US" sz="850" dirty="0"/>
          </a:p>
        </p:txBody>
      </p:sp>
      <p:sp>
        <p:nvSpPr>
          <p:cNvPr id="170" name="Shape 165"/>
          <p:cNvSpPr/>
          <p:nvPr/>
        </p:nvSpPr>
        <p:spPr>
          <a:xfrm>
            <a:off x="8869680" y="4379976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1" name="Text 166"/>
          <p:cNvSpPr/>
          <p:nvPr/>
        </p:nvSpPr>
        <p:spPr>
          <a:xfrm>
            <a:off x="8897112" y="4379976"/>
            <a:ext cx="42062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72" name="Shape 167"/>
          <p:cNvSpPr/>
          <p:nvPr/>
        </p:nvSpPr>
        <p:spPr>
          <a:xfrm>
            <a:off x="9326880" y="4379976"/>
            <a:ext cx="7498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3" name="Text 168"/>
          <p:cNvSpPr/>
          <p:nvPr/>
        </p:nvSpPr>
        <p:spPr>
          <a:xfrm>
            <a:off x="9354312" y="4379976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</a:t>
            </a:r>
            <a:endParaRPr lang="en-US" sz="850" dirty="0"/>
          </a:p>
        </p:txBody>
      </p:sp>
      <p:sp>
        <p:nvSpPr>
          <p:cNvPr id="174" name="Shape 169"/>
          <p:cNvSpPr/>
          <p:nvPr/>
        </p:nvSpPr>
        <p:spPr>
          <a:xfrm>
            <a:off x="10076688" y="4379976"/>
            <a:ext cx="7498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5" name="Text 170"/>
          <p:cNvSpPr/>
          <p:nvPr/>
        </p:nvSpPr>
        <p:spPr>
          <a:xfrm>
            <a:off x="10104120" y="4379976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219.56</a:t>
            </a:r>
            <a:endParaRPr lang="en-US" sz="850" dirty="0"/>
          </a:p>
        </p:txBody>
      </p:sp>
      <p:sp>
        <p:nvSpPr>
          <p:cNvPr id="176" name="Shape 171"/>
          <p:cNvSpPr/>
          <p:nvPr/>
        </p:nvSpPr>
        <p:spPr>
          <a:xfrm>
            <a:off x="10826496" y="4379976"/>
            <a:ext cx="9601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7" name="Text 172"/>
          <p:cNvSpPr/>
          <p:nvPr/>
        </p:nvSpPr>
        <p:spPr>
          <a:xfrm>
            <a:off x="10853928" y="4379976"/>
            <a:ext cx="9235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78" name="Shape 173"/>
          <p:cNvSpPr/>
          <p:nvPr/>
        </p:nvSpPr>
        <p:spPr>
          <a:xfrm>
            <a:off x="5760720" y="4626864"/>
            <a:ext cx="1188720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79" name="Text 174"/>
          <p:cNvSpPr/>
          <p:nvPr/>
        </p:nvSpPr>
        <p:spPr>
          <a:xfrm>
            <a:off x="5788152" y="4626864"/>
            <a:ext cx="115214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180" name="Shape 175"/>
          <p:cNvSpPr/>
          <p:nvPr/>
        </p:nvSpPr>
        <p:spPr>
          <a:xfrm>
            <a:off x="6949440" y="4626864"/>
            <a:ext cx="1920240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81" name="Text 176"/>
          <p:cNvSpPr/>
          <p:nvPr/>
        </p:nvSpPr>
        <p:spPr>
          <a:xfrm>
            <a:off x="6976872" y="4626864"/>
            <a:ext cx="188366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especies / 8 trozas</a:t>
            </a:r>
            <a:endParaRPr lang="en-US" sz="900" dirty="0"/>
          </a:p>
        </p:txBody>
      </p:sp>
      <p:sp>
        <p:nvSpPr>
          <p:cNvPr id="182" name="Shape 177"/>
          <p:cNvSpPr/>
          <p:nvPr/>
        </p:nvSpPr>
        <p:spPr>
          <a:xfrm>
            <a:off x="8869680" y="4626864"/>
            <a:ext cx="457200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83" name="Text 178"/>
          <p:cNvSpPr/>
          <p:nvPr/>
        </p:nvSpPr>
        <p:spPr>
          <a:xfrm>
            <a:off x="8897112" y="4626864"/>
            <a:ext cx="42062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84" name="Shape 179"/>
          <p:cNvSpPr/>
          <p:nvPr/>
        </p:nvSpPr>
        <p:spPr>
          <a:xfrm>
            <a:off x="9326880" y="4626864"/>
            <a:ext cx="749808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85" name="Text 180"/>
          <p:cNvSpPr/>
          <p:nvPr/>
        </p:nvSpPr>
        <p:spPr>
          <a:xfrm>
            <a:off x="9354312" y="4626864"/>
            <a:ext cx="7132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7.997</a:t>
            </a:r>
            <a:endParaRPr lang="en-US" sz="900" dirty="0"/>
          </a:p>
        </p:txBody>
      </p:sp>
      <p:sp>
        <p:nvSpPr>
          <p:cNvPr id="186" name="Shape 181"/>
          <p:cNvSpPr/>
          <p:nvPr/>
        </p:nvSpPr>
        <p:spPr>
          <a:xfrm>
            <a:off x="10076688" y="4626864"/>
            <a:ext cx="749808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87" name="Text 182"/>
          <p:cNvSpPr/>
          <p:nvPr/>
        </p:nvSpPr>
        <p:spPr>
          <a:xfrm>
            <a:off x="10104120" y="4626864"/>
            <a:ext cx="7132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1,759.34</a:t>
            </a:r>
            <a:endParaRPr lang="en-US" sz="900" dirty="0"/>
          </a:p>
        </p:txBody>
      </p:sp>
      <p:sp>
        <p:nvSpPr>
          <p:cNvPr id="188" name="Shape 183"/>
          <p:cNvSpPr/>
          <p:nvPr/>
        </p:nvSpPr>
        <p:spPr>
          <a:xfrm>
            <a:off x="10826496" y="4626864"/>
            <a:ext cx="960120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89" name="Text 184"/>
          <p:cNvSpPr/>
          <p:nvPr/>
        </p:nvSpPr>
        <p:spPr>
          <a:xfrm>
            <a:off x="10853928" y="4626864"/>
            <a:ext cx="92354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2,639.01</a:t>
            </a:r>
            <a:endParaRPr lang="en-US" sz="900" dirty="0"/>
          </a:p>
        </p:txBody>
      </p:sp>
      <p:sp>
        <p:nvSpPr>
          <p:cNvPr id="190" name="Shape 185"/>
          <p:cNvSpPr/>
          <p:nvPr/>
        </p:nvSpPr>
        <p:spPr>
          <a:xfrm>
            <a:off x="5760720" y="4974336"/>
            <a:ext cx="6236208" cy="1371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91" name="Text 186"/>
          <p:cNvSpPr/>
          <p:nvPr/>
        </p:nvSpPr>
        <p:spPr>
          <a:xfrm>
            <a:off x="5888736" y="5029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Volumen por especie (m³)  —  Total: 7.997 m³</a:t>
            </a:r>
            <a:endParaRPr lang="en-US" sz="1000" dirty="0"/>
          </a:p>
        </p:txBody>
      </p:sp>
      <p:sp>
        <p:nvSpPr>
          <p:cNvPr id="192" name="Text 187"/>
          <p:cNvSpPr/>
          <p:nvPr/>
        </p:nvSpPr>
        <p:spPr>
          <a:xfrm>
            <a:off x="5943600" y="545035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2.753</a:t>
            </a:r>
            <a:endParaRPr lang="en-US" sz="1000" dirty="0"/>
          </a:p>
        </p:txBody>
      </p:sp>
      <p:sp>
        <p:nvSpPr>
          <p:cNvPr id="193" name="Shape 188"/>
          <p:cNvSpPr/>
          <p:nvPr/>
        </p:nvSpPr>
        <p:spPr>
          <a:xfrm>
            <a:off x="6071616" y="5651518"/>
            <a:ext cx="1554480" cy="56640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4" name="Text 189"/>
          <p:cNvSpPr/>
          <p:nvPr/>
        </p:nvSpPr>
        <p:spPr>
          <a:xfrm>
            <a:off x="5943600" y="62362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PANGUANA</a:t>
            </a:r>
            <a:endParaRPr lang="en-US" sz="800" dirty="0"/>
          </a:p>
        </p:txBody>
      </p:sp>
      <p:sp>
        <p:nvSpPr>
          <p:cNvPr id="195" name="Text 190"/>
          <p:cNvSpPr/>
          <p:nvPr/>
        </p:nvSpPr>
        <p:spPr>
          <a:xfrm>
            <a:off x="7964424" y="54340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2.832</a:t>
            </a:r>
            <a:endParaRPr lang="en-US" sz="1000" dirty="0"/>
          </a:p>
        </p:txBody>
      </p:sp>
      <p:sp>
        <p:nvSpPr>
          <p:cNvPr id="196" name="Shape 191"/>
          <p:cNvSpPr/>
          <p:nvPr/>
        </p:nvSpPr>
        <p:spPr>
          <a:xfrm>
            <a:off x="8092440" y="5635264"/>
            <a:ext cx="1554480" cy="582656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97" name="Text 192"/>
          <p:cNvSpPr/>
          <p:nvPr/>
        </p:nvSpPr>
        <p:spPr>
          <a:xfrm>
            <a:off x="7964424" y="62362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PALISANGRE</a:t>
            </a:r>
            <a:endParaRPr lang="en-US" sz="800" dirty="0"/>
          </a:p>
        </p:txBody>
      </p:sp>
      <p:sp>
        <p:nvSpPr>
          <p:cNvPr id="198" name="Text 193"/>
          <p:cNvSpPr/>
          <p:nvPr/>
        </p:nvSpPr>
        <p:spPr>
          <a:xfrm>
            <a:off x="9985248" y="5520507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2.412</a:t>
            </a:r>
            <a:endParaRPr lang="en-US" sz="1000" dirty="0"/>
          </a:p>
        </p:txBody>
      </p:sp>
      <p:sp>
        <p:nvSpPr>
          <p:cNvPr id="199" name="Shape 194"/>
          <p:cNvSpPr/>
          <p:nvPr/>
        </p:nvSpPr>
        <p:spPr>
          <a:xfrm>
            <a:off x="10113264" y="5721675"/>
            <a:ext cx="1554480" cy="496245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200" name="Text 195"/>
          <p:cNvSpPr/>
          <p:nvPr/>
        </p:nvSpPr>
        <p:spPr>
          <a:xfrm>
            <a:off x="9985248" y="62362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MARUPA</a:t>
            </a:r>
            <a:endParaRPr lang="en-US" sz="800" dirty="0"/>
          </a:p>
        </p:txBody>
      </p:sp>
      <p:sp>
        <p:nvSpPr>
          <p:cNvPr id="201" name="Shape 196"/>
          <p:cNvSpPr/>
          <p:nvPr/>
        </p:nvSpPr>
        <p:spPr>
          <a:xfrm>
            <a:off x="11942064" y="5157216"/>
            <a:ext cx="0" cy="0"/>
          </a:xfrm>
          <a:prstGeom prst="rect">
            <a:avLst/>
          </a:prstGeom>
          <a:noFill/>
          <a:ln/>
        </p:spPr>
      </p:sp>
      <p:sp>
        <p:nvSpPr>
          <p:cNvPr id="202" name="Shape 197"/>
          <p:cNvSpPr/>
          <p:nvPr/>
        </p:nvSpPr>
        <p:spPr>
          <a:xfrm>
            <a:off x="11356848" y="4974336"/>
            <a:ext cx="640080" cy="1371600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203" name="Text 198"/>
          <p:cNvSpPr/>
          <p:nvPr/>
        </p:nvSpPr>
        <p:spPr>
          <a:xfrm>
            <a:off x="11356848" y="5111496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D.S.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204" name="Shape 199"/>
          <p:cNvSpPr/>
          <p:nvPr/>
        </p:nvSpPr>
        <p:spPr>
          <a:xfrm>
            <a:off x="0" y="6528816"/>
            <a:ext cx="12161520" cy="32918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205" name="Shape 200"/>
          <p:cNvSpPr/>
          <p:nvPr/>
        </p:nvSpPr>
        <p:spPr>
          <a:xfrm>
            <a:off x="0" y="6528816"/>
            <a:ext cx="109728" cy="329184"/>
          </a:xfrm>
          <a:prstGeom prst="rect">
            <a:avLst/>
          </a:prstGeom>
          <a:solidFill>
            <a:srgbClr val="0D4A1E"/>
          </a:solidFill>
          <a:ln/>
        </p:spPr>
      </p:sp>
      <p:sp>
        <p:nvSpPr>
          <p:cNvPr id="206" name="Text 201"/>
          <p:cNvSpPr/>
          <p:nvPr/>
        </p:nvSpPr>
        <p:spPr>
          <a:xfrm>
            <a:off x="164592" y="6528816"/>
            <a:ext cx="11942064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CONCLUSIÓN: INICIAR PAS — Infracción MUY GRAVE Numeral 22 D.S. 007-2021-MIDAGRI · Mantener decomiso 7.997 m³ · Expediente derivado al Área Legal Instructora · Diapositiva 2 / 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46304"/>
            <a:ext cx="11832336" cy="786384"/>
          </a:xfrm>
          <a:prstGeom prst="rect">
            <a:avLst/>
          </a:prstGeom>
          <a:solidFill>
            <a:srgbClr val="0891B2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4630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N° 006-2026 — INFORME TÉCNICO COMPLEMENTARIO DE INICIO DE PAS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Asunto: Evaluación técnica complementaria — inicio PAS contra JOEL GRÁNDEZ CHÁVEZ (DNI 00177277) — Fundo El Tornillal I y II — Exp. N° 041-2025-PAS-SOFFS/PA  ·  04 Marzo 2026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64592" y="1042416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042416"/>
            <a:ext cx="2871216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164592" y="1115568"/>
            <a:ext cx="2871216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19456" y="1722730"/>
            <a:ext cx="2761488" cy="373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Talados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3824" y="1042416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63824" y="1042416"/>
            <a:ext cx="2871216" cy="5486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15" name="Text 12"/>
          <p:cNvSpPr/>
          <p:nvPr/>
        </p:nvSpPr>
        <p:spPr>
          <a:xfrm>
            <a:off x="3163824" y="1115568"/>
            <a:ext cx="2871216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15.248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218688" y="1722730"/>
            <a:ext cx="2761488" cy="373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 Vol.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63056" y="1042416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63056" y="1042416"/>
            <a:ext cx="2871216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6163056" y="1115568"/>
            <a:ext cx="2871216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0.574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217920" y="1722730"/>
            <a:ext cx="2761488" cy="373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Deforestadas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162288" y="1042416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162288" y="1042416"/>
            <a:ext cx="2871216" cy="5486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23" name="Text 20"/>
          <p:cNvSpPr/>
          <p:nvPr/>
        </p:nvSpPr>
        <p:spPr>
          <a:xfrm>
            <a:off x="9162288" y="1115568"/>
            <a:ext cx="2871216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S/10,734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9217152" y="1722730"/>
            <a:ext cx="2761488" cy="373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Valorización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ilícita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64592" y="2249424"/>
            <a:ext cx="5468112" cy="42793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64592" y="2249424"/>
            <a:ext cx="5468112" cy="34747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304288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66928" y="2249424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— EXP. N° 041-2025-PAS-SOFFS/PA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164592" y="2596896"/>
            <a:ext cx="5468112" cy="38404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30" name="Shape 26"/>
          <p:cNvSpPr/>
          <p:nvPr/>
        </p:nvSpPr>
        <p:spPr>
          <a:xfrm>
            <a:off x="164592" y="2596896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7"/>
          <p:cNvSpPr/>
          <p:nvPr/>
        </p:nvSpPr>
        <p:spPr>
          <a:xfrm>
            <a:off x="228600" y="2596896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581912" y="2596896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Grández Chávez — DNI N° 00177277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164592" y="2990088"/>
            <a:ext cx="546811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0"/>
          <p:cNvSpPr/>
          <p:nvPr/>
        </p:nvSpPr>
        <p:spPr>
          <a:xfrm>
            <a:off x="164592" y="2990088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1"/>
          <p:cNvSpPr/>
          <p:nvPr/>
        </p:nvSpPr>
        <p:spPr>
          <a:xfrm>
            <a:off x="228600" y="2990088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Predio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581912" y="2990088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'El Tornillal I' y 'El Tornillal II' — UC 028664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164592" y="3383280"/>
            <a:ext cx="5468112" cy="38404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38" name="Shape 34"/>
          <p:cNvSpPr/>
          <p:nvPr/>
        </p:nvSpPr>
        <p:spPr>
          <a:xfrm>
            <a:off x="164592" y="3383280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5"/>
          <p:cNvSpPr/>
          <p:nvPr/>
        </p:nvSpPr>
        <p:spPr>
          <a:xfrm>
            <a:off x="228600" y="3383280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581912" y="3383280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Miraflores, Distrito y Provincia de Padre Abad, Ucayali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164592" y="3776472"/>
            <a:ext cx="546811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8"/>
          <p:cNvSpPr/>
          <p:nvPr/>
        </p:nvSpPr>
        <p:spPr>
          <a:xfrm>
            <a:off x="164592" y="3776472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39"/>
          <p:cNvSpPr/>
          <p:nvPr/>
        </p:nvSpPr>
        <p:spPr>
          <a:xfrm>
            <a:off x="228600" y="3776472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1581912" y="3776472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439306 E / 8997637 N (1ª insp.) — UTM 439392 E / 8997763 N (2ª insp.)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164592" y="4169664"/>
            <a:ext cx="5468112" cy="38404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46" name="Shape 42"/>
          <p:cNvSpPr/>
          <p:nvPr/>
        </p:nvSpPr>
        <p:spPr>
          <a:xfrm>
            <a:off x="164592" y="4169664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3"/>
          <p:cNvSpPr/>
          <p:nvPr/>
        </p:nvSpPr>
        <p:spPr>
          <a:xfrm>
            <a:off x="228600" y="4169664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Denuncia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581912" y="4169664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S/N-2025-VCHM — Honorio Velásquez Casanova — Reg. N° 2878 (17/10/2025)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164592" y="4562856"/>
            <a:ext cx="546811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6"/>
          <p:cNvSpPr/>
          <p:nvPr/>
        </p:nvSpPr>
        <p:spPr>
          <a:xfrm>
            <a:off x="164592" y="4562856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Text 47"/>
          <p:cNvSpPr/>
          <p:nvPr/>
        </p:nvSpPr>
        <p:spPr>
          <a:xfrm>
            <a:off x="228600" y="4562856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Inspección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1581912" y="4562856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N° 019 — 17/10/2025 — Retiro cobertura vegetal, shucleo previo a tala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164592" y="4956048"/>
            <a:ext cx="5468112" cy="38404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54" name="Shape 50"/>
          <p:cNvSpPr/>
          <p:nvPr/>
        </p:nvSpPr>
        <p:spPr>
          <a:xfrm>
            <a:off x="164592" y="4956048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5" name="Text 51"/>
          <p:cNvSpPr/>
          <p:nvPr/>
        </p:nvSpPr>
        <p:spPr>
          <a:xfrm>
            <a:off x="228600" y="4956048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Inspección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1581912" y="4956048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Inspección Ocular N° 002 — 02/02/2026 — 09:20 h — FEMA + PNP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164592" y="5349240"/>
            <a:ext cx="546811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4"/>
          <p:cNvSpPr/>
          <p:nvPr/>
        </p:nvSpPr>
        <p:spPr>
          <a:xfrm>
            <a:off x="164592" y="5349240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55"/>
          <p:cNvSpPr/>
          <p:nvPr/>
        </p:nvSpPr>
        <p:spPr>
          <a:xfrm>
            <a:off x="228600" y="5349240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1581912" y="5349240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Abog. Néstor Antonio Bartra Ramos — 2° FEMA-Ucayali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164592" y="5742432"/>
            <a:ext cx="5468112" cy="38404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2" name="Shape 58"/>
          <p:cNvSpPr/>
          <p:nvPr/>
        </p:nvSpPr>
        <p:spPr>
          <a:xfrm>
            <a:off x="164592" y="5742432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3" name="Text 59"/>
          <p:cNvSpPr/>
          <p:nvPr/>
        </p:nvSpPr>
        <p:spPr>
          <a:xfrm>
            <a:off x="228600" y="5742432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Infracciones</a:t>
            </a:r>
            <a:endParaRPr lang="en-US" sz="900" dirty="0"/>
          </a:p>
        </p:txBody>
      </p:sp>
      <p:sp>
        <p:nvSpPr>
          <p:cNvPr id="64" name="Text 60"/>
          <p:cNvSpPr/>
          <p:nvPr/>
        </p:nvSpPr>
        <p:spPr>
          <a:xfrm>
            <a:off x="1581912" y="5742432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Ítem 19 (retiro cobertura) + Ítem 21 (tala sin título) — MUY GRAVE</a:t>
            </a: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164592" y="6135624"/>
            <a:ext cx="546811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2"/>
          <p:cNvSpPr/>
          <p:nvPr/>
        </p:nvSpPr>
        <p:spPr>
          <a:xfrm>
            <a:off x="164592" y="6135624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7" name="Text 63"/>
          <p:cNvSpPr/>
          <p:nvPr/>
        </p:nvSpPr>
        <p:spPr>
          <a:xfrm>
            <a:off x="228600" y="6135624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título</a:t>
            </a:r>
            <a:endParaRPr lang="en-US" sz="900" dirty="0"/>
          </a:p>
        </p:txBody>
      </p:sp>
      <p:sp>
        <p:nvSpPr>
          <p:cNvPr id="68" name="Text 64"/>
          <p:cNvSpPr/>
          <p:nvPr/>
        </p:nvSpPr>
        <p:spPr>
          <a:xfrm>
            <a:off x="1581912" y="6135624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N° 017-2026-APAPP/ARCP confirma: SIN permiso 2020-2025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164592" y="6565392"/>
            <a:ext cx="5468112" cy="71323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70" name="Text 66"/>
          <p:cNvSpPr/>
          <p:nvPr/>
        </p:nvSpPr>
        <p:spPr>
          <a:xfrm>
            <a:off x="274320" y="66019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AGRAVANTES — EXP. 041-2025</a:t>
            </a:r>
            <a:endParaRPr lang="en-US" sz="1000" dirty="0"/>
          </a:p>
        </p:txBody>
      </p:sp>
      <p:sp>
        <p:nvSpPr>
          <p:cNvPr id="71" name="Text 67"/>
          <p:cNvSpPr/>
          <p:nvPr/>
        </p:nvSpPr>
        <p:spPr>
          <a:xfrm>
            <a:off x="274320" y="6803136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Área en Zona de Recuperación Forestal ZF-60301 (RM N° 0046-2024-MIDAGRI-DM)  • Afectación de quebrada con caudal (ANA — Art. 75° Ley 29338)  • Administrado reconoció actividad de rozo en acta  • Derivación a 2° FEMA-Ucayali (Art. 310° CP)</a:t>
            </a:r>
            <a:endParaRPr lang="en-US" sz="850" dirty="0"/>
          </a:p>
        </p:txBody>
      </p:sp>
      <p:sp>
        <p:nvSpPr>
          <p:cNvPr id="72" name="Shape 68"/>
          <p:cNvSpPr/>
          <p:nvPr/>
        </p:nvSpPr>
        <p:spPr>
          <a:xfrm>
            <a:off x="5760720" y="2249424"/>
            <a:ext cx="6236208" cy="42793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3" name="Shape 69"/>
          <p:cNvSpPr/>
          <p:nvPr/>
        </p:nvSpPr>
        <p:spPr>
          <a:xfrm>
            <a:off x="5760720" y="2249424"/>
            <a:ext cx="6236208" cy="347472"/>
          </a:xfrm>
          <a:prstGeom prst="rect">
            <a:avLst/>
          </a:prstGeom>
          <a:solidFill>
            <a:srgbClr val="1B7A34"/>
          </a:solidFill>
          <a:ln/>
        </p:spPr>
      </p:sp>
      <p:pic>
        <p:nvPicPr>
          <p:cNvPr id="7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304288"/>
            <a:ext cx="237744" cy="237744"/>
          </a:xfrm>
          <a:prstGeom prst="rect">
            <a:avLst/>
          </a:prstGeom>
        </p:spPr>
      </p:pic>
      <p:sp>
        <p:nvSpPr>
          <p:cNvPr id="75" name="Text 70"/>
          <p:cNvSpPr/>
          <p:nvPr/>
        </p:nvSpPr>
        <p:spPr>
          <a:xfrm>
            <a:off x="6163056" y="2249424"/>
            <a:ext cx="5779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01 — TORNILLO (Cedrelinga cateniformis) — 14 ÁRBOLES TALADOS</a:t>
            </a:r>
            <a:endParaRPr lang="en-US" sz="1200" dirty="0"/>
          </a:p>
        </p:txBody>
      </p:sp>
      <p:sp>
        <p:nvSpPr>
          <p:cNvPr id="76" name="Shape 71"/>
          <p:cNvSpPr/>
          <p:nvPr/>
        </p:nvSpPr>
        <p:spPr>
          <a:xfrm>
            <a:off x="5760720" y="2596896"/>
            <a:ext cx="6236208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77" name="Text 72"/>
          <p:cNvSpPr/>
          <p:nvPr/>
        </p:nvSpPr>
        <p:spPr>
          <a:xfrm>
            <a:off x="5852160" y="2596896"/>
            <a:ext cx="610819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N° 002-2026-ATI/EGMM · Precio S/ 3.20/PT · 3,354.56 PT · S/ 10,734.59 · Cat. DS043-2006-AG: NO amenazada</a:t>
            </a:r>
            <a:endParaRPr lang="en-US" sz="850" dirty="0"/>
          </a:p>
        </p:txBody>
      </p:sp>
      <p:sp>
        <p:nvSpPr>
          <p:cNvPr id="78" name="Shape 73"/>
          <p:cNvSpPr/>
          <p:nvPr/>
        </p:nvSpPr>
        <p:spPr>
          <a:xfrm>
            <a:off x="5760720" y="2816352"/>
            <a:ext cx="320040" cy="256032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79" name="Text 74"/>
          <p:cNvSpPr/>
          <p:nvPr/>
        </p:nvSpPr>
        <p:spPr>
          <a:xfrm>
            <a:off x="5779008" y="2816352"/>
            <a:ext cx="29260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</a:t>
            </a:r>
            <a:endParaRPr lang="en-US" sz="850" dirty="0"/>
          </a:p>
        </p:txBody>
      </p:sp>
      <p:sp>
        <p:nvSpPr>
          <p:cNvPr id="80" name="Shape 75"/>
          <p:cNvSpPr/>
          <p:nvPr/>
        </p:nvSpPr>
        <p:spPr>
          <a:xfrm>
            <a:off x="6080760" y="2816352"/>
            <a:ext cx="2395728" cy="256032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81" name="Text 76"/>
          <p:cNvSpPr/>
          <p:nvPr/>
        </p:nvSpPr>
        <p:spPr>
          <a:xfrm>
            <a:off x="6099048" y="2816352"/>
            <a:ext cx="2368296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Científico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8476488" y="2816352"/>
            <a:ext cx="594360" cy="256032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83" name="Text 78"/>
          <p:cNvSpPr/>
          <p:nvPr/>
        </p:nvSpPr>
        <p:spPr>
          <a:xfrm>
            <a:off x="8494776" y="2816352"/>
            <a:ext cx="56692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D1(cm)</a:t>
            </a:r>
            <a:endParaRPr lang="en-US" sz="850" dirty="0"/>
          </a:p>
        </p:txBody>
      </p:sp>
      <p:sp>
        <p:nvSpPr>
          <p:cNvPr id="84" name="Shape 79"/>
          <p:cNvSpPr/>
          <p:nvPr/>
        </p:nvSpPr>
        <p:spPr>
          <a:xfrm>
            <a:off x="9070848" y="2816352"/>
            <a:ext cx="658368" cy="256032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85" name="Text 80"/>
          <p:cNvSpPr/>
          <p:nvPr/>
        </p:nvSpPr>
        <p:spPr>
          <a:xfrm>
            <a:off x="9089136" y="2816352"/>
            <a:ext cx="630936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L(m)</a:t>
            </a:r>
            <a:endParaRPr lang="en-US" sz="850" dirty="0"/>
          </a:p>
        </p:txBody>
      </p:sp>
      <p:sp>
        <p:nvSpPr>
          <p:cNvPr id="86" name="Shape 81"/>
          <p:cNvSpPr/>
          <p:nvPr/>
        </p:nvSpPr>
        <p:spPr>
          <a:xfrm>
            <a:off x="9729216" y="2816352"/>
            <a:ext cx="749808" cy="256032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87" name="Text 82"/>
          <p:cNvSpPr/>
          <p:nvPr/>
        </p:nvSpPr>
        <p:spPr>
          <a:xfrm>
            <a:off x="9747504" y="2816352"/>
            <a:ext cx="722376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m³</a:t>
            </a:r>
            <a:endParaRPr lang="en-US" sz="850" dirty="0"/>
          </a:p>
        </p:txBody>
      </p:sp>
      <p:sp>
        <p:nvSpPr>
          <p:cNvPr id="88" name="Shape 83"/>
          <p:cNvSpPr/>
          <p:nvPr/>
        </p:nvSpPr>
        <p:spPr>
          <a:xfrm>
            <a:off x="10479024" y="2816352"/>
            <a:ext cx="1335024" cy="256032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89" name="Text 84"/>
          <p:cNvSpPr/>
          <p:nvPr/>
        </p:nvSpPr>
        <p:spPr>
          <a:xfrm>
            <a:off x="10497312" y="2816352"/>
            <a:ext cx="130759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PT</a:t>
            </a:r>
            <a:endParaRPr lang="en-US" sz="850" dirty="0"/>
          </a:p>
        </p:txBody>
      </p:sp>
      <p:sp>
        <p:nvSpPr>
          <p:cNvPr id="90" name="Shape 85"/>
          <p:cNvSpPr/>
          <p:nvPr/>
        </p:nvSpPr>
        <p:spPr>
          <a:xfrm>
            <a:off x="5760720" y="3072384"/>
            <a:ext cx="32004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91" name="Text 86"/>
          <p:cNvSpPr/>
          <p:nvPr/>
        </p:nvSpPr>
        <p:spPr>
          <a:xfrm>
            <a:off x="5779008" y="3072384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92" name="Shape 87"/>
          <p:cNvSpPr/>
          <p:nvPr/>
        </p:nvSpPr>
        <p:spPr>
          <a:xfrm>
            <a:off x="6080760" y="3072384"/>
            <a:ext cx="239572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93" name="Text 88"/>
          <p:cNvSpPr/>
          <p:nvPr/>
        </p:nvSpPr>
        <p:spPr>
          <a:xfrm>
            <a:off x="6099048" y="3072384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94" name="Shape 89"/>
          <p:cNvSpPr/>
          <p:nvPr/>
        </p:nvSpPr>
        <p:spPr>
          <a:xfrm>
            <a:off x="8476488" y="3072384"/>
            <a:ext cx="59436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95" name="Text 90"/>
          <p:cNvSpPr/>
          <p:nvPr/>
        </p:nvSpPr>
        <p:spPr>
          <a:xfrm>
            <a:off x="8494776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850" dirty="0"/>
          </a:p>
        </p:txBody>
      </p:sp>
      <p:sp>
        <p:nvSpPr>
          <p:cNvPr id="96" name="Shape 91"/>
          <p:cNvSpPr/>
          <p:nvPr/>
        </p:nvSpPr>
        <p:spPr>
          <a:xfrm>
            <a:off x="9070848" y="3072384"/>
            <a:ext cx="65836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97" name="Text 92"/>
          <p:cNvSpPr/>
          <p:nvPr/>
        </p:nvSpPr>
        <p:spPr>
          <a:xfrm>
            <a:off x="9089136" y="3072384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98" name="Shape 93"/>
          <p:cNvSpPr/>
          <p:nvPr/>
        </p:nvSpPr>
        <p:spPr>
          <a:xfrm>
            <a:off x="9729216" y="3072384"/>
            <a:ext cx="74980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99" name="Text 94"/>
          <p:cNvSpPr/>
          <p:nvPr/>
        </p:nvSpPr>
        <p:spPr>
          <a:xfrm>
            <a:off x="9747504" y="3072384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1.751</a:t>
            </a:r>
            <a:endParaRPr lang="en-US" sz="850" dirty="0"/>
          </a:p>
        </p:txBody>
      </p:sp>
      <p:sp>
        <p:nvSpPr>
          <p:cNvPr id="100" name="Shape 95"/>
          <p:cNvSpPr/>
          <p:nvPr/>
        </p:nvSpPr>
        <p:spPr>
          <a:xfrm>
            <a:off x="10479024" y="3072384"/>
            <a:ext cx="1335024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01" name="Text 96"/>
          <p:cNvSpPr/>
          <p:nvPr/>
        </p:nvSpPr>
        <p:spPr>
          <a:xfrm>
            <a:off x="10497312" y="3072384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385.22</a:t>
            </a:r>
            <a:endParaRPr lang="en-US" sz="850" dirty="0"/>
          </a:p>
        </p:txBody>
      </p:sp>
      <p:sp>
        <p:nvSpPr>
          <p:cNvPr id="102" name="Shape 97"/>
          <p:cNvSpPr/>
          <p:nvPr/>
        </p:nvSpPr>
        <p:spPr>
          <a:xfrm>
            <a:off x="5760720" y="3259836"/>
            <a:ext cx="32004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Text 98"/>
          <p:cNvSpPr/>
          <p:nvPr/>
        </p:nvSpPr>
        <p:spPr>
          <a:xfrm>
            <a:off x="5779008" y="3259836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04" name="Shape 99"/>
          <p:cNvSpPr/>
          <p:nvPr/>
        </p:nvSpPr>
        <p:spPr>
          <a:xfrm>
            <a:off x="6080760" y="3259836"/>
            <a:ext cx="239572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Text 100"/>
          <p:cNvSpPr/>
          <p:nvPr/>
        </p:nvSpPr>
        <p:spPr>
          <a:xfrm>
            <a:off x="6099048" y="3259836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106" name="Shape 101"/>
          <p:cNvSpPr/>
          <p:nvPr/>
        </p:nvSpPr>
        <p:spPr>
          <a:xfrm>
            <a:off x="8476488" y="3259836"/>
            <a:ext cx="594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Text 102"/>
          <p:cNvSpPr/>
          <p:nvPr/>
        </p:nvSpPr>
        <p:spPr>
          <a:xfrm>
            <a:off x="8494776" y="3259836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850" dirty="0"/>
          </a:p>
        </p:txBody>
      </p:sp>
      <p:sp>
        <p:nvSpPr>
          <p:cNvPr id="108" name="Shape 103"/>
          <p:cNvSpPr/>
          <p:nvPr/>
        </p:nvSpPr>
        <p:spPr>
          <a:xfrm>
            <a:off x="9070848" y="3259836"/>
            <a:ext cx="65836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Text 104"/>
          <p:cNvSpPr/>
          <p:nvPr/>
        </p:nvSpPr>
        <p:spPr>
          <a:xfrm>
            <a:off x="9089136" y="3259836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10" name="Shape 105"/>
          <p:cNvSpPr/>
          <p:nvPr/>
        </p:nvSpPr>
        <p:spPr>
          <a:xfrm>
            <a:off x="9729216" y="3259836"/>
            <a:ext cx="7498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6"/>
          <p:cNvSpPr/>
          <p:nvPr/>
        </p:nvSpPr>
        <p:spPr>
          <a:xfrm>
            <a:off x="9747504" y="3259836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1.510</a:t>
            </a:r>
            <a:endParaRPr lang="en-US" sz="850" dirty="0"/>
          </a:p>
        </p:txBody>
      </p:sp>
      <p:sp>
        <p:nvSpPr>
          <p:cNvPr id="112" name="Shape 107"/>
          <p:cNvSpPr/>
          <p:nvPr/>
        </p:nvSpPr>
        <p:spPr>
          <a:xfrm>
            <a:off x="10479024" y="3259836"/>
            <a:ext cx="133502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08"/>
          <p:cNvSpPr/>
          <p:nvPr/>
        </p:nvSpPr>
        <p:spPr>
          <a:xfrm>
            <a:off x="10497312" y="3259836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332.20</a:t>
            </a:r>
            <a:endParaRPr lang="en-US" sz="850" dirty="0"/>
          </a:p>
        </p:txBody>
      </p:sp>
      <p:sp>
        <p:nvSpPr>
          <p:cNvPr id="114" name="Shape 109"/>
          <p:cNvSpPr/>
          <p:nvPr/>
        </p:nvSpPr>
        <p:spPr>
          <a:xfrm>
            <a:off x="5760720" y="3447288"/>
            <a:ext cx="32004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15" name="Text 110"/>
          <p:cNvSpPr/>
          <p:nvPr/>
        </p:nvSpPr>
        <p:spPr>
          <a:xfrm>
            <a:off x="5779008" y="3447288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16" name="Shape 111"/>
          <p:cNvSpPr/>
          <p:nvPr/>
        </p:nvSpPr>
        <p:spPr>
          <a:xfrm>
            <a:off x="6080760" y="3447288"/>
            <a:ext cx="239572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17" name="Text 112"/>
          <p:cNvSpPr/>
          <p:nvPr/>
        </p:nvSpPr>
        <p:spPr>
          <a:xfrm>
            <a:off x="6099048" y="3447288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118" name="Shape 113"/>
          <p:cNvSpPr/>
          <p:nvPr/>
        </p:nvSpPr>
        <p:spPr>
          <a:xfrm>
            <a:off x="8476488" y="3447288"/>
            <a:ext cx="59436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19" name="Text 114"/>
          <p:cNvSpPr/>
          <p:nvPr/>
        </p:nvSpPr>
        <p:spPr>
          <a:xfrm>
            <a:off x="8494776" y="3447288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850" dirty="0"/>
          </a:p>
        </p:txBody>
      </p:sp>
      <p:sp>
        <p:nvSpPr>
          <p:cNvPr id="120" name="Shape 115"/>
          <p:cNvSpPr/>
          <p:nvPr/>
        </p:nvSpPr>
        <p:spPr>
          <a:xfrm>
            <a:off x="9070848" y="3447288"/>
            <a:ext cx="65836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21" name="Text 116"/>
          <p:cNvSpPr/>
          <p:nvPr/>
        </p:nvSpPr>
        <p:spPr>
          <a:xfrm>
            <a:off x="9089136" y="3447288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22" name="Shape 117"/>
          <p:cNvSpPr/>
          <p:nvPr/>
        </p:nvSpPr>
        <p:spPr>
          <a:xfrm>
            <a:off x="9729216" y="3447288"/>
            <a:ext cx="74980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23" name="Text 118"/>
          <p:cNvSpPr/>
          <p:nvPr/>
        </p:nvSpPr>
        <p:spPr>
          <a:xfrm>
            <a:off x="9747504" y="3447288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1.330</a:t>
            </a:r>
            <a:endParaRPr lang="en-US" sz="850" dirty="0"/>
          </a:p>
        </p:txBody>
      </p:sp>
      <p:sp>
        <p:nvSpPr>
          <p:cNvPr id="124" name="Shape 119"/>
          <p:cNvSpPr/>
          <p:nvPr/>
        </p:nvSpPr>
        <p:spPr>
          <a:xfrm>
            <a:off x="10479024" y="3447288"/>
            <a:ext cx="1335024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25" name="Text 120"/>
          <p:cNvSpPr/>
          <p:nvPr/>
        </p:nvSpPr>
        <p:spPr>
          <a:xfrm>
            <a:off x="10497312" y="3447288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292.60</a:t>
            </a:r>
            <a:endParaRPr lang="en-US" sz="850" dirty="0"/>
          </a:p>
        </p:txBody>
      </p:sp>
      <p:sp>
        <p:nvSpPr>
          <p:cNvPr id="126" name="Shape 121"/>
          <p:cNvSpPr/>
          <p:nvPr/>
        </p:nvSpPr>
        <p:spPr>
          <a:xfrm>
            <a:off x="5760720" y="3634740"/>
            <a:ext cx="32004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7" name="Text 122"/>
          <p:cNvSpPr/>
          <p:nvPr/>
        </p:nvSpPr>
        <p:spPr>
          <a:xfrm>
            <a:off x="5779008" y="3634740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28" name="Shape 123"/>
          <p:cNvSpPr/>
          <p:nvPr/>
        </p:nvSpPr>
        <p:spPr>
          <a:xfrm>
            <a:off x="6080760" y="3634740"/>
            <a:ext cx="239572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9" name="Text 124"/>
          <p:cNvSpPr/>
          <p:nvPr/>
        </p:nvSpPr>
        <p:spPr>
          <a:xfrm>
            <a:off x="6099048" y="3634740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130" name="Shape 125"/>
          <p:cNvSpPr/>
          <p:nvPr/>
        </p:nvSpPr>
        <p:spPr>
          <a:xfrm>
            <a:off x="8476488" y="3634740"/>
            <a:ext cx="594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1" name="Text 126"/>
          <p:cNvSpPr/>
          <p:nvPr/>
        </p:nvSpPr>
        <p:spPr>
          <a:xfrm>
            <a:off x="8494776" y="3634740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850" dirty="0"/>
          </a:p>
        </p:txBody>
      </p:sp>
      <p:sp>
        <p:nvSpPr>
          <p:cNvPr id="132" name="Shape 127"/>
          <p:cNvSpPr/>
          <p:nvPr/>
        </p:nvSpPr>
        <p:spPr>
          <a:xfrm>
            <a:off x="9070848" y="3634740"/>
            <a:ext cx="65836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3" name="Text 128"/>
          <p:cNvSpPr/>
          <p:nvPr/>
        </p:nvSpPr>
        <p:spPr>
          <a:xfrm>
            <a:off x="9089136" y="3634740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34" name="Shape 129"/>
          <p:cNvSpPr/>
          <p:nvPr/>
        </p:nvSpPr>
        <p:spPr>
          <a:xfrm>
            <a:off x="9729216" y="3634740"/>
            <a:ext cx="7498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5" name="Text 130"/>
          <p:cNvSpPr/>
          <p:nvPr/>
        </p:nvSpPr>
        <p:spPr>
          <a:xfrm>
            <a:off x="9747504" y="3634740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1.216</a:t>
            </a:r>
            <a:endParaRPr lang="en-US" sz="850" dirty="0"/>
          </a:p>
        </p:txBody>
      </p:sp>
      <p:sp>
        <p:nvSpPr>
          <p:cNvPr id="136" name="Shape 131"/>
          <p:cNvSpPr/>
          <p:nvPr/>
        </p:nvSpPr>
        <p:spPr>
          <a:xfrm>
            <a:off x="10479024" y="3634740"/>
            <a:ext cx="133502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2"/>
          <p:cNvSpPr/>
          <p:nvPr/>
        </p:nvSpPr>
        <p:spPr>
          <a:xfrm>
            <a:off x="10497312" y="3634740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267.52</a:t>
            </a:r>
            <a:endParaRPr lang="en-US" sz="850" dirty="0"/>
          </a:p>
        </p:txBody>
      </p:sp>
      <p:sp>
        <p:nvSpPr>
          <p:cNvPr id="138" name="Shape 133"/>
          <p:cNvSpPr/>
          <p:nvPr/>
        </p:nvSpPr>
        <p:spPr>
          <a:xfrm>
            <a:off x="5760720" y="3822192"/>
            <a:ext cx="32004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39" name="Text 134"/>
          <p:cNvSpPr/>
          <p:nvPr/>
        </p:nvSpPr>
        <p:spPr>
          <a:xfrm>
            <a:off x="5779008" y="3822192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140" name="Shape 135"/>
          <p:cNvSpPr/>
          <p:nvPr/>
        </p:nvSpPr>
        <p:spPr>
          <a:xfrm>
            <a:off x="6080760" y="3822192"/>
            <a:ext cx="239572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41" name="Text 136"/>
          <p:cNvSpPr/>
          <p:nvPr/>
        </p:nvSpPr>
        <p:spPr>
          <a:xfrm>
            <a:off x="6099048" y="3822192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142" name="Shape 137"/>
          <p:cNvSpPr/>
          <p:nvPr/>
        </p:nvSpPr>
        <p:spPr>
          <a:xfrm>
            <a:off x="8476488" y="3822192"/>
            <a:ext cx="59436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43" name="Text 138"/>
          <p:cNvSpPr/>
          <p:nvPr/>
        </p:nvSpPr>
        <p:spPr>
          <a:xfrm>
            <a:off x="8494776" y="3822192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850" dirty="0"/>
          </a:p>
        </p:txBody>
      </p:sp>
      <p:sp>
        <p:nvSpPr>
          <p:cNvPr id="144" name="Shape 139"/>
          <p:cNvSpPr/>
          <p:nvPr/>
        </p:nvSpPr>
        <p:spPr>
          <a:xfrm>
            <a:off x="9070848" y="3822192"/>
            <a:ext cx="65836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45" name="Text 140"/>
          <p:cNvSpPr/>
          <p:nvPr/>
        </p:nvSpPr>
        <p:spPr>
          <a:xfrm>
            <a:off x="9089136" y="3822192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46" name="Shape 141"/>
          <p:cNvSpPr/>
          <p:nvPr/>
        </p:nvSpPr>
        <p:spPr>
          <a:xfrm>
            <a:off x="9729216" y="3822192"/>
            <a:ext cx="74980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47" name="Text 142"/>
          <p:cNvSpPr/>
          <p:nvPr/>
        </p:nvSpPr>
        <p:spPr>
          <a:xfrm>
            <a:off x="9747504" y="3822192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</a:t>
            </a:r>
            <a:endParaRPr lang="en-US" sz="850" dirty="0"/>
          </a:p>
        </p:txBody>
      </p:sp>
      <p:sp>
        <p:nvSpPr>
          <p:cNvPr id="148" name="Shape 143"/>
          <p:cNvSpPr/>
          <p:nvPr/>
        </p:nvSpPr>
        <p:spPr>
          <a:xfrm>
            <a:off x="10479024" y="3822192"/>
            <a:ext cx="1335024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49" name="Text 144"/>
          <p:cNvSpPr/>
          <p:nvPr/>
        </p:nvSpPr>
        <p:spPr>
          <a:xfrm>
            <a:off x="10497312" y="3822192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155.32</a:t>
            </a:r>
            <a:endParaRPr lang="en-US" sz="850" dirty="0"/>
          </a:p>
        </p:txBody>
      </p:sp>
      <p:sp>
        <p:nvSpPr>
          <p:cNvPr id="150" name="Shape 145"/>
          <p:cNvSpPr/>
          <p:nvPr/>
        </p:nvSpPr>
        <p:spPr>
          <a:xfrm>
            <a:off x="5760720" y="4009644"/>
            <a:ext cx="32004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" name="Text 146"/>
          <p:cNvSpPr/>
          <p:nvPr/>
        </p:nvSpPr>
        <p:spPr>
          <a:xfrm>
            <a:off x="5779008" y="4009644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52" name="Shape 147"/>
          <p:cNvSpPr/>
          <p:nvPr/>
        </p:nvSpPr>
        <p:spPr>
          <a:xfrm>
            <a:off x="6080760" y="4009644"/>
            <a:ext cx="239572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3" name="Text 148"/>
          <p:cNvSpPr/>
          <p:nvPr/>
        </p:nvSpPr>
        <p:spPr>
          <a:xfrm>
            <a:off x="6099048" y="4009644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154" name="Shape 149"/>
          <p:cNvSpPr/>
          <p:nvPr/>
        </p:nvSpPr>
        <p:spPr>
          <a:xfrm>
            <a:off x="8476488" y="4009644"/>
            <a:ext cx="594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5" name="Text 150"/>
          <p:cNvSpPr/>
          <p:nvPr/>
        </p:nvSpPr>
        <p:spPr>
          <a:xfrm>
            <a:off x="8494776" y="4009644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850" dirty="0"/>
          </a:p>
        </p:txBody>
      </p:sp>
      <p:sp>
        <p:nvSpPr>
          <p:cNvPr id="156" name="Shape 151"/>
          <p:cNvSpPr/>
          <p:nvPr/>
        </p:nvSpPr>
        <p:spPr>
          <a:xfrm>
            <a:off x="9070848" y="4009644"/>
            <a:ext cx="65836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2"/>
          <p:cNvSpPr/>
          <p:nvPr/>
        </p:nvSpPr>
        <p:spPr>
          <a:xfrm>
            <a:off x="9089136" y="4009644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58" name="Shape 153"/>
          <p:cNvSpPr/>
          <p:nvPr/>
        </p:nvSpPr>
        <p:spPr>
          <a:xfrm>
            <a:off x="9729216" y="4009644"/>
            <a:ext cx="7498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9" name="Text 154"/>
          <p:cNvSpPr/>
          <p:nvPr/>
        </p:nvSpPr>
        <p:spPr>
          <a:xfrm>
            <a:off x="9747504" y="4009644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1.081</a:t>
            </a:r>
            <a:endParaRPr lang="en-US" sz="850" dirty="0"/>
          </a:p>
        </p:txBody>
      </p:sp>
      <p:sp>
        <p:nvSpPr>
          <p:cNvPr id="160" name="Shape 155"/>
          <p:cNvSpPr/>
          <p:nvPr/>
        </p:nvSpPr>
        <p:spPr>
          <a:xfrm>
            <a:off x="10479024" y="4009644"/>
            <a:ext cx="133502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1" name="Text 156"/>
          <p:cNvSpPr/>
          <p:nvPr/>
        </p:nvSpPr>
        <p:spPr>
          <a:xfrm>
            <a:off x="10497312" y="4009644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237.82</a:t>
            </a:r>
            <a:endParaRPr lang="en-US" sz="850" dirty="0"/>
          </a:p>
        </p:txBody>
      </p:sp>
      <p:sp>
        <p:nvSpPr>
          <p:cNvPr id="162" name="Shape 157"/>
          <p:cNvSpPr/>
          <p:nvPr/>
        </p:nvSpPr>
        <p:spPr>
          <a:xfrm>
            <a:off x="5760720" y="4197096"/>
            <a:ext cx="32004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63" name="Text 158"/>
          <p:cNvSpPr/>
          <p:nvPr/>
        </p:nvSpPr>
        <p:spPr>
          <a:xfrm>
            <a:off x="5779008" y="4197096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64" name="Shape 159"/>
          <p:cNvSpPr/>
          <p:nvPr/>
        </p:nvSpPr>
        <p:spPr>
          <a:xfrm>
            <a:off x="6080760" y="4197096"/>
            <a:ext cx="239572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65" name="Text 160"/>
          <p:cNvSpPr/>
          <p:nvPr/>
        </p:nvSpPr>
        <p:spPr>
          <a:xfrm>
            <a:off x="6099048" y="4197096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166" name="Shape 161"/>
          <p:cNvSpPr/>
          <p:nvPr/>
        </p:nvSpPr>
        <p:spPr>
          <a:xfrm>
            <a:off x="8476488" y="4197096"/>
            <a:ext cx="59436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67" name="Text 162"/>
          <p:cNvSpPr/>
          <p:nvPr/>
        </p:nvSpPr>
        <p:spPr>
          <a:xfrm>
            <a:off x="8494776" y="4197096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850" dirty="0"/>
          </a:p>
        </p:txBody>
      </p:sp>
      <p:sp>
        <p:nvSpPr>
          <p:cNvPr id="168" name="Shape 163"/>
          <p:cNvSpPr/>
          <p:nvPr/>
        </p:nvSpPr>
        <p:spPr>
          <a:xfrm>
            <a:off x="9070848" y="4197096"/>
            <a:ext cx="65836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69" name="Text 164"/>
          <p:cNvSpPr/>
          <p:nvPr/>
        </p:nvSpPr>
        <p:spPr>
          <a:xfrm>
            <a:off x="9089136" y="4197096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70" name="Shape 165"/>
          <p:cNvSpPr/>
          <p:nvPr/>
        </p:nvSpPr>
        <p:spPr>
          <a:xfrm>
            <a:off x="9729216" y="4197096"/>
            <a:ext cx="74980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71" name="Text 166"/>
          <p:cNvSpPr/>
          <p:nvPr/>
        </p:nvSpPr>
        <p:spPr>
          <a:xfrm>
            <a:off x="9747504" y="4197096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0.893</a:t>
            </a:r>
            <a:endParaRPr lang="en-US" sz="850" dirty="0"/>
          </a:p>
        </p:txBody>
      </p:sp>
      <p:sp>
        <p:nvSpPr>
          <p:cNvPr id="172" name="Shape 167"/>
          <p:cNvSpPr/>
          <p:nvPr/>
        </p:nvSpPr>
        <p:spPr>
          <a:xfrm>
            <a:off x="10479024" y="4197096"/>
            <a:ext cx="1335024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73" name="Text 168"/>
          <p:cNvSpPr/>
          <p:nvPr/>
        </p:nvSpPr>
        <p:spPr>
          <a:xfrm>
            <a:off x="10497312" y="4197096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196.46</a:t>
            </a:r>
            <a:endParaRPr lang="en-US" sz="850" dirty="0"/>
          </a:p>
        </p:txBody>
      </p:sp>
      <p:sp>
        <p:nvSpPr>
          <p:cNvPr id="174" name="Shape 169"/>
          <p:cNvSpPr/>
          <p:nvPr/>
        </p:nvSpPr>
        <p:spPr>
          <a:xfrm>
            <a:off x="5760720" y="4384548"/>
            <a:ext cx="32004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5" name="Text 170"/>
          <p:cNvSpPr/>
          <p:nvPr/>
        </p:nvSpPr>
        <p:spPr>
          <a:xfrm>
            <a:off x="5779008" y="4384548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76" name="Shape 171"/>
          <p:cNvSpPr/>
          <p:nvPr/>
        </p:nvSpPr>
        <p:spPr>
          <a:xfrm>
            <a:off x="6080760" y="4384548"/>
            <a:ext cx="239572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7" name="Text 172"/>
          <p:cNvSpPr/>
          <p:nvPr/>
        </p:nvSpPr>
        <p:spPr>
          <a:xfrm>
            <a:off x="6099048" y="4384548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178" name="Shape 173"/>
          <p:cNvSpPr/>
          <p:nvPr/>
        </p:nvSpPr>
        <p:spPr>
          <a:xfrm>
            <a:off x="8476488" y="4384548"/>
            <a:ext cx="594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9" name="Text 174"/>
          <p:cNvSpPr/>
          <p:nvPr/>
        </p:nvSpPr>
        <p:spPr>
          <a:xfrm>
            <a:off x="8494776" y="4384548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850" dirty="0"/>
          </a:p>
        </p:txBody>
      </p:sp>
      <p:sp>
        <p:nvSpPr>
          <p:cNvPr id="180" name="Shape 175"/>
          <p:cNvSpPr/>
          <p:nvPr/>
        </p:nvSpPr>
        <p:spPr>
          <a:xfrm>
            <a:off x="9070848" y="4384548"/>
            <a:ext cx="65836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1" name="Text 176"/>
          <p:cNvSpPr/>
          <p:nvPr/>
        </p:nvSpPr>
        <p:spPr>
          <a:xfrm>
            <a:off x="9089136" y="4384548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82" name="Shape 177"/>
          <p:cNvSpPr/>
          <p:nvPr/>
        </p:nvSpPr>
        <p:spPr>
          <a:xfrm>
            <a:off x="9729216" y="4384548"/>
            <a:ext cx="7498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3" name="Text 178"/>
          <p:cNvSpPr/>
          <p:nvPr/>
        </p:nvSpPr>
        <p:spPr>
          <a:xfrm>
            <a:off x="9747504" y="4384548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0.490</a:t>
            </a:r>
            <a:endParaRPr lang="en-US" sz="850" dirty="0"/>
          </a:p>
        </p:txBody>
      </p:sp>
      <p:sp>
        <p:nvSpPr>
          <p:cNvPr id="184" name="Shape 179"/>
          <p:cNvSpPr/>
          <p:nvPr/>
        </p:nvSpPr>
        <p:spPr>
          <a:xfrm>
            <a:off x="10479024" y="4384548"/>
            <a:ext cx="133502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5" name="Text 180"/>
          <p:cNvSpPr/>
          <p:nvPr/>
        </p:nvSpPr>
        <p:spPr>
          <a:xfrm>
            <a:off x="10497312" y="4384548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107.80</a:t>
            </a:r>
            <a:endParaRPr lang="en-US" sz="850" dirty="0"/>
          </a:p>
        </p:txBody>
      </p:sp>
      <p:sp>
        <p:nvSpPr>
          <p:cNvPr id="186" name="Shape 181"/>
          <p:cNvSpPr/>
          <p:nvPr/>
        </p:nvSpPr>
        <p:spPr>
          <a:xfrm>
            <a:off x="5760720" y="4572000"/>
            <a:ext cx="32004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87" name="Text 182"/>
          <p:cNvSpPr/>
          <p:nvPr/>
        </p:nvSpPr>
        <p:spPr>
          <a:xfrm>
            <a:off x="5779008" y="4572000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188" name="Shape 183"/>
          <p:cNvSpPr/>
          <p:nvPr/>
        </p:nvSpPr>
        <p:spPr>
          <a:xfrm>
            <a:off x="6080760" y="4572000"/>
            <a:ext cx="239572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89" name="Text 184"/>
          <p:cNvSpPr/>
          <p:nvPr/>
        </p:nvSpPr>
        <p:spPr>
          <a:xfrm>
            <a:off x="6099048" y="4572000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190" name="Shape 185"/>
          <p:cNvSpPr/>
          <p:nvPr/>
        </p:nvSpPr>
        <p:spPr>
          <a:xfrm>
            <a:off x="8476488" y="4572000"/>
            <a:ext cx="59436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91" name="Text 186"/>
          <p:cNvSpPr/>
          <p:nvPr/>
        </p:nvSpPr>
        <p:spPr>
          <a:xfrm>
            <a:off x="8494776" y="4572000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850" dirty="0"/>
          </a:p>
        </p:txBody>
      </p:sp>
      <p:sp>
        <p:nvSpPr>
          <p:cNvPr id="192" name="Shape 187"/>
          <p:cNvSpPr/>
          <p:nvPr/>
        </p:nvSpPr>
        <p:spPr>
          <a:xfrm>
            <a:off x="9070848" y="4572000"/>
            <a:ext cx="65836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93" name="Text 188"/>
          <p:cNvSpPr/>
          <p:nvPr/>
        </p:nvSpPr>
        <p:spPr>
          <a:xfrm>
            <a:off x="9089136" y="4572000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94" name="Shape 189"/>
          <p:cNvSpPr/>
          <p:nvPr/>
        </p:nvSpPr>
        <p:spPr>
          <a:xfrm>
            <a:off x="9729216" y="4572000"/>
            <a:ext cx="74980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95" name="Text 190"/>
          <p:cNvSpPr/>
          <p:nvPr/>
        </p:nvSpPr>
        <p:spPr>
          <a:xfrm>
            <a:off x="9747504" y="4572000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0.490</a:t>
            </a:r>
            <a:endParaRPr lang="en-US" sz="850" dirty="0"/>
          </a:p>
        </p:txBody>
      </p:sp>
      <p:sp>
        <p:nvSpPr>
          <p:cNvPr id="196" name="Shape 191"/>
          <p:cNvSpPr/>
          <p:nvPr/>
        </p:nvSpPr>
        <p:spPr>
          <a:xfrm>
            <a:off x="10479024" y="4572000"/>
            <a:ext cx="1335024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97" name="Text 192"/>
          <p:cNvSpPr/>
          <p:nvPr/>
        </p:nvSpPr>
        <p:spPr>
          <a:xfrm>
            <a:off x="10497312" y="4572000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107.80</a:t>
            </a:r>
            <a:endParaRPr lang="en-US" sz="850" dirty="0"/>
          </a:p>
        </p:txBody>
      </p:sp>
      <p:sp>
        <p:nvSpPr>
          <p:cNvPr id="198" name="Shape 193"/>
          <p:cNvSpPr/>
          <p:nvPr/>
        </p:nvSpPr>
        <p:spPr>
          <a:xfrm>
            <a:off x="5760720" y="4759452"/>
            <a:ext cx="32004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9" name="Text 194"/>
          <p:cNvSpPr/>
          <p:nvPr/>
        </p:nvSpPr>
        <p:spPr>
          <a:xfrm>
            <a:off x="5779008" y="4759452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200" name="Shape 195"/>
          <p:cNvSpPr/>
          <p:nvPr/>
        </p:nvSpPr>
        <p:spPr>
          <a:xfrm>
            <a:off x="6080760" y="4759452"/>
            <a:ext cx="239572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1" name="Text 196"/>
          <p:cNvSpPr/>
          <p:nvPr/>
        </p:nvSpPr>
        <p:spPr>
          <a:xfrm>
            <a:off x="6099048" y="4759452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202" name="Shape 197"/>
          <p:cNvSpPr/>
          <p:nvPr/>
        </p:nvSpPr>
        <p:spPr>
          <a:xfrm>
            <a:off x="8476488" y="4759452"/>
            <a:ext cx="594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3" name="Text 198"/>
          <p:cNvSpPr/>
          <p:nvPr/>
        </p:nvSpPr>
        <p:spPr>
          <a:xfrm>
            <a:off x="8494776" y="4759452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</a:t>
            </a:r>
            <a:endParaRPr lang="en-US" sz="850" dirty="0"/>
          </a:p>
        </p:txBody>
      </p:sp>
      <p:sp>
        <p:nvSpPr>
          <p:cNvPr id="204" name="Shape 199"/>
          <p:cNvSpPr/>
          <p:nvPr/>
        </p:nvSpPr>
        <p:spPr>
          <a:xfrm>
            <a:off x="9070848" y="4759452"/>
            <a:ext cx="65836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5" name="Text 200"/>
          <p:cNvSpPr/>
          <p:nvPr/>
        </p:nvSpPr>
        <p:spPr>
          <a:xfrm>
            <a:off x="9089136" y="4759452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06" name="Shape 201"/>
          <p:cNvSpPr/>
          <p:nvPr/>
        </p:nvSpPr>
        <p:spPr>
          <a:xfrm>
            <a:off x="9729216" y="4759452"/>
            <a:ext cx="7498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7" name="Text 202"/>
          <p:cNvSpPr/>
          <p:nvPr/>
        </p:nvSpPr>
        <p:spPr>
          <a:xfrm>
            <a:off x="9747504" y="4759452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0.419</a:t>
            </a:r>
            <a:endParaRPr lang="en-US" sz="850" dirty="0"/>
          </a:p>
        </p:txBody>
      </p:sp>
      <p:sp>
        <p:nvSpPr>
          <p:cNvPr id="208" name="Shape 203"/>
          <p:cNvSpPr/>
          <p:nvPr/>
        </p:nvSpPr>
        <p:spPr>
          <a:xfrm>
            <a:off x="10479024" y="4759452"/>
            <a:ext cx="133502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9" name="Text 204"/>
          <p:cNvSpPr/>
          <p:nvPr/>
        </p:nvSpPr>
        <p:spPr>
          <a:xfrm>
            <a:off x="10497312" y="4759452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92.18</a:t>
            </a:r>
            <a:endParaRPr lang="en-US" sz="850" dirty="0"/>
          </a:p>
        </p:txBody>
      </p:sp>
      <p:sp>
        <p:nvSpPr>
          <p:cNvPr id="210" name="Shape 205"/>
          <p:cNvSpPr/>
          <p:nvPr/>
        </p:nvSpPr>
        <p:spPr>
          <a:xfrm>
            <a:off x="5760720" y="4946904"/>
            <a:ext cx="32004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11" name="Text 206"/>
          <p:cNvSpPr/>
          <p:nvPr/>
        </p:nvSpPr>
        <p:spPr>
          <a:xfrm>
            <a:off x="5779008" y="4946904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212" name="Shape 207"/>
          <p:cNvSpPr/>
          <p:nvPr/>
        </p:nvSpPr>
        <p:spPr>
          <a:xfrm>
            <a:off x="6080760" y="4946904"/>
            <a:ext cx="239572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13" name="Text 208"/>
          <p:cNvSpPr/>
          <p:nvPr/>
        </p:nvSpPr>
        <p:spPr>
          <a:xfrm>
            <a:off x="6099048" y="4946904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214" name="Shape 209"/>
          <p:cNvSpPr/>
          <p:nvPr/>
        </p:nvSpPr>
        <p:spPr>
          <a:xfrm>
            <a:off x="8476488" y="4946904"/>
            <a:ext cx="59436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15" name="Text 210"/>
          <p:cNvSpPr/>
          <p:nvPr/>
        </p:nvSpPr>
        <p:spPr>
          <a:xfrm>
            <a:off x="8494776" y="4946904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850" dirty="0"/>
          </a:p>
        </p:txBody>
      </p:sp>
      <p:sp>
        <p:nvSpPr>
          <p:cNvPr id="216" name="Shape 211"/>
          <p:cNvSpPr/>
          <p:nvPr/>
        </p:nvSpPr>
        <p:spPr>
          <a:xfrm>
            <a:off x="9070848" y="4946904"/>
            <a:ext cx="65836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17" name="Text 212"/>
          <p:cNvSpPr/>
          <p:nvPr/>
        </p:nvSpPr>
        <p:spPr>
          <a:xfrm>
            <a:off x="9089136" y="4946904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18" name="Shape 213"/>
          <p:cNvSpPr/>
          <p:nvPr/>
        </p:nvSpPr>
        <p:spPr>
          <a:xfrm>
            <a:off x="9729216" y="4946904"/>
            <a:ext cx="74980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19" name="Text 214"/>
          <p:cNvSpPr/>
          <p:nvPr/>
        </p:nvSpPr>
        <p:spPr>
          <a:xfrm>
            <a:off x="9747504" y="4946904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1.723</a:t>
            </a:r>
            <a:endParaRPr lang="en-US" sz="850" dirty="0"/>
          </a:p>
        </p:txBody>
      </p:sp>
      <p:sp>
        <p:nvSpPr>
          <p:cNvPr id="220" name="Shape 215"/>
          <p:cNvSpPr/>
          <p:nvPr/>
        </p:nvSpPr>
        <p:spPr>
          <a:xfrm>
            <a:off x="10479024" y="4946904"/>
            <a:ext cx="1335024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21" name="Text 216"/>
          <p:cNvSpPr/>
          <p:nvPr/>
        </p:nvSpPr>
        <p:spPr>
          <a:xfrm>
            <a:off x="10497312" y="4946904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379.06</a:t>
            </a:r>
            <a:endParaRPr lang="en-US" sz="850" dirty="0"/>
          </a:p>
        </p:txBody>
      </p:sp>
      <p:sp>
        <p:nvSpPr>
          <p:cNvPr id="222" name="Shape 217"/>
          <p:cNvSpPr/>
          <p:nvPr/>
        </p:nvSpPr>
        <p:spPr>
          <a:xfrm>
            <a:off x="5760720" y="5134356"/>
            <a:ext cx="32004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3" name="Text 218"/>
          <p:cNvSpPr/>
          <p:nvPr/>
        </p:nvSpPr>
        <p:spPr>
          <a:xfrm>
            <a:off x="5779008" y="5134356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224" name="Shape 219"/>
          <p:cNvSpPr/>
          <p:nvPr/>
        </p:nvSpPr>
        <p:spPr>
          <a:xfrm>
            <a:off x="6080760" y="5134356"/>
            <a:ext cx="239572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5" name="Text 220"/>
          <p:cNvSpPr/>
          <p:nvPr/>
        </p:nvSpPr>
        <p:spPr>
          <a:xfrm>
            <a:off x="6099048" y="5134356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226" name="Shape 221"/>
          <p:cNvSpPr/>
          <p:nvPr/>
        </p:nvSpPr>
        <p:spPr>
          <a:xfrm>
            <a:off x="8476488" y="5134356"/>
            <a:ext cx="594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7" name="Text 222"/>
          <p:cNvSpPr/>
          <p:nvPr/>
        </p:nvSpPr>
        <p:spPr>
          <a:xfrm>
            <a:off x="8494776" y="5134356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850" dirty="0"/>
          </a:p>
        </p:txBody>
      </p:sp>
      <p:sp>
        <p:nvSpPr>
          <p:cNvPr id="228" name="Shape 223"/>
          <p:cNvSpPr/>
          <p:nvPr/>
        </p:nvSpPr>
        <p:spPr>
          <a:xfrm>
            <a:off x="9070848" y="5134356"/>
            <a:ext cx="65836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9" name="Text 224"/>
          <p:cNvSpPr/>
          <p:nvPr/>
        </p:nvSpPr>
        <p:spPr>
          <a:xfrm>
            <a:off x="9089136" y="5134356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30" name="Shape 225"/>
          <p:cNvSpPr/>
          <p:nvPr/>
        </p:nvSpPr>
        <p:spPr>
          <a:xfrm>
            <a:off x="9729216" y="5134356"/>
            <a:ext cx="7498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1" name="Text 226"/>
          <p:cNvSpPr/>
          <p:nvPr/>
        </p:nvSpPr>
        <p:spPr>
          <a:xfrm>
            <a:off x="9747504" y="5134356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1.501</a:t>
            </a:r>
            <a:endParaRPr lang="en-US" sz="850" dirty="0"/>
          </a:p>
        </p:txBody>
      </p:sp>
      <p:sp>
        <p:nvSpPr>
          <p:cNvPr id="232" name="Shape 227"/>
          <p:cNvSpPr/>
          <p:nvPr/>
        </p:nvSpPr>
        <p:spPr>
          <a:xfrm>
            <a:off x="10479024" y="5134356"/>
            <a:ext cx="133502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3" name="Text 228"/>
          <p:cNvSpPr/>
          <p:nvPr/>
        </p:nvSpPr>
        <p:spPr>
          <a:xfrm>
            <a:off x="10497312" y="5134356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330.22</a:t>
            </a:r>
            <a:endParaRPr lang="en-US" sz="850" dirty="0"/>
          </a:p>
        </p:txBody>
      </p:sp>
      <p:sp>
        <p:nvSpPr>
          <p:cNvPr id="234" name="Shape 229"/>
          <p:cNvSpPr/>
          <p:nvPr/>
        </p:nvSpPr>
        <p:spPr>
          <a:xfrm>
            <a:off x="5760720" y="5321808"/>
            <a:ext cx="32004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35" name="Text 230"/>
          <p:cNvSpPr/>
          <p:nvPr/>
        </p:nvSpPr>
        <p:spPr>
          <a:xfrm>
            <a:off x="5779008" y="5321808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236" name="Shape 231"/>
          <p:cNvSpPr/>
          <p:nvPr/>
        </p:nvSpPr>
        <p:spPr>
          <a:xfrm>
            <a:off x="6080760" y="5321808"/>
            <a:ext cx="239572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37" name="Text 232"/>
          <p:cNvSpPr/>
          <p:nvPr/>
        </p:nvSpPr>
        <p:spPr>
          <a:xfrm>
            <a:off x="6099048" y="5321808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238" name="Shape 233"/>
          <p:cNvSpPr/>
          <p:nvPr/>
        </p:nvSpPr>
        <p:spPr>
          <a:xfrm>
            <a:off x="8476488" y="5321808"/>
            <a:ext cx="59436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39" name="Text 234"/>
          <p:cNvSpPr/>
          <p:nvPr/>
        </p:nvSpPr>
        <p:spPr>
          <a:xfrm>
            <a:off x="8494776" y="5321808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850" dirty="0"/>
          </a:p>
        </p:txBody>
      </p:sp>
      <p:sp>
        <p:nvSpPr>
          <p:cNvPr id="240" name="Shape 235"/>
          <p:cNvSpPr/>
          <p:nvPr/>
        </p:nvSpPr>
        <p:spPr>
          <a:xfrm>
            <a:off x="9070848" y="5321808"/>
            <a:ext cx="65836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41" name="Text 236"/>
          <p:cNvSpPr/>
          <p:nvPr/>
        </p:nvSpPr>
        <p:spPr>
          <a:xfrm>
            <a:off x="9089136" y="5321808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42" name="Shape 237"/>
          <p:cNvSpPr/>
          <p:nvPr/>
        </p:nvSpPr>
        <p:spPr>
          <a:xfrm>
            <a:off x="9729216" y="5321808"/>
            <a:ext cx="74980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43" name="Text 238"/>
          <p:cNvSpPr/>
          <p:nvPr/>
        </p:nvSpPr>
        <p:spPr>
          <a:xfrm>
            <a:off x="9747504" y="5321808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1.177</a:t>
            </a:r>
            <a:endParaRPr lang="en-US" sz="850" dirty="0"/>
          </a:p>
        </p:txBody>
      </p:sp>
      <p:sp>
        <p:nvSpPr>
          <p:cNvPr id="244" name="Shape 239"/>
          <p:cNvSpPr/>
          <p:nvPr/>
        </p:nvSpPr>
        <p:spPr>
          <a:xfrm>
            <a:off x="10479024" y="5321808"/>
            <a:ext cx="1335024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45" name="Text 240"/>
          <p:cNvSpPr/>
          <p:nvPr/>
        </p:nvSpPr>
        <p:spPr>
          <a:xfrm>
            <a:off x="10497312" y="5321808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258.94</a:t>
            </a:r>
            <a:endParaRPr lang="en-US" sz="850" dirty="0"/>
          </a:p>
        </p:txBody>
      </p:sp>
      <p:sp>
        <p:nvSpPr>
          <p:cNvPr id="246" name="Shape 241"/>
          <p:cNvSpPr/>
          <p:nvPr/>
        </p:nvSpPr>
        <p:spPr>
          <a:xfrm>
            <a:off x="5760720" y="5509260"/>
            <a:ext cx="32004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7" name="Text 242"/>
          <p:cNvSpPr/>
          <p:nvPr/>
        </p:nvSpPr>
        <p:spPr>
          <a:xfrm>
            <a:off x="5779008" y="5509260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248" name="Shape 243"/>
          <p:cNvSpPr/>
          <p:nvPr/>
        </p:nvSpPr>
        <p:spPr>
          <a:xfrm>
            <a:off x="6080760" y="5509260"/>
            <a:ext cx="239572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9" name="Text 244"/>
          <p:cNvSpPr/>
          <p:nvPr/>
        </p:nvSpPr>
        <p:spPr>
          <a:xfrm>
            <a:off x="6099048" y="5509260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250" name="Shape 245"/>
          <p:cNvSpPr/>
          <p:nvPr/>
        </p:nvSpPr>
        <p:spPr>
          <a:xfrm>
            <a:off x="8476488" y="5509260"/>
            <a:ext cx="594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1" name="Text 246"/>
          <p:cNvSpPr/>
          <p:nvPr/>
        </p:nvSpPr>
        <p:spPr>
          <a:xfrm>
            <a:off x="8494776" y="5509260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850" dirty="0"/>
          </a:p>
        </p:txBody>
      </p:sp>
      <p:sp>
        <p:nvSpPr>
          <p:cNvPr id="252" name="Shape 247"/>
          <p:cNvSpPr/>
          <p:nvPr/>
        </p:nvSpPr>
        <p:spPr>
          <a:xfrm>
            <a:off x="9070848" y="5509260"/>
            <a:ext cx="65836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3" name="Text 248"/>
          <p:cNvSpPr/>
          <p:nvPr/>
        </p:nvSpPr>
        <p:spPr>
          <a:xfrm>
            <a:off x="9089136" y="5509260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54" name="Shape 249"/>
          <p:cNvSpPr/>
          <p:nvPr/>
        </p:nvSpPr>
        <p:spPr>
          <a:xfrm>
            <a:off x="9729216" y="5509260"/>
            <a:ext cx="7498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5" name="Text 250"/>
          <p:cNvSpPr/>
          <p:nvPr/>
        </p:nvSpPr>
        <p:spPr>
          <a:xfrm>
            <a:off x="9747504" y="5509260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0.961</a:t>
            </a:r>
            <a:endParaRPr lang="en-US" sz="850" dirty="0"/>
          </a:p>
        </p:txBody>
      </p:sp>
      <p:sp>
        <p:nvSpPr>
          <p:cNvPr id="256" name="Shape 251"/>
          <p:cNvSpPr/>
          <p:nvPr/>
        </p:nvSpPr>
        <p:spPr>
          <a:xfrm>
            <a:off x="10479024" y="5509260"/>
            <a:ext cx="133502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7" name="Text 252"/>
          <p:cNvSpPr/>
          <p:nvPr/>
        </p:nvSpPr>
        <p:spPr>
          <a:xfrm>
            <a:off x="10497312" y="5509260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211.42</a:t>
            </a:r>
            <a:endParaRPr lang="en-US" sz="850" dirty="0"/>
          </a:p>
        </p:txBody>
      </p:sp>
      <p:sp>
        <p:nvSpPr>
          <p:cNvPr id="258" name="Shape 253"/>
          <p:cNvSpPr/>
          <p:nvPr/>
        </p:nvSpPr>
        <p:spPr>
          <a:xfrm>
            <a:off x="5760720" y="5696712"/>
            <a:ext cx="320040" cy="2743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59" name="Text 254"/>
          <p:cNvSpPr/>
          <p:nvPr/>
        </p:nvSpPr>
        <p:spPr>
          <a:xfrm>
            <a:off x="5779008" y="5696712"/>
            <a:ext cx="292608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60" name="Shape 255"/>
          <p:cNvSpPr/>
          <p:nvPr/>
        </p:nvSpPr>
        <p:spPr>
          <a:xfrm>
            <a:off x="6080760" y="5696712"/>
            <a:ext cx="2395728" cy="2743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61" name="Text 256"/>
          <p:cNvSpPr/>
          <p:nvPr/>
        </p:nvSpPr>
        <p:spPr>
          <a:xfrm>
            <a:off x="6099048" y="5696712"/>
            <a:ext cx="2368296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14 árboles</a:t>
            </a:r>
            <a:endParaRPr lang="en-US" sz="900" dirty="0"/>
          </a:p>
        </p:txBody>
      </p:sp>
      <p:sp>
        <p:nvSpPr>
          <p:cNvPr id="262" name="Shape 257"/>
          <p:cNvSpPr/>
          <p:nvPr/>
        </p:nvSpPr>
        <p:spPr>
          <a:xfrm>
            <a:off x="8476488" y="5696712"/>
            <a:ext cx="594360" cy="2743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63" name="Text 258"/>
          <p:cNvSpPr/>
          <p:nvPr/>
        </p:nvSpPr>
        <p:spPr>
          <a:xfrm>
            <a:off x="8494776" y="5696712"/>
            <a:ext cx="566928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64" name="Shape 259"/>
          <p:cNvSpPr/>
          <p:nvPr/>
        </p:nvSpPr>
        <p:spPr>
          <a:xfrm>
            <a:off x="9070848" y="5696712"/>
            <a:ext cx="658368" cy="2743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65" name="Text 260"/>
          <p:cNvSpPr/>
          <p:nvPr/>
        </p:nvSpPr>
        <p:spPr>
          <a:xfrm>
            <a:off x="9089136" y="5696712"/>
            <a:ext cx="630936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66" name="Shape 261"/>
          <p:cNvSpPr/>
          <p:nvPr/>
        </p:nvSpPr>
        <p:spPr>
          <a:xfrm>
            <a:off x="9729216" y="5696712"/>
            <a:ext cx="749808" cy="2743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67" name="Text 262"/>
          <p:cNvSpPr/>
          <p:nvPr/>
        </p:nvSpPr>
        <p:spPr>
          <a:xfrm>
            <a:off x="9747504" y="5696712"/>
            <a:ext cx="722376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15.248</a:t>
            </a:r>
            <a:endParaRPr lang="en-US" sz="900" dirty="0"/>
          </a:p>
        </p:txBody>
      </p:sp>
      <p:sp>
        <p:nvSpPr>
          <p:cNvPr id="268" name="Shape 263"/>
          <p:cNvSpPr/>
          <p:nvPr/>
        </p:nvSpPr>
        <p:spPr>
          <a:xfrm>
            <a:off x="10479024" y="5696712"/>
            <a:ext cx="1335024" cy="2743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69" name="Text 264"/>
          <p:cNvSpPr/>
          <p:nvPr/>
        </p:nvSpPr>
        <p:spPr>
          <a:xfrm>
            <a:off x="10497312" y="5696712"/>
            <a:ext cx="1307592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3,354.56</a:t>
            </a:r>
            <a:endParaRPr lang="en-US" sz="900" dirty="0"/>
          </a:p>
        </p:txBody>
      </p:sp>
      <p:sp>
        <p:nvSpPr>
          <p:cNvPr id="270" name="Shape 265"/>
          <p:cNvSpPr/>
          <p:nvPr/>
        </p:nvSpPr>
        <p:spPr>
          <a:xfrm>
            <a:off x="5760720" y="6044184"/>
            <a:ext cx="6236208" cy="56692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71" name="Text 266"/>
          <p:cNvSpPr/>
          <p:nvPr/>
        </p:nvSpPr>
        <p:spPr>
          <a:xfrm>
            <a:off x="5870448" y="60807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ZONIFICACIÓN FORESTAL</a:t>
            </a:r>
            <a:endParaRPr lang="en-US" sz="1000" dirty="0"/>
          </a:p>
        </p:txBody>
      </p:sp>
      <p:sp>
        <p:nvSpPr>
          <p:cNvPr id="272" name="Text 267"/>
          <p:cNvSpPr/>
          <p:nvPr/>
        </p:nvSpPr>
        <p:spPr>
          <a:xfrm>
            <a:off x="5870448" y="6300216"/>
            <a:ext cx="607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ZF-60301 — Zona de Recuperación de Cobertura Forestal con fines de producción maderera  (RM N° 0046-2024-MIDAGRI-DM)  ·  CUM: Clase C3-C2, subclase s y e  ·  Pérdida total: 0.547 ha de bosque secundario (Copernicus sep-oct 2025)</a:t>
            </a:r>
            <a:endParaRPr lang="en-US" sz="850" dirty="0"/>
          </a:p>
        </p:txBody>
      </p:sp>
      <p:sp>
        <p:nvSpPr>
          <p:cNvPr id="273" name="Shape 268"/>
          <p:cNvSpPr/>
          <p:nvPr/>
        </p:nvSpPr>
        <p:spPr>
          <a:xfrm>
            <a:off x="0" y="6528816"/>
            <a:ext cx="12161520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4" name="Shape 269"/>
          <p:cNvSpPr/>
          <p:nvPr/>
        </p:nvSpPr>
        <p:spPr>
          <a:xfrm>
            <a:off x="0" y="6528816"/>
            <a:ext cx="109728" cy="329184"/>
          </a:xfrm>
          <a:prstGeom prst="rect">
            <a:avLst/>
          </a:prstGeom>
          <a:solidFill>
            <a:srgbClr val="0D4A1E"/>
          </a:solidFill>
          <a:ln/>
        </p:spPr>
      </p:sp>
      <p:sp>
        <p:nvSpPr>
          <p:cNvPr id="275" name="Text 270"/>
          <p:cNvSpPr/>
          <p:nvPr/>
        </p:nvSpPr>
        <p:spPr>
          <a:xfrm>
            <a:off x="164592" y="6528816"/>
            <a:ext cx="11942064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CONCLUSIÓN: INICIAR PAS — Infracciones MUY GRAVE Ítems 19 y 21 — S/ 10,734.59 · Derivar a 2° FEMA-Ucayali (Art. 310° CP) · Comunicar a ANA (Art. 75° Ley 29338) · Diapositiva 3 / 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46304"/>
            <a:ext cx="11832336" cy="786384"/>
          </a:xfrm>
          <a:prstGeom prst="rect">
            <a:avLst/>
          </a:prstGeom>
          <a:solidFill>
            <a:srgbClr val="1B7A3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4630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INSTRUCTIVO N° 001-2026-GRU-GGR-GRFFS-SOFFSPA-PAS/CRR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32688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Asunto: Informe Final del PAS contra JOEL MIKE DURAN JORGE — CTP DECOMADERA DURAN G&amp;R E.I.R.L.  ·  Autoridad Instructora: Ing. Cubillas Romero Ramírez  ·  Fecha: 12 Febrero 2026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64592" y="1042416"/>
            <a:ext cx="2871216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042416"/>
            <a:ext cx="2871216" cy="5486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1" name="Text 8"/>
          <p:cNvSpPr/>
          <p:nvPr/>
        </p:nvSpPr>
        <p:spPr>
          <a:xfrm>
            <a:off x="164592" y="1115568"/>
            <a:ext cx="2871216" cy="62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0.4790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19456" y="1734068"/>
            <a:ext cx="2761488" cy="37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propuesta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3824" y="1042416"/>
            <a:ext cx="2871216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63824" y="1042416"/>
            <a:ext cx="2871216" cy="5486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15" name="Text 12"/>
          <p:cNvSpPr/>
          <p:nvPr/>
        </p:nvSpPr>
        <p:spPr>
          <a:xfrm>
            <a:off x="3163824" y="1115568"/>
            <a:ext cx="2871216" cy="62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2,634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218688" y="1734068"/>
            <a:ext cx="2761488" cy="37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multa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(UIT 2026=S/5,500)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63056" y="1042416"/>
            <a:ext cx="2871216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63056" y="1042416"/>
            <a:ext cx="2871216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6163056" y="1115568"/>
            <a:ext cx="2871216" cy="62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7.997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217920" y="1734068"/>
            <a:ext cx="2761488" cy="37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 PFM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Decomisado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162288" y="1042416"/>
            <a:ext cx="2871216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162288" y="1042416"/>
            <a:ext cx="2871216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9162288" y="1115568"/>
            <a:ext cx="2871216" cy="62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9217152" y="1734068"/>
            <a:ext cx="2761488" cy="37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 22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64592" y="2286000"/>
            <a:ext cx="5486400" cy="42245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64592" y="2286000"/>
            <a:ext cx="5486400" cy="347472"/>
          </a:xfrm>
          <a:prstGeom prst="rect">
            <a:avLst/>
          </a:prstGeom>
          <a:solidFill>
            <a:srgbClr val="1B7A34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340864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66928" y="22860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HECHOS PROBADOS — CONDUCTA INFRACTORA (Art. 248° TUO LPAG)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164592" y="2633472"/>
            <a:ext cx="5486400" cy="47548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0" name="Shape 26"/>
          <p:cNvSpPr/>
          <p:nvPr/>
        </p:nvSpPr>
        <p:spPr>
          <a:xfrm>
            <a:off x="164592" y="2633472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7"/>
          <p:cNvSpPr/>
          <p:nvPr/>
        </p:nvSpPr>
        <p:spPr>
          <a:xfrm>
            <a:off x="228600" y="2633472"/>
            <a:ext cx="130759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581912" y="2633472"/>
            <a:ext cx="4023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Posesión de 8 trozas de madera en rollo sin GTF ni doc. de origen legal (verbo rector: POSEER — infracción de peligro abstracto)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164592" y="3118104"/>
            <a:ext cx="54864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0"/>
          <p:cNvSpPr/>
          <p:nvPr/>
        </p:nvSpPr>
        <p:spPr>
          <a:xfrm>
            <a:off x="164592" y="3118104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1"/>
          <p:cNvSpPr/>
          <p:nvPr/>
        </p:nvSpPr>
        <p:spPr>
          <a:xfrm>
            <a:off x="228600" y="3118104"/>
            <a:ext cx="130759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Infracción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581912" y="3118104"/>
            <a:ext cx="4023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 22, Anexo 1, D.S. 007-2021-MIDAGRI — no requiere acreditar daño ambiental concreto ni ID de fuente ilícita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164592" y="3602736"/>
            <a:ext cx="5486400" cy="47548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8" name="Shape 34"/>
          <p:cNvSpPr/>
          <p:nvPr/>
        </p:nvSpPr>
        <p:spPr>
          <a:xfrm>
            <a:off x="164592" y="3602736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5"/>
          <p:cNvSpPr/>
          <p:nvPr/>
        </p:nvSpPr>
        <p:spPr>
          <a:xfrm>
            <a:off x="228600" y="3602736"/>
            <a:ext cx="130759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Culpabilidad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581912" y="3602736"/>
            <a:ext cx="4023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Culpa simple (negligencia) — omisión del deber de diligencia del representante legal del CTP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164592" y="4087368"/>
            <a:ext cx="54864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8"/>
          <p:cNvSpPr/>
          <p:nvPr/>
        </p:nvSpPr>
        <p:spPr>
          <a:xfrm>
            <a:off x="164592" y="4087368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39"/>
          <p:cNvSpPr/>
          <p:nvPr/>
        </p:nvSpPr>
        <p:spPr>
          <a:xfrm>
            <a:off x="228600" y="4087368"/>
            <a:ext cx="130759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descargos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1581912" y="4087368"/>
            <a:ext cx="4023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 NO presentó descargo dentro del plazo de 10 días hábiles — hechos adquieren firmeza probatoria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164592" y="4572000"/>
            <a:ext cx="5486400" cy="47548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6" name="Shape 42"/>
          <p:cNvSpPr/>
          <p:nvPr/>
        </p:nvSpPr>
        <p:spPr>
          <a:xfrm>
            <a:off x="164592" y="4572000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3"/>
          <p:cNvSpPr/>
          <p:nvPr/>
        </p:nvSpPr>
        <p:spPr>
          <a:xfrm>
            <a:off x="228600" y="4572000"/>
            <a:ext cx="130759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eximentes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581912" y="4572000"/>
            <a:ext cx="4023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acreditó fuerza mayor, caso fortuito ni error invencible de hecho (Art. 257° TUO LPAG)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164592" y="5056632"/>
            <a:ext cx="54864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6"/>
          <p:cNvSpPr/>
          <p:nvPr/>
        </p:nvSpPr>
        <p:spPr>
          <a:xfrm>
            <a:off x="164592" y="5056632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Text 47"/>
          <p:cNvSpPr/>
          <p:nvPr/>
        </p:nvSpPr>
        <p:spPr>
          <a:xfrm>
            <a:off x="228600" y="5056632"/>
            <a:ext cx="130759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cautelar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1581912" y="5056632"/>
            <a:ext cx="4023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Decomiso ejecutado en campo — fundamento: Art. 126° Ley N° 29763 + Art. 10° RISMFFS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164592" y="5541264"/>
            <a:ext cx="5486400" cy="47548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4" name="Shape 50"/>
          <p:cNvSpPr/>
          <p:nvPr/>
        </p:nvSpPr>
        <p:spPr>
          <a:xfrm>
            <a:off x="164592" y="5541264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5" name="Text 51"/>
          <p:cNvSpPr/>
          <p:nvPr/>
        </p:nvSpPr>
        <p:spPr>
          <a:xfrm>
            <a:off x="228600" y="5541264"/>
            <a:ext cx="130759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prescripción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1581912" y="5541264"/>
            <a:ext cx="4023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advierte prescripción ni caducidad — actuaciones dentro del plazo legal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164592" y="6025896"/>
            <a:ext cx="54864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4"/>
          <p:cNvSpPr/>
          <p:nvPr/>
        </p:nvSpPr>
        <p:spPr>
          <a:xfrm>
            <a:off x="164592" y="6025896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55"/>
          <p:cNvSpPr/>
          <p:nvPr/>
        </p:nvSpPr>
        <p:spPr>
          <a:xfrm>
            <a:off x="228600" y="6025896"/>
            <a:ext cx="130759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Especies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1581912" y="6025896"/>
            <a:ext cx="4023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Panguana (B. utile), Palisangre (B. rubescens), Marupa (S. amara) — sin categoría DS043 ni CITES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5760720" y="2286000"/>
            <a:ext cx="6236208" cy="42245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58"/>
          <p:cNvSpPr/>
          <p:nvPr/>
        </p:nvSpPr>
        <p:spPr>
          <a:xfrm>
            <a:off x="5760720" y="2286000"/>
            <a:ext cx="6236208" cy="347472"/>
          </a:xfrm>
          <a:prstGeom prst="rect">
            <a:avLst/>
          </a:prstGeom>
          <a:solidFill>
            <a:srgbClr val="F4831F"/>
          </a:solidFill>
          <a:ln/>
        </p:spPr>
      </p:sp>
      <p:pic>
        <p:nvPicPr>
          <p:cNvPr id="6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2340864"/>
            <a:ext cx="237744" cy="237744"/>
          </a:xfrm>
          <a:prstGeom prst="rect">
            <a:avLst/>
          </a:prstGeom>
        </p:spPr>
      </p:pic>
      <p:sp>
        <p:nvSpPr>
          <p:cNvPr id="64" name="Text 59"/>
          <p:cNvSpPr/>
          <p:nvPr/>
        </p:nvSpPr>
        <p:spPr>
          <a:xfrm>
            <a:off x="6163056" y="2286000"/>
            <a:ext cx="5779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GRADUALIDAD — R.D.E. N° 004-2018-SERFOR-DE</a:t>
            </a:r>
            <a:endParaRPr lang="en-US" sz="1200" dirty="0"/>
          </a:p>
        </p:txBody>
      </p:sp>
      <p:sp>
        <p:nvSpPr>
          <p:cNvPr id="65" name="Shape 60"/>
          <p:cNvSpPr/>
          <p:nvPr/>
        </p:nvSpPr>
        <p:spPr>
          <a:xfrm>
            <a:off x="5760720" y="2633472"/>
            <a:ext cx="6236208" cy="47548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66" name="Shape 61"/>
          <p:cNvSpPr/>
          <p:nvPr/>
        </p:nvSpPr>
        <p:spPr>
          <a:xfrm>
            <a:off x="5760720" y="2633472"/>
            <a:ext cx="91440" cy="475488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67" name="Text 62"/>
          <p:cNvSpPr/>
          <p:nvPr/>
        </p:nvSpPr>
        <p:spPr>
          <a:xfrm>
            <a:off x="5888736" y="2633472"/>
            <a:ext cx="17556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ilícito (B)</a:t>
            </a:r>
            <a:endParaRPr lang="en-US" sz="850" dirty="0"/>
          </a:p>
        </p:txBody>
      </p:sp>
      <p:sp>
        <p:nvSpPr>
          <p:cNvPr id="68" name="Shape 63"/>
          <p:cNvSpPr/>
          <p:nvPr/>
        </p:nvSpPr>
        <p:spPr>
          <a:xfrm>
            <a:off x="7680960" y="2715768"/>
            <a:ext cx="1143000" cy="310896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69" name="Text 64"/>
          <p:cNvSpPr/>
          <p:nvPr/>
        </p:nvSpPr>
        <p:spPr>
          <a:xfrm>
            <a:off x="7680960" y="2715768"/>
            <a:ext cx="11430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2,639.01</a:t>
            </a:r>
            <a:endParaRPr lang="en-US" sz="800" dirty="0"/>
          </a:p>
        </p:txBody>
      </p:sp>
      <p:sp>
        <p:nvSpPr>
          <p:cNvPr id="70" name="Text 65"/>
          <p:cNvSpPr/>
          <p:nvPr/>
        </p:nvSpPr>
        <p:spPr>
          <a:xfrm>
            <a:off x="8887968" y="2633472"/>
            <a:ext cx="30632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7.997 m³ a S/ 1.50/PT mercado local — IT N°008-2025-VJPT</a:t>
            </a:r>
            <a:endParaRPr lang="en-US" sz="850" dirty="0"/>
          </a:p>
        </p:txBody>
      </p:sp>
      <p:sp>
        <p:nvSpPr>
          <p:cNvPr id="71" name="Shape 66"/>
          <p:cNvSpPr/>
          <p:nvPr/>
        </p:nvSpPr>
        <p:spPr>
          <a:xfrm>
            <a:off x="5760720" y="3118104"/>
            <a:ext cx="6236208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67"/>
          <p:cNvSpPr/>
          <p:nvPr/>
        </p:nvSpPr>
        <p:spPr>
          <a:xfrm>
            <a:off x="5760720" y="3118104"/>
            <a:ext cx="91440" cy="475488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73" name="Text 68"/>
          <p:cNvSpPr/>
          <p:nvPr/>
        </p:nvSpPr>
        <p:spPr>
          <a:xfrm>
            <a:off x="5888736" y="3118104"/>
            <a:ext cx="17556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evitados (C)</a:t>
            </a:r>
            <a:endParaRPr lang="en-US" sz="850" dirty="0"/>
          </a:p>
        </p:txBody>
      </p:sp>
      <p:sp>
        <p:nvSpPr>
          <p:cNvPr id="74" name="Shape 69"/>
          <p:cNvSpPr/>
          <p:nvPr/>
        </p:nvSpPr>
        <p:spPr>
          <a:xfrm>
            <a:off x="7680960" y="3200400"/>
            <a:ext cx="1143000" cy="310896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75" name="Text 70"/>
          <p:cNvSpPr/>
          <p:nvPr/>
        </p:nvSpPr>
        <p:spPr>
          <a:xfrm>
            <a:off x="7680960" y="3200400"/>
            <a:ext cx="11430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 no obtenida</a:t>
            </a:r>
            <a:endParaRPr lang="en-US" sz="800" dirty="0"/>
          </a:p>
        </p:txBody>
      </p:sp>
      <p:sp>
        <p:nvSpPr>
          <p:cNvPr id="76" name="Text 71"/>
          <p:cNvSpPr/>
          <p:nvPr/>
        </p:nvSpPr>
        <p:spPr>
          <a:xfrm>
            <a:off x="8887968" y="3118104"/>
            <a:ext cx="30632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evitó tramitar Guía de Transporte Forestal requerida</a:t>
            </a:r>
            <a:endParaRPr lang="en-US" sz="850" dirty="0"/>
          </a:p>
        </p:txBody>
      </p:sp>
      <p:sp>
        <p:nvSpPr>
          <p:cNvPr id="77" name="Shape 72"/>
          <p:cNvSpPr/>
          <p:nvPr/>
        </p:nvSpPr>
        <p:spPr>
          <a:xfrm>
            <a:off x="5760720" y="3602736"/>
            <a:ext cx="6236208" cy="47548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78" name="Shape 73"/>
          <p:cNvSpPr/>
          <p:nvPr/>
        </p:nvSpPr>
        <p:spPr>
          <a:xfrm>
            <a:off x="5760720" y="3602736"/>
            <a:ext cx="91440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9" name="Text 74"/>
          <p:cNvSpPr/>
          <p:nvPr/>
        </p:nvSpPr>
        <p:spPr>
          <a:xfrm>
            <a:off x="5888736" y="3602736"/>
            <a:ext cx="17556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detección (Pd)</a:t>
            </a:r>
            <a:endParaRPr lang="en-US" sz="850" dirty="0"/>
          </a:p>
        </p:txBody>
      </p:sp>
      <p:sp>
        <p:nvSpPr>
          <p:cNvPr id="80" name="Shape 75"/>
          <p:cNvSpPr/>
          <p:nvPr/>
        </p:nvSpPr>
        <p:spPr>
          <a:xfrm>
            <a:off x="7680960" y="3685032"/>
            <a:ext cx="1143000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1" name="Text 76"/>
          <p:cNvSpPr/>
          <p:nvPr/>
        </p:nvSpPr>
        <p:spPr>
          <a:xfrm>
            <a:off x="7680960" y="3685032"/>
            <a:ext cx="11430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00" dirty="0"/>
          </a:p>
        </p:txBody>
      </p:sp>
      <p:sp>
        <p:nvSpPr>
          <p:cNvPr id="82" name="Text 77"/>
          <p:cNvSpPr/>
          <p:nvPr/>
        </p:nvSpPr>
        <p:spPr>
          <a:xfrm>
            <a:off x="8887968" y="3602736"/>
            <a:ext cx="30632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Fiscalización inopinada al CTP — control rutinario</a:t>
            </a:r>
            <a:endParaRPr lang="en-US" sz="850" dirty="0"/>
          </a:p>
        </p:txBody>
      </p:sp>
      <p:sp>
        <p:nvSpPr>
          <p:cNvPr id="83" name="Shape 78"/>
          <p:cNvSpPr/>
          <p:nvPr/>
        </p:nvSpPr>
        <p:spPr>
          <a:xfrm>
            <a:off x="5760720" y="4087368"/>
            <a:ext cx="6236208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hape 79"/>
          <p:cNvSpPr/>
          <p:nvPr/>
        </p:nvSpPr>
        <p:spPr>
          <a:xfrm>
            <a:off x="5760720" y="4087368"/>
            <a:ext cx="91440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5" name="Text 80"/>
          <p:cNvSpPr/>
          <p:nvPr/>
        </p:nvSpPr>
        <p:spPr>
          <a:xfrm>
            <a:off x="5888736" y="4087368"/>
            <a:ext cx="17556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Perjuicio al Estado (Pe)</a:t>
            </a:r>
            <a:endParaRPr lang="en-US" sz="850" dirty="0"/>
          </a:p>
        </p:txBody>
      </p:sp>
      <p:sp>
        <p:nvSpPr>
          <p:cNvPr id="86" name="Shape 81"/>
          <p:cNvSpPr/>
          <p:nvPr/>
        </p:nvSpPr>
        <p:spPr>
          <a:xfrm>
            <a:off x="7680960" y="4169664"/>
            <a:ext cx="1143000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7" name="Text 82"/>
          <p:cNvSpPr/>
          <p:nvPr/>
        </p:nvSpPr>
        <p:spPr>
          <a:xfrm>
            <a:off x="7680960" y="4169664"/>
            <a:ext cx="11430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Cuantía baja</a:t>
            </a:r>
            <a:endParaRPr lang="en-US" sz="800" dirty="0"/>
          </a:p>
        </p:txBody>
      </p:sp>
      <p:sp>
        <p:nvSpPr>
          <p:cNvPr id="88" name="Text 83"/>
          <p:cNvSpPr/>
          <p:nvPr/>
        </p:nvSpPr>
        <p:spPr>
          <a:xfrm>
            <a:off x="8887968" y="4087368"/>
            <a:ext cx="30632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de aprovechamiento no acreditados — S/ 2,639.01</a:t>
            </a:r>
            <a:endParaRPr lang="en-US" sz="850" dirty="0"/>
          </a:p>
        </p:txBody>
      </p:sp>
      <p:sp>
        <p:nvSpPr>
          <p:cNvPr id="89" name="Shape 84"/>
          <p:cNvSpPr/>
          <p:nvPr/>
        </p:nvSpPr>
        <p:spPr>
          <a:xfrm>
            <a:off x="5760720" y="4572000"/>
            <a:ext cx="6236208" cy="47548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0" name="Shape 85"/>
          <p:cNvSpPr/>
          <p:nvPr/>
        </p:nvSpPr>
        <p:spPr>
          <a:xfrm>
            <a:off x="5760720" y="4572000"/>
            <a:ext cx="91440" cy="47548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1" name="Text 86"/>
          <p:cNvSpPr/>
          <p:nvPr/>
        </p:nvSpPr>
        <p:spPr>
          <a:xfrm>
            <a:off x="5888736" y="4572000"/>
            <a:ext cx="17556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Gravedad daño (G)</a:t>
            </a:r>
            <a:endParaRPr lang="en-US" sz="850" dirty="0"/>
          </a:p>
        </p:txBody>
      </p:sp>
      <p:sp>
        <p:nvSpPr>
          <p:cNvPr id="92" name="Shape 87"/>
          <p:cNvSpPr/>
          <p:nvPr/>
        </p:nvSpPr>
        <p:spPr>
          <a:xfrm>
            <a:off x="7680960" y="4654296"/>
            <a:ext cx="1143000" cy="31089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3" name="Text 88"/>
          <p:cNvSpPr/>
          <p:nvPr/>
        </p:nvSpPr>
        <p:spPr>
          <a:xfrm>
            <a:off x="7680960" y="4654296"/>
            <a:ext cx="11430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abstracto</a:t>
            </a:r>
            <a:endParaRPr lang="en-US" sz="800" dirty="0"/>
          </a:p>
        </p:txBody>
      </p:sp>
      <p:sp>
        <p:nvSpPr>
          <p:cNvPr id="94" name="Text 89"/>
          <p:cNvSpPr/>
          <p:nvPr/>
        </p:nvSpPr>
        <p:spPr>
          <a:xfrm>
            <a:off x="8887968" y="4572000"/>
            <a:ext cx="30632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Afectación a la cadena de control forestal — sin ID origen ilícito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5760720" y="5056632"/>
            <a:ext cx="6236208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Shape 91"/>
          <p:cNvSpPr/>
          <p:nvPr/>
        </p:nvSpPr>
        <p:spPr>
          <a:xfrm>
            <a:off x="5760720" y="5056632"/>
            <a:ext cx="91440" cy="47548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7" name="Text 92"/>
          <p:cNvSpPr/>
          <p:nvPr/>
        </p:nvSpPr>
        <p:spPr>
          <a:xfrm>
            <a:off x="5888736" y="5056632"/>
            <a:ext cx="17556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Cat. amenaza (A)</a:t>
            </a:r>
            <a:endParaRPr lang="en-US" sz="850" dirty="0"/>
          </a:p>
        </p:txBody>
      </p:sp>
      <p:sp>
        <p:nvSpPr>
          <p:cNvPr id="98" name="Shape 93"/>
          <p:cNvSpPr/>
          <p:nvPr/>
        </p:nvSpPr>
        <p:spPr>
          <a:xfrm>
            <a:off x="7680960" y="5138928"/>
            <a:ext cx="1143000" cy="31089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9" name="Text 94"/>
          <p:cNvSpPr/>
          <p:nvPr/>
        </p:nvSpPr>
        <p:spPr>
          <a:xfrm>
            <a:off x="7680960" y="5138928"/>
            <a:ext cx="11430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categoría</a:t>
            </a:r>
            <a:endParaRPr lang="en-US" sz="800" dirty="0"/>
          </a:p>
        </p:txBody>
      </p:sp>
      <p:sp>
        <p:nvSpPr>
          <p:cNvPr id="100" name="Text 95"/>
          <p:cNvSpPr/>
          <p:nvPr/>
        </p:nvSpPr>
        <p:spPr>
          <a:xfrm>
            <a:off x="8887968" y="5056632"/>
            <a:ext cx="30632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Panguana, Palisangre, Marupa — ninguna en DS043 ni CITES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5760720" y="5541264"/>
            <a:ext cx="6236208" cy="47548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2" name="Shape 97"/>
          <p:cNvSpPr/>
          <p:nvPr/>
        </p:nvSpPr>
        <p:spPr>
          <a:xfrm>
            <a:off x="5760720" y="5541264"/>
            <a:ext cx="91440" cy="475488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03" name="Text 98"/>
          <p:cNvSpPr/>
          <p:nvPr/>
        </p:nvSpPr>
        <p:spPr>
          <a:xfrm>
            <a:off x="5888736" y="5541264"/>
            <a:ext cx="17556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regeneración (R)</a:t>
            </a:r>
            <a:endParaRPr lang="en-US" sz="850" dirty="0"/>
          </a:p>
        </p:txBody>
      </p:sp>
      <p:sp>
        <p:nvSpPr>
          <p:cNvPr id="104" name="Shape 99"/>
          <p:cNvSpPr/>
          <p:nvPr/>
        </p:nvSpPr>
        <p:spPr>
          <a:xfrm>
            <a:off x="7680960" y="5623560"/>
            <a:ext cx="1143000" cy="310896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05" name="Text 100"/>
          <p:cNvSpPr/>
          <p:nvPr/>
        </p:nvSpPr>
        <p:spPr>
          <a:xfrm>
            <a:off x="7680960" y="5623560"/>
            <a:ext cx="11430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 50%</a:t>
            </a:r>
            <a:endParaRPr lang="en-US" sz="800" dirty="0"/>
          </a:p>
        </p:txBody>
      </p:sp>
      <p:sp>
        <p:nvSpPr>
          <p:cNvPr id="106" name="Text 101"/>
          <p:cNvSpPr/>
          <p:nvPr/>
        </p:nvSpPr>
        <p:spPr>
          <a:xfrm>
            <a:off x="8887968" y="5541264"/>
            <a:ext cx="30632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 no determinable en trozas — aplica 50% conforme R.D.E.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5760720" y="6025896"/>
            <a:ext cx="6236208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Shape 103"/>
          <p:cNvSpPr/>
          <p:nvPr/>
        </p:nvSpPr>
        <p:spPr>
          <a:xfrm>
            <a:off x="5760720" y="6025896"/>
            <a:ext cx="91440" cy="475488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09" name="Text 104"/>
          <p:cNvSpPr/>
          <p:nvPr/>
        </p:nvSpPr>
        <p:spPr>
          <a:xfrm>
            <a:off x="5888736" y="6025896"/>
            <a:ext cx="17556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Agravantes/Atenuantes</a:t>
            </a:r>
            <a:endParaRPr lang="en-US" sz="850" dirty="0"/>
          </a:p>
        </p:txBody>
      </p:sp>
      <p:sp>
        <p:nvSpPr>
          <p:cNvPr id="110" name="Shape 105"/>
          <p:cNvSpPr/>
          <p:nvPr/>
        </p:nvSpPr>
        <p:spPr>
          <a:xfrm>
            <a:off x="7680960" y="6108192"/>
            <a:ext cx="1143000" cy="310896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11" name="Text 106"/>
          <p:cNvSpPr/>
          <p:nvPr/>
        </p:nvSpPr>
        <p:spPr>
          <a:xfrm>
            <a:off x="7680960" y="6108192"/>
            <a:ext cx="11430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reiterancia</a:t>
            </a:r>
            <a:endParaRPr lang="en-US" sz="800" dirty="0"/>
          </a:p>
        </p:txBody>
      </p:sp>
      <p:sp>
        <p:nvSpPr>
          <p:cNvPr id="112" name="Text 107"/>
          <p:cNvSpPr/>
          <p:nvPr/>
        </p:nvSpPr>
        <p:spPr>
          <a:xfrm>
            <a:off x="8887968" y="6025896"/>
            <a:ext cx="30632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Colaboró con la fiscalización — sin antecedentes sancionatorios</a:t>
            </a:r>
            <a:endParaRPr lang="en-US" sz="850" dirty="0"/>
          </a:p>
        </p:txBody>
      </p:sp>
      <p:sp>
        <p:nvSpPr>
          <p:cNvPr id="113" name="Shape 108"/>
          <p:cNvSpPr/>
          <p:nvPr/>
        </p:nvSpPr>
        <p:spPr>
          <a:xfrm>
            <a:off x="164592" y="6601968"/>
            <a:ext cx="11832336" cy="512064"/>
          </a:xfrm>
          <a:prstGeom prst="rect">
            <a:avLst/>
          </a:prstGeom>
          <a:solidFill>
            <a:srgbClr val="1B7A3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6693408"/>
            <a:ext cx="329184" cy="329184"/>
          </a:xfrm>
          <a:prstGeom prst="rect">
            <a:avLst/>
          </a:prstGeom>
        </p:spPr>
      </p:pic>
      <p:sp>
        <p:nvSpPr>
          <p:cNvPr id="115" name="Text 109"/>
          <p:cNvSpPr/>
          <p:nvPr/>
        </p:nvSpPr>
        <p:spPr>
          <a:xfrm>
            <a:off x="658368" y="6601968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PROPUESTA: 0.4790 UIT = S/ 2,634.24</a:t>
            </a:r>
            <a:endParaRPr lang="en-US" sz="1500" dirty="0"/>
          </a:p>
        </p:txBody>
      </p:sp>
      <p:sp>
        <p:nvSpPr>
          <p:cNvPr id="116" name="Text 110"/>
          <p:cNvSpPr/>
          <p:nvPr/>
        </p:nvSpPr>
        <p:spPr>
          <a:xfrm>
            <a:off x="7132320" y="6601968"/>
            <a:ext cx="466344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Calculada sobre UIT 2026 = S/ 5,500 (D.S. N° 007-2025-EF) · Se actualizará al valor UIT vigente al momento de cancelación · Rango legal: más de 10 UIT hasta 5,000 UIT · Factor: 0.4790 UIT</a:t>
            </a:r>
            <a:endParaRPr lang="en-US" sz="900" dirty="0"/>
          </a:p>
        </p:txBody>
      </p:sp>
      <p:sp>
        <p:nvSpPr>
          <p:cNvPr id="117" name="Shape 111"/>
          <p:cNvSpPr/>
          <p:nvPr/>
        </p:nvSpPr>
        <p:spPr>
          <a:xfrm>
            <a:off x="0" y="6528816"/>
            <a:ext cx="12161520" cy="32918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18" name="Shape 112"/>
          <p:cNvSpPr/>
          <p:nvPr/>
        </p:nvSpPr>
        <p:spPr>
          <a:xfrm>
            <a:off x="0" y="6528816"/>
            <a:ext cx="109728" cy="329184"/>
          </a:xfrm>
          <a:prstGeom prst="rect">
            <a:avLst/>
          </a:prstGeom>
          <a:solidFill>
            <a:srgbClr val="0D4A1E"/>
          </a:solidFill>
          <a:ln/>
        </p:spPr>
      </p:sp>
      <p:sp>
        <p:nvSpPr>
          <p:cNvPr id="119" name="Text 113"/>
          <p:cNvSpPr/>
          <p:nvPr/>
        </p:nvSpPr>
        <p:spPr>
          <a:xfrm>
            <a:off x="164592" y="6528816"/>
            <a:ext cx="11942064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RECOMENDACIÓN: IMPONER MULTA 0.4790 UIT — MANTENER decomiso PFM (Art. 213° DS 018-2015-MINAGRI) — Elevar al Órgano Sancionador GERFFS-U · Diapositiva 4 / 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46304"/>
            <a:ext cx="11832336" cy="786384"/>
          </a:xfrm>
          <a:prstGeom prst="rect">
            <a:avLst/>
          </a:prstGeom>
          <a:solidFill>
            <a:srgbClr val="1D4ED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4630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NORMATIVO Y ANÁLISIS COMPARATIVO DE EXPEDIENTES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legal de los Informes Técnicos PAS elaborados por la SOFFS-PA — Período Enero–Marzo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64592" y="1042416"/>
            <a:ext cx="5669280" cy="310896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10" name="Text 7"/>
          <p:cNvSpPr/>
          <p:nvPr/>
        </p:nvSpPr>
        <p:spPr>
          <a:xfrm>
            <a:off x="219456" y="1042416"/>
            <a:ext cx="5596128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EXP. 026-2025-PAS — DECOMADERA DURAN G&amp;R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0" y="1042416"/>
            <a:ext cx="6053328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5998464" y="1042416"/>
            <a:ext cx="5980176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EXP. 041-2025-PAS — EL TORNILLAL (Grández Chávez)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64592" y="135331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14" name="Text 11"/>
          <p:cNvSpPr/>
          <p:nvPr/>
        </p:nvSpPr>
        <p:spPr>
          <a:xfrm>
            <a:off x="201168" y="135331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975104" y="1353312"/>
            <a:ext cx="3877056" cy="34747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6" name="Text 13"/>
          <p:cNvSpPr/>
          <p:nvPr/>
        </p:nvSpPr>
        <p:spPr>
          <a:xfrm>
            <a:off x="2011680" y="135331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N° 001-2026-PAS/JCV (Inicio)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70448" y="1353312"/>
            <a:ext cx="6126480" cy="347472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8" name="Text 15"/>
          <p:cNvSpPr/>
          <p:nvPr/>
        </p:nvSpPr>
        <p:spPr>
          <a:xfrm>
            <a:off x="5907024" y="135331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N° 006-2026 (Complementario)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64592" y="171907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20" name="Text 17"/>
          <p:cNvSpPr/>
          <p:nvPr/>
        </p:nvSpPr>
        <p:spPr>
          <a:xfrm>
            <a:off x="201168" y="171907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975104" y="1719072"/>
            <a:ext cx="3877056" cy="347472"/>
          </a:xfrm>
          <a:prstGeom prst="rect">
            <a:avLst/>
          </a:prstGeom>
          <a:solidFill>
            <a:srgbClr val="FFF8F2"/>
          </a:solidFill>
          <a:ln/>
        </p:spPr>
      </p:sp>
      <p:sp>
        <p:nvSpPr>
          <p:cNvPr id="22" name="Text 19"/>
          <p:cNvSpPr/>
          <p:nvPr/>
        </p:nvSpPr>
        <p:spPr>
          <a:xfrm>
            <a:off x="2011680" y="171907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Mike Duran Jorge — DNI 71746214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870448" y="1719072"/>
            <a:ext cx="6126480" cy="347472"/>
          </a:xfrm>
          <a:prstGeom prst="rect">
            <a:avLst/>
          </a:prstGeom>
          <a:solidFill>
            <a:srgbClr val="F0FBFC"/>
          </a:solidFill>
          <a:ln/>
        </p:spPr>
      </p:sp>
      <p:sp>
        <p:nvSpPr>
          <p:cNvPr id="24" name="Text 21"/>
          <p:cNvSpPr/>
          <p:nvPr/>
        </p:nvSpPr>
        <p:spPr>
          <a:xfrm>
            <a:off x="5907024" y="171907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Grández Chávez — DNI 00177277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64592" y="208483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26" name="Text 23"/>
          <p:cNvSpPr/>
          <p:nvPr/>
        </p:nvSpPr>
        <p:spPr>
          <a:xfrm>
            <a:off x="201168" y="208483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caso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975104" y="2084832"/>
            <a:ext cx="3877056" cy="34747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8" name="Text 25"/>
          <p:cNvSpPr/>
          <p:nvPr/>
        </p:nvSpPr>
        <p:spPr>
          <a:xfrm>
            <a:off x="2011680" y="208483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CTP — Posesión sin documentos (GTF)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870448" y="2084832"/>
            <a:ext cx="6126480" cy="347472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30" name="Text 27"/>
          <p:cNvSpPr/>
          <p:nvPr/>
        </p:nvSpPr>
        <p:spPr>
          <a:xfrm>
            <a:off x="5907024" y="208483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 ilegal en predio privado — 2 inspecciones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64592" y="245059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2" name="Text 29"/>
          <p:cNvSpPr/>
          <p:nvPr/>
        </p:nvSpPr>
        <p:spPr>
          <a:xfrm>
            <a:off x="201168" y="245059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Infracción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1975104" y="2450592"/>
            <a:ext cx="3877056" cy="347472"/>
          </a:xfrm>
          <a:prstGeom prst="rect">
            <a:avLst/>
          </a:prstGeom>
          <a:solidFill>
            <a:srgbClr val="FFF8F2"/>
          </a:solidFill>
          <a:ln/>
        </p:spPr>
      </p:sp>
      <p:sp>
        <p:nvSpPr>
          <p:cNvPr id="34" name="Text 31"/>
          <p:cNvSpPr/>
          <p:nvPr/>
        </p:nvSpPr>
        <p:spPr>
          <a:xfrm>
            <a:off x="2011680" y="245059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 22 — Poseer sin acreditar origen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870448" y="2450592"/>
            <a:ext cx="6126480" cy="347472"/>
          </a:xfrm>
          <a:prstGeom prst="rect">
            <a:avLst/>
          </a:prstGeom>
          <a:solidFill>
            <a:srgbClr val="F0FBFC"/>
          </a:solidFill>
          <a:ln/>
        </p:spPr>
      </p:sp>
      <p:sp>
        <p:nvSpPr>
          <p:cNvPr id="36" name="Text 33"/>
          <p:cNvSpPr/>
          <p:nvPr/>
        </p:nvSpPr>
        <p:spPr>
          <a:xfrm>
            <a:off x="5907024" y="245059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 21 (tala) + Ítem 19 (retiro cobertura)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64592" y="281635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8" name="Text 35"/>
          <p:cNvSpPr/>
          <p:nvPr/>
        </p:nvSpPr>
        <p:spPr>
          <a:xfrm>
            <a:off x="201168" y="281635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1975104" y="2816352"/>
            <a:ext cx="3877056" cy="34747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0" name="Text 37"/>
          <p:cNvSpPr/>
          <p:nvPr/>
        </p:nvSpPr>
        <p:spPr>
          <a:xfrm>
            <a:off x="2011680" y="281635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7.997 m³ · 3 especies · 8 trozas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870448" y="2816352"/>
            <a:ext cx="6126480" cy="347472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42" name="Text 39"/>
          <p:cNvSpPr/>
          <p:nvPr/>
        </p:nvSpPr>
        <p:spPr>
          <a:xfrm>
            <a:off x="5907024" y="281635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15.248 m³ · 14 árboles · Tornillo (C. cateniformis)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164592" y="318211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44" name="Text 41"/>
          <p:cNvSpPr/>
          <p:nvPr/>
        </p:nvSpPr>
        <p:spPr>
          <a:xfrm>
            <a:off x="201168" y="318211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1975104" y="3182112"/>
            <a:ext cx="3877056" cy="347472"/>
          </a:xfrm>
          <a:prstGeom prst="rect">
            <a:avLst/>
          </a:prstGeom>
          <a:solidFill>
            <a:srgbClr val="FFF8F2"/>
          </a:solidFill>
          <a:ln/>
        </p:spPr>
      </p:sp>
      <p:sp>
        <p:nvSpPr>
          <p:cNvPr id="46" name="Text 43"/>
          <p:cNvSpPr/>
          <p:nvPr/>
        </p:nvSpPr>
        <p:spPr>
          <a:xfrm>
            <a:off x="2011680" y="318211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CTP Mariela II (instalaciones internas)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70448" y="3182112"/>
            <a:ext cx="6126480" cy="347472"/>
          </a:xfrm>
          <a:prstGeom prst="rect">
            <a:avLst/>
          </a:prstGeom>
          <a:solidFill>
            <a:srgbClr val="F0FBFC"/>
          </a:solidFill>
          <a:ln/>
        </p:spPr>
      </p:sp>
      <p:sp>
        <p:nvSpPr>
          <p:cNvPr id="48" name="Text 45"/>
          <p:cNvSpPr/>
          <p:nvPr/>
        </p:nvSpPr>
        <p:spPr>
          <a:xfrm>
            <a:off x="5907024" y="318211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0.574 ha bosque secundario deforestado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164592" y="354787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50" name="Text 47"/>
          <p:cNvSpPr/>
          <p:nvPr/>
        </p:nvSpPr>
        <p:spPr>
          <a:xfrm>
            <a:off x="201168" y="354787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ilícito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975104" y="3547872"/>
            <a:ext cx="3877056" cy="34747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2" name="Text 49"/>
          <p:cNvSpPr/>
          <p:nvPr/>
        </p:nvSpPr>
        <p:spPr>
          <a:xfrm>
            <a:off x="2011680" y="354787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2,639.01 (S/ 1.50/PT)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5870448" y="3547872"/>
            <a:ext cx="6126480" cy="347472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54" name="Text 51"/>
          <p:cNvSpPr/>
          <p:nvPr/>
        </p:nvSpPr>
        <p:spPr>
          <a:xfrm>
            <a:off x="5907024" y="354787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10,734.59 (S/ 3.20/PT)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164592" y="391363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56" name="Text 53"/>
          <p:cNvSpPr/>
          <p:nvPr/>
        </p:nvSpPr>
        <p:spPr>
          <a:xfrm>
            <a:off x="201168" y="391363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título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1975104" y="3913632"/>
            <a:ext cx="3877056" cy="347472"/>
          </a:xfrm>
          <a:prstGeom prst="rect">
            <a:avLst/>
          </a:prstGeom>
          <a:solidFill>
            <a:srgbClr val="FFF8F2"/>
          </a:solidFill>
          <a:ln/>
        </p:spPr>
      </p:sp>
      <p:sp>
        <p:nvSpPr>
          <p:cNvPr id="58" name="Text 55"/>
          <p:cNvSpPr/>
          <p:nvPr/>
        </p:nvSpPr>
        <p:spPr>
          <a:xfrm>
            <a:off x="2011680" y="391363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 — sin GTF al momento del acta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5870448" y="3913632"/>
            <a:ext cx="6126480" cy="347472"/>
          </a:xfrm>
          <a:prstGeom prst="rect">
            <a:avLst/>
          </a:prstGeom>
          <a:solidFill>
            <a:srgbClr val="F0FBFC"/>
          </a:solidFill>
          <a:ln/>
        </p:spPr>
      </p:sp>
      <p:sp>
        <p:nvSpPr>
          <p:cNvPr id="60" name="Text 57"/>
          <p:cNvSpPr/>
          <p:nvPr/>
        </p:nvSpPr>
        <p:spPr>
          <a:xfrm>
            <a:off x="5907024" y="391363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N° 017-2026-APAPP/ARCP — sin permiso 2020-2025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164592" y="427939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62" name="Text 59"/>
          <p:cNvSpPr/>
          <p:nvPr/>
        </p:nvSpPr>
        <p:spPr>
          <a:xfrm>
            <a:off x="201168" y="427939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1975104" y="4279392"/>
            <a:ext cx="3877056" cy="34747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64" name="Text 61"/>
          <p:cNvSpPr/>
          <p:nvPr/>
        </p:nvSpPr>
        <p:spPr>
          <a:xfrm>
            <a:off x="2011680" y="427939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requerida (infracción adm. pura)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5870448" y="4279392"/>
            <a:ext cx="6126480" cy="347472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66" name="Text 63"/>
          <p:cNvSpPr/>
          <p:nvPr/>
        </p:nvSpPr>
        <p:spPr>
          <a:xfrm>
            <a:off x="5907024" y="427939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2° FEMA-Ucayali: Abog. Néstor Bartra Ramos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164592" y="464515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68" name="Text 65"/>
          <p:cNvSpPr/>
          <p:nvPr/>
        </p:nvSpPr>
        <p:spPr>
          <a:xfrm>
            <a:off x="201168" y="464515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1975104" y="4645152"/>
            <a:ext cx="3877056" cy="347472"/>
          </a:xfrm>
          <a:prstGeom prst="rect">
            <a:avLst/>
          </a:prstGeom>
          <a:solidFill>
            <a:srgbClr val="FFF8F2"/>
          </a:solidFill>
          <a:ln/>
        </p:spPr>
      </p:sp>
      <p:sp>
        <p:nvSpPr>
          <p:cNvPr id="70" name="Text 67"/>
          <p:cNvSpPr/>
          <p:nvPr/>
        </p:nvSpPr>
        <p:spPr>
          <a:xfrm>
            <a:off x="2011680" y="464515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— Multa 0.4790 UIT propuesta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5870448" y="4645152"/>
            <a:ext cx="6126480" cy="347472"/>
          </a:xfrm>
          <a:prstGeom prst="rect">
            <a:avLst/>
          </a:prstGeom>
          <a:solidFill>
            <a:srgbClr val="F0FBFC"/>
          </a:solidFill>
          <a:ln/>
        </p:spPr>
      </p:sp>
      <p:sp>
        <p:nvSpPr>
          <p:cNvPr id="72" name="Text 69"/>
          <p:cNvSpPr/>
          <p:nvPr/>
        </p:nvSpPr>
        <p:spPr>
          <a:xfrm>
            <a:off x="5907024" y="464515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PAS recomendado — pendiente resolución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164592" y="5120640"/>
            <a:ext cx="11832336" cy="2926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4" name="Text 71"/>
          <p:cNvSpPr/>
          <p:nvPr/>
        </p:nvSpPr>
        <p:spPr>
          <a:xfrm>
            <a:off x="237744" y="5120640"/>
            <a:ext cx="117957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PRINCIPIOS DEL PAS — ART. 248° TUO LPAG (D.S. N° 004-2019-JUS) — APLICADOS A AMBOS EXPEDIENTES</a:t>
            </a:r>
            <a:endParaRPr lang="en-US" sz="1050" dirty="0"/>
          </a:p>
        </p:txBody>
      </p:sp>
      <p:sp>
        <p:nvSpPr>
          <p:cNvPr id="75" name="Shape 72"/>
          <p:cNvSpPr/>
          <p:nvPr/>
        </p:nvSpPr>
        <p:spPr>
          <a:xfrm>
            <a:off x="164592" y="5449824"/>
            <a:ext cx="23317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164592" y="5449824"/>
            <a:ext cx="2331720" cy="5486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77" name="Shape 74"/>
          <p:cNvSpPr/>
          <p:nvPr/>
        </p:nvSpPr>
        <p:spPr>
          <a:xfrm>
            <a:off x="164592" y="5504688"/>
            <a:ext cx="2331720" cy="32918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78" name="Text 75"/>
          <p:cNvSpPr/>
          <p:nvPr/>
        </p:nvSpPr>
        <p:spPr>
          <a:xfrm>
            <a:off x="164592" y="5504688"/>
            <a:ext cx="2331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LEGALIDAD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256032" y="5852160"/>
            <a:ext cx="2167128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Conductas tipificadas en Numerales 22, 21 y 19 del Anexo 1 D.S. 007-2021-MIDAGRI vigentes al momento de los hechos.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2596896" y="5449824"/>
            <a:ext cx="23317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1" name="Shape 78"/>
          <p:cNvSpPr/>
          <p:nvPr/>
        </p:nvSpPr>
        <p:spPr>
          <a:xfrm>
            <a:off x="2596896" y="5449824"/>
            <a:ext cx="2331720" cy="5486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82" name="Shape 79"/>
          <p:cNvSpPr/>
          <p:nvPr/>
        </p:nvSpPr>
        <p:spPr>
          <a:xfrm>
            <a:off x="2596896" y="5504688"/>
            <a:ext cx="2331720" cy="32918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83" name="Text 80"/>
          <p:cNvSpPr/>
          <p:nvPr/>
        </p:nvSpPr>
        <p:spPr>
          <a:xfrm>
            <a:off x="2596896" y="5504688"/>
            <a:ext cx="2331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TIPICIDAD</a:t>
            </a:r>
            <a:endParaRPr lang="en-US" sz="1100" dirty="0"/>
          </a:p>
        </p:txBody>
      </p:sp>
      <p:sp>
        <p:nvSpPr>
          <p:cNvPr id="84" name="Text 81"/>
          <p:cNvSpPr/>
          <p:nvPr/>
        </p:nvSpPr>
        <p:spPr>
          <a:xfrm>
            <a:off x="2688336" y="5852160"/>
            <a:ext cx="2167128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Subsunción verificada: posesión sin GTF (Num. 22); tala sin título (Ít. 21); retiro cobertura sin autorización (Ít. 19).</a:t>
            </a: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5029200" y="5449824"/>
            <a:ext cx="23317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6" name="Shape 83"/>
          <p:cNvSpPr/>
          <p:nvPr/>
        </p:nvSpPr>
        <p:spPr>
          <a:xfrm>
            <a:off x="5029200" y="5449824"/>
            <a:ext cx="23317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7" name="Shape 84"/>
          <p:cNvSpPr/>
          <p:nvPr/>
        </p:nvSpPr>
        <p:spPr>
          <a:xfrm>
            <a:off x="5029200" y="5504688"/>
            <a:ext cx="2331720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8" name="Text 85"/>
          <p:cNvSpPr/>
          <p:nvPr/>
        </p:nvSpPr>
        <p:spPr>
          <a:xfrm>
            <a:off x="5029200" y="5504688"/>
            <a:ext cx="2331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RAZONABILIDAD</a:t>
            </a:r>
            <a:endParaRPr lang="en-US" sz="1100" dirty="0"/>
          </a:p>
        </p:txBody>
      </p:sp>
      <p:sp>
        <p:nvSpPr>
          <p:cNvPr id="89" name="Text 86"/>
          <p:cNvSpPr/>
          <p:nvPr/>
        </p:nvSpPr>
        <p:spPr>
          <a:xfrm>
            <a:off x="5120640" y="5852160"/>
            <a:ext cx="2167128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Sanciones proporcionales al daño. Multa DECOMADERA (S/ 2,634.24) levemente inferior al valor del PFM (S/ 2,639.01).</a:t>
            </a:r>
            <a:endParaRPr lang="en-US" sz="850" dirty="0"/>
          </a:p>
        </p:txBody>
      </p:sp>
      <p:sp>
        <p:nvSpPr>
          <p:cNvPr id="90" name="Shape 87"/>
          <p:cNvSpPr/>
          <p:nvPr/>
        </p:nvSpPr>
        <p:spPr>
          <a:xfrm>
            <a:off x="7461504" y="5449824"/>
            <a:ext cx="23317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7461504" y="5449824"/>
            <a:ext cx="233172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2" name="Shape 89"/>
          <p:cNvSpPr/>
          <p:nvPr/>
        </p:nvSpPr>
        <p:spPr>
          <a:xfrm>
            <a:off x="7461504" y="5504688"/>
            <a:ext cx="2331720" cy="3291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3" name="Text 90"/>
          <p:cNvSpPr/>
          <p:nvPr/>
        </p:nvSpPr>
        <p:spPr>
          <a:xfrm>
            <a:off x="7461504" y="5504688"/>
            <a:ext cx="2331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CULPABILIDAD</a:t>
            </a:r>
            <a:endParaRPr lang="en-US" sz="1100" dirty="0"/>
          </a:p>
        </p:txBody>
      </p:sp>
      <p:sp>
        <p:nvSpPr>
          <p:cNvPr id="94" name="Text 91"/>
          <p:cNvSpPr/>
          <p:nvPr/>
        </p:nvSpPr>
        <p:spPr>
          <a:xfrm>
            <a:off x="7552944" y="5852160"/>
            <a:ext cx="2167128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DECOMADERA: culpa simple. Grández: dolo presunto (propietario-poseedor que reconoció actividad de rozo).</a:t>
            </a:r>
            <a:endParaRPr lang="en-US" sz="850" dirty="0"/>
          </a:p>
        </p:txBody>
      </p:sp>
      <p:sp>
        <p:nvSpPr>
          <p:cNvPr id="95" name="Shape 92"/>
          <p:cNvSpPr/>
          <p:nvPr/>
        </p:nvSpPr>
        <p:spPr>
          <a:xfrm>
            <a:off x="9893808" y="5449824"/>
            <a:ext cx="23317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6" name="Shape 93"/>
          <p:cNvSpPr/>
          <p:nvPr/>
        </p:nvSpPr>
        <p:spPr>
          <a:xfrm>
            <a:off x="9893808" y="5449824"/>
            <a:ext cx="23317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7" name="Shape 94"/>
          <p:cNvSpPr/>
          <p:nvPr/>
        </p:nvSpPr>
        <p:spPr>
          <a:xfrm>
            <a:off x="9893808" y="5504688"/>
            <a:ext cx="2331720" cy="3291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8" name="Text 95"/>
          <p:cNvSpPr/>
          <p:nvPr/>
        </p:nvSpPr>
        <p:spPr>
          <a:xfrm>
            <a:off x="9893808" y="5504688"/>
            <a:ext cx="2331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GRADUALIDAD</a:t>
            </a:r>
            <a:endParaRPr lang="en-US" sz="1100" dirty="0"/>
          </a:p>
        </p:txBody>
      </p:sp>
      <p:sp>
        <p:nvSpPr>
          <p:cNvPr id="99" name="Text 96"/>
          <p:cNvSpPr/>
          <p:nvPr/>
        </p:nvSpPr>
        <p:spPr>
          <a:xfrm>
            <a:off x="9985248" y="5852160"/>
            <a:ext cx="2167128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factores R.D.E. 004-2018-SERFOR-DE: beneficio ilícito, costos evitados, probabilidad detección, perjuicio, gravedad, amenaza, regeneración + agravantes.</a:t>
            </a:r>
            <a:endParaRPr lang="en-US" sz="850" dirty="0"/>
          </a:p>
        </p:txBody>
      </p:sp>
      <p:sp>
        <p:nvSpPr>
          <p:cNvPr id="100" name="Shape 97"/>
          <p:cNvSpPr/>
          <p:nvPr/>
        </p:nvSpPr>
        <p:spPr>
          <a:xfrm>
            <a:off x="0" y="6528816"/>
            <a:ext cx="12161520" cy="3291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1" name="Shape 98"/>
          <p:cNvSpPr/>
          <p:nvPr/>
        </p:nvSpPr>
        <p:spPr>
          <a:xfrm>
            <a:off x="0" y="6528816"/>
            <a:ext cx="109728" cy="329184"/>
          </a:xfrm>
          <a:prstGeom prst="rect">
            <a:avLst/>
          </a:prstGeom>
          <a:solidFill>
            <a:srgbClr val="0D4A1E"/>
          </a:solidFill>
          <a:ln/>
        </p:spPr>
      </p:sp>
      <p:sp>
        <p:nvSpPr>
          <p:cNvPr id="102" name="Text 99"/>
          <p:cNvSpPr/>
          <p:nvPr/>
        </p:nvSpPr>
        <p:spPr>
          <a:xfrm>
            <a:off x="164592" y="6528816"/>
            <a:ext cx="11942064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Marco legal: Ley N° 29763 · D.S. 007-2021-MIDAGRI · D.S. 018-2015-MINAGRI · TUO LPAG D.S. 004-2019-JUS · R.D.E. 008-2020-SERFOR-DE · R.D.E. 004-2018-SERFOR-DE · Ord. Reg. 003-2019-GRU-CR · Diapositiva 5 / 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46304"/>
            <a:ext cx="11832336" cy="786384"/>
          </a:xfrm>
          <a:prstGeom prst="rect">
            <a:avLst/>
          </a:prstGeom>
          <a:solidFill>
            <a:srgbClr val="1B7A3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9456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14630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 — PAS FORESTAL ATF AGUAYTÍA 2026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96112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Operativa Forestal y de Fauna Silvestre — Padre Abad, Ucayali · Período Enero–Marzo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64592" y="1042416"/>
            <a:ext cx="376732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042416"/>
            <a:ext cx="457200" cy="1417320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11" name="Text 8"/>
          <p:cNvSpPr/>
          <p:nvPr/>
        </p:nvSpPr>
        <p:spPr>
          <a:xfrm>
            <a:off x="164592" y="1042416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76656" y="11155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Infracción MUY GRAVE acreditada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6656" y="1444752"/>
            <a:ext cx="3200400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Mike Duran Jorge poseía 7.997 m³ de PFM (8 trozas, 3 especies) sin GTF. Conducta tipificada en Numeral 22 Anexo 1 D.S. 007-2021-MIDAGRI. Culpa simple verificada.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206240" y="1042416"/>
            <a:ext cx="376732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06240" y="1042416"/>
            <a:ext cx="457200" cy="1417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4206240" y="1042416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718304" y="11155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infracción MUY GRAVE — El Tornillal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18304" y="1444752"/>
            <a:ext cx="3200400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Grández Chávez taló 14 árboles Tornillo (15.248 m³ / S/ 10,734.59) en 0.574 ha Zona de Recuperación Forestal sin título habilitante. Ítems 19 y 21 RISMFFS.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64592" y="2569464"/>
            <a:ext cx="376732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64592" y="2569464"/>
            <a:ext cx="457200" cy="1417320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21" name="Text 18"/>
          <p:cNvSpPr/>
          <p:nvPr/>
        </p:nvSpPr>
        <p:spPr>
          <a:xfrm>
            <a:off x="164592" y="2569464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76656" y="26426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propuesta: 0.4790 UIT (S/ 2,634.24)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76656" y="2971800"/>
            <a:ext cx="3200400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Calculada conforme R.D.E. 004-2018-SERFOR-DE. Proporcional al beneficio ilícito (S/ 2,639.01). Actualizable al valor UIT vigente al momento de pago efectivo.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206240" y="2569464"/>
            <a:ext cx="376732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206240" y="2569464"/>
            <a:ext cx="457200" cy="14173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6" name="Text 23"/>
          <p:cNvSpPr/>
          <p:nvPr/>
        </p:nvSpPr>
        <p:spPr>
          <a:xfrm>
            <a:off x="4206240" y="2569464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4718304" y="26426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Decomiso ejecutado y fundamentado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718304" y="2971800"/>
            <a:ext cx="3200400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Decomiso de 7.997 m³ respaldado en Art. 126° Ley N° 29763 y Art. 10° RISMFFS. Pendiente determinación de destino definitivo (Art. 213° DS 018-2015-MINAGRI).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164592" y="4096512"/>
            <a:ext cx="376732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64592" y="4096512"/>
            <a:ext cx="457200" cy="1417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8"/>
          <p:cNvSpPr/>
          <p:nvPr/>
        </p:nvSpPr>
        <p:spPr>
          <a:xfrm>
            <a:off x="164592" y="4096512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676656" y="41696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interinstitucional FEMA-PNP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76656" y="4498848"/>
            <a:ext cx="3200400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Grández: derivado a 2° FEMA-Ucayali (Art. 310° CP — delito ambiental). ANA Aguaytía informada por afectación hídrica de quebrada (Art. 75° Ley 29338).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206240" y="4096512"/>
            <a:ext cx="376732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206240" y="4096512"/>
            <a:ext cx="457200" cy="14173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6" name="Text 33"/>
          <p:cNvSpPr/>
          <p:nvPr/>
        </p:nvSpPr>
        <p:spPr>
          <a:xfrm>
            <a:off x="4206240" y="4096512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7" name="Text 34"/>
          <p:cNvSpPr/>
          <p:nvPr/>
        </p:nvSpPr>
        <p:spPr>
          <a:xfrm>
            <a:off x="4718304" y="41696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Respeto irrestricto al debido procedimiento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718304" y="4498848"/>
            <a:ext cx="3200400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expedientes cumplen principios Art. 248° TUO LPAG: legalidad, tipicidad, razonabilidad, culpabilidad y gradualidad. Plazos legales observados. Sin prescripción.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7900416" y="1042416"/>
            <a:ext cx="4114800" cy="5486400"/>
          </a:xfrm>
          <a:prstGeom prst="rect">
            <a:avLst/>
          </a:prstGeom>
          <a:solidFill>
            <a:srgbClr val="DCFCE7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900416" y="1042416"/>
            <a:ext cx="4114800" cy="347472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41" name="Text 38"/>
          <p:cNvSpPr/>
          <p:nvPr/>
        </p:nvSpPr>
        <p:spPr>
          <a:xfrm>
            <a:off x="7991856" y="1042416"/>
            <a:ext cx="3986784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ACCESO Y COMPARTIR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065008" y="144475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los códigos QR para acceder al informe completo o compartirlo por WhatsApp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8083296" y="1883664"/>
            <a:ext cx="1792224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938528"/>
            <a:ext cx="1682496" cy="1682496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8046720" y="3767328"/>
            <a:ext cx="1865376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Informe Completo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8046720" y="3986784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github.com/Xavi768/pas-forestal-soffs-pa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10040112" y="1883664"/>
            <a:ext cx="1792224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76" y="1938528"/>
            <a:ext cx="1682496" cy="1682496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10003536" y="3767328"/>
            <a:ext cx="1865376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Compartir WhatsApp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10003536" y="3986784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wa.me · Compartir en WhatsApp</a:t>
            </a:r>
            <a:endParaRPr lang="en-US" sz="800" dirty="0"/>
          </a:p>
        </p:txBody>
      </p:sp>
      <p:sp>
        <p:nvSpPr>
          <p:cNvPr id="51" name="Shape 46"/>
          <p:cNvSpPr/>
          <p:nvPr/>
        </p:nvSpPr>
        <p:spPr>
          <a:xfrm>
            <a:off x="8046720" y="4261104"/>
            <a:ext cx="3858768" cy="23774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52" name="Text 47"/>
          <p:cNvSpPr/>
          <p:nvPr/>
        </p:nvSpPr>
        <p:spPr>
          <a:xfrm>
            <a:off x="8065008" y="4261104"/>
            <a:ext cx="3858768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DEL EXPEDIENTE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8046720" y="4553712"/>
            <a:ext cx="3858768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4" name="Text 49"/>
          <p:cNvSpPr/>
          <p:nvPr/>
        </p:nvSpPr>
        <p:spPr>
          <a:xfrm>
            <a:off x="8083296" y="4553712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Elaborado:</a:t>
            </a:r>
            <a:endParaRPr lang="en-US" sz="850" dirty="0"/>
          </a:p>
        </p:txBody>
      </p:sp>
      <p:sp>
        <p:nvSpPr>
          <p:cNvPr id="55" name="Text 50"/>
          <p:cNvSpPr/>
          <p:nvPr/>
        </p:nvSpPr>
        <p:spPr>
          <a:xfrm>
            <a:off x="9107424" y="4553712"/>
            <a:ext cx="2743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Javier Carlos Vela — CIP N° 180398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8046720" y="4837176"/>
            <a:ext cx="385876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2"/>
          <p:cNvSpPr/>
          <p:nvPr/>
        </p:nvSpPr>
        <p:spPr>
          <a:xfrm>
            <a:off x="8083296" y="4837176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Revisado:</a:t>
            </a:r>
            <a:endParaRPr lang="en-US" sz="850" dirty="0"/>
          </a:p>
        </p:txBody>
      </p:sp>
      <p:sp>
        <p:nvSpPr>
          <p:cNvPr id="58" name="Text 53"/>
          <p:cNvSpPr/>
          <p:nvPr/>
        </p:nvSpPr>
        <p:spPr>
          <a:xfrm>
            <a:off x="9107424" y="4837176"/>
            <a:ext cx="2743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Cubillas Romero Ramírez — Dir. SOFFS-PA</a:t>
            </a:r>
            <a:endParaRPr lang="en-US" sz="850" dirty="0"/>
          </a:p>
        </p:txBody>
      </p:sp>
      <p:sp>
        <p:nvSpPr>
          <p:cNvPr id="59" name="Shape 54"/>
          <p:cNvSpPr/>
          <p:nvPr/>
        </p:nvSpPr>
        <p:spPr>
          <a:xfrm>
            <a:off x="8046720" y="5120640"/>
            <a:ext cx="3858768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60" name="Text 55"/>
          <p:cNvSpPr/>
          <p:nvPr/>
        </p:nvSpPr>
        <p:spPr>
          <a:xfrm>
            <a:off x="8083296" y="5120640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Dirigido:</a:t>
            </a:r>
            <a:endParaRPr lang="en-US" sz="850" dirty="0"/>
          </a:p>
        </p:txBody>
      </p:sp>
      <p:sp>
        <p:nvSpPr>
          <p:cNvPr id="61" name="Text 56"/>
          <p:cNvSpPr/>
          <p:nvPr/>
        </p:nvSpPr>
        <p:spPr>
          <a:xfrm>
            <a:off x="9107424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Mág. Ing. Vilma Vilcas Melchor — GRFFS Ucayali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8046720" y="5404104"/>
            <a:ext cx="385876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58"/>
          <p:cNvSpPr/>
          <p:nvPr/>
        </p:nvSpPr>
        <p:spPr>
          <a:xfrm>
            <a:off x="8083296" y="5404104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1:</a:t>
            </a:r>
            <a:endParaRPr lang="en-US" sz="850" dirty="0"/>
          </a:p>
        </p:txBody>
      </p:sp>
      <p:sp>
        <p:nvSpPr>
          <p:cNvPr id="64" name="Text 59"/>
          <p:cNvSpPr/>
          <p:nvPr/>
        </p:nvSpPr>
        <p:spPr>
          <a:xfrm>
            <a:off x="9107424" y="5404104"/>
            <a:ext cx="2743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026-2025-PAS-SOFFS/PA (DECOMADERA)</a:t>
            </a:r>
            <a:endParaRPr lang="en-US" sz="850" dirty="0"/>
          </a:p>
        </p:txBody>
      </p:sp>
      <p:sp>
        <p:nvSpPr>
          <p:cNvPr id="65" name="Shape 60"/>
          <p:cNvSpPr/>
          <p:nvPr/>
        </p:nvSpPr>
        <p:spPr>
          <a:xfrm>
            <a:off x="8046720" y="5687568"/>
            <a:ext cx="3858768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66" name="Text 61"/>
          <p:cNvSpPr/>
          <p:nvPr/>
        </p:nvSpPr>
        <p:spPr>
          <a:xfrm>
            <a:off x="8083296" y="5687568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2:</a:t>
            </a:r>
            <a:endParaRPr lang="en-US" sz="850" dirty="0"/>
          </a:p>
        </p:txBody>
      </p:sp>
      <p:sp>
        <p:nvSpPr>
          <p:cNvPr id="67" name="Text 62"/>
          <p:cNvSpPr/>
          <p:nvPr/>
        </p:nvSpPr>
        <p:spPr>
          <a:xfrm>
            <a:off x="9107424" y="5687568"/>
            <a:ext cx="2743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041-2025-PAS-SOFFS/PA (El Tornillal)</a:t>
            </a:r>
            <a:endParaRPr lang="en-US" sz="850" dirty="0"/>
          </a:p>
        </p:txBody>
      </p:sp>
      <p:sp>
        <p:nvSpPr>
          <p:cNvPr id="68" name="Shape 63"/>
          <p:cNvSpPr/>
          <p:nvPr/>
        </p:nvSpPr>
        <p:spPr>
          <a:xfrm>
            <a:off x="8046720" y="5971032"/>
            <a:ext cx="385876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4"/>
          <p:cNvSpPr/>
          <p:nvPr/>
        </p:nvSpPr>
        <p:spPr>
          <a:xfrm>
            <a:off x="8083296" y="5971032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Norma:</a:t>
            </a:r>
            <a:endParaRPr lang="en-US" sz="850" dirty="0"/>
          </a:p>
        </p:txBody>
      </p:sp>
      <p:sp>
        <p:nvSpPr>
          <p:cNvPr id="70" name="Text 65"/>
          <p:cNvSpPr/>
          <p:nvPr/>
        </p:nvSpPr>
        <p:spPr>
          <a:xfrm>
            <a:off x="9107424" y="5971032"/>
            <a:ext cx="2743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D.S. N° 007-2021-MIDAGRI / Ley N° 29763</a:t>
            </a:r>
            <a:endParaRPr lang="en-US" sz="850" dirty="0"/>
          </a:p>
        </p:txBody>
      </p:sp>
      <p:sp>
        <p:nvSpPr>
          <p:cNvPr id="71" name="Shape 66"/>
          <p:cNvSpPr/>
          <p:nvPr/>
        </p:nvSpPr>
        <p:spPr>
          <a:xfrm>
            <a:off x="8046720" y="6254496"/>
            <a:ext cx="3858768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72" name="Text 67"/>
          <p:cNvSpPr/>
          <p:nvPr/>
        </p:nvSpPr>
        <p:spPr>
          <a:xfrm>
            <a:off x="8083296" y="6254496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Período:</a:t>
            </a:r>
            <a:endParaRPr lang="en-US" sz="850" dirty="0"/>
          </a:p>
        </p:txBody>
      </p:sp>
      <p:sp>
        <p:nvSpPr>
          <p:cNvPr id="73" name="Text 68"/>
          <p:cNvSpPr/>
          <p:nvPr/>
        </p:nvSpPr>
        <p:spPr>
          <a:xfrm>
            <a:off x="9107424" y="6254496"/>
            <a:ext cx="2743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 — Marzo 2026</a:t>
            </a:r>
            <a:endParaRPr lang="en-US" sz="850" dirty="0"/>
          </a:p>
        </p:txBody>
      </p:sp>
      <p:sp>
        <p:nvSpPr>
          <p:cNvPr id="74" name="Shape 69"/>
          <p:cNvSpPr/>
          <p:nvPr/>
        </p:nvSpPr>
        <p:spPr>
          <a:xfrm>
            <a:off x="0" y="6528816"/>
            <a:ext cx="12161520" cy="32918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75" name="Shape 70"/>
          <p:cNvSpPr/>
          <p:nvPr/>
        </p:nvSpPr>
        <p:spPr>
          <a:xfrm>
            <a:off x="0" y="6528816"/>
            <a:ext cx="109728" cy="329184"/>
          </a:xfrm>
          <a:prstGeom prst="rect">
            <a:avLst/>
          </a:prstGeom>
          <a:solidFill>
            <a:srgbClr val="0D4A1E"/>
          </a:solidFill>
          <a:ln/>
        </p:spPr>
      </p:sp>
      <p:sp>
        <p:nvSpPr>
          <p:cNvPr id="76" name="Text 71"/>
          <p:cNvSpPr/>
          <p:nvPr/>
        </p:nvSpPr>
        <p:spPr>
          <a:xfrm>
            <a:off x="164592" y="6528816"/>
            <a:ext cx="11942064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Regional de Ucayali — Gerencia Regional Forestal y de Fauna Silvestre — SOFFS-PA · Padre Abad, Ucayali · Año de la Esperanza y el Fortalecimiento de la Democracia · 2026 · Diapositiva 6 / 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2547</Words>
  <Application>Microsoft Office PowerPoint</Application>
  <PresentationFormat>Panorámica</PresentationFormat>
  <Paragraphs>426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PAS Forestal — ATF Aguaytía 2026</dc:title>
  <dc:subject>PptxGenJS Presentation</dc:subject>
  <dc:creator>PptxGenJS</dc:creator>
  <cp:lastModifiedBy>JAVIER CARLOS VELA</cp:lastModifiedBy>
  <cp:revision>1</cp:revision>
  <dcterms:created xsi:type="dcterms:W3CDTF">2026-03-12T21:13:16Z</dcterms:created>
  <dcterms:modified xsi:type="dcterms:W3CDTF">2026-03-12T21:42:46Z</dcterms:modified>
</cp:coreProperties>
</file>